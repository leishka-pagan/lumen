
<file path=[Content_Types].xml><?xml version="1.0" encoding="utf-8"?>
<Types xmlns="http://schemas.openxmlformats.org/package/2006/content-types">
  <Default Extension="m4a" ContentType="audio/mp4"/>
  <Default Extension="mp3" ContentType="audio/m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2.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2" r:id="rId1"/>
  </p:sldMasterIdLst>
  <p:notesMasterIdLst>
    <p:notesMasterId r:id="rId23"/>
  </p:notesMasterIdLst>
  <p:sldIdLst>
    <p:sldId id="256" r:id="rId2"/>
    <p:sldId id="257" r:id="rId3"/>
    <p:sldId id="258" r:id="rId4"/>
    <p:sldId id="259" r:id="rId5"/>
    <p:sldId id="274" r:id="rId6"/>
    <p:sldId id="260" r:id="rId7"/>
    <p:sldId id="261" r:id="rId8"/>
    <p:sldId id="262" r:id="rId9"/>
    <p:sldId id="263" r:id="rId10"/>
    <p:sldId id="275" r:id="rId11"/>
    <p:sldId id="264" r:id="rId12"/>
    <p:sldId id="265" r:id="rId13"/>
    <p:sldId id="272" r:id="rId14"/>
    <p:sldId id="273" r:id="rId15"/>
    <p:sldId id="266" r:id="rId16"/>
    <p:sldId id="267" r:id="rId17"/>
    <p:sldId id="268" r:id="rId18"/>
    <p:sldId id="269" r:id="rId19"/>
    <p:sldId id="270" r:id="rId20"/>
    <p:sldId id="271" r:id="rId21"/>
    <p:sldId id="276" r:id="rId22"/>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77061" autoAdjust="0"/>
  </p:normalViewPr>
  <p:slideViewPr>
    <p:cSldViewPr snapToGrid="0" snapToObjects="1">
      <p:cViewPr varScale="1">
        <p:scale>
          <a:sx n="162" d="100"/>
          <a:sy n="162" d="100"/>
        </p:scale>
        <p:origin x="144" y="3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Evidence Completeness %</c:v>
                </c:pt>
              </c:strCache>
            </c:strRef>
          </c:tx>
          <c:spPr>
            <a:solidFill>
              <a:srgbClr val="EF4444"/>
            </a:solidFill>
            <a:effectLst/>
          </c:spPr>
          <c:invertIfNegative val="0"/>
          <c:dPt>
            <c:idx val="0"/>
            <c:invertIfNegative val="0"/>
            <c:bubble3D val="0"/>
            <c:extLst>
              <c:ext xmlns:c16="http://schemas.microsoft.com/office/drawing/2014/chart" uri="{C3380CC4-5D6E-409C-BE32-E72D297353CC}">
                <c16:uniqueId val="{00000001-915F-4D40-BA5C-516D0EAA4B6B}"/>
              </c:ext>
            </c:extLst>
          </c:dPt>
          <c:dPt>
            <c:idx val="1"/>
            <c:invertIfNegative val="0"/>
            <c:bubble3D val="0"/>
            <c:extLst>
              <c:ext xmlns:c16="http://schemas.microsoft.com/office/drawing/2014/chart" uri="{C3380CC4-5D6E-409C-BE32-E72D297353CC}">
                <c16:uniqueId val="{00000003-915F-4D40-BA5C-516D0EAA4B6B}"/>
              </c:ext>
            </c:extLst>
          </c:dPt>
          <c:dPt>
            <c:idx val="2"/>
            <c:invertIfNegative val="0"/>
            <c:bubble3D val="0"/>
            <c:spPr>
              <a:solidFill>
                <a:srgbClr val="F59E0B"/>
              </a:solidFill>
              <a:effectLst/>
            </c:spPr>
            <c:extLst>
              <c:ext xmlns:c16="http://schemas.microsoft.com/office/drawing/2014/chart" uri="{C3380CC4-5D6E-409C-BE32-E72D297353CC}">
                <c16:uniqueId val="{00000005-915F-4D40-BA5C-516D0EAA4B6B}"/>
              </c:ext>
            </c:extLst>
          </c:dPt>
          <c:dPt>
            <c:idx val="3"/>
            <c:invertIfNegative val="0"/>
            <c:bubble3D val="0"/>
            <c:spPr>
              <a:solidFill>
                <a:srgbClr val="F59E0B"/>
              </a:solidFill>
              <a:effectLst/>
            </c:spPr>
            <c:extLst>
              <c:ext xmlns:c16="http://schemas.microsoft.com/office/drawing/2014/chart" uri="{C3380CC4-5D6E-409C-BE32-E72D297353CC}">
                <c16:uniqueId val="{00000007-915F-4D40-BA5C-516D0EAA4B6B}"/>
              </c:ext>
            </c:extLst>
          </c:dPt>
          <c:dPt>
            <c:idx val="4"/>
            <c:invertIfNegative val="0"/>
            <c:bubble3D val="0"/>
            <c:spPr>
              <a:solidFill>
                <a:srgbClr val="84CC16"/>
              </a:solidFill>
              <a:effectLst/>
            </c:spPr>
            <c:extLst>
              <c:ext xmlns:c16="http://schemas.microsoft.com/office/drawing/2014/chart" uri="{C3380CC4-5D6E-409C-BE32-E72D297353CC}">
                <c16:uniqueId val="{00000009-915F-4D40-BA5C-516D0EAA4B6B}"/>
              </c:ext>
            </c:extLst>
          </c:dPt>
          <c:dPt>
            <c:idx val="5"/>
            <c:invertIfNegative val="0"/>
            <c:bubble3D val="0"/>
            <c:spPr>
              <a:solidFill>
                <a:srgbClr val="22C55E"/>
              </a:solidFill>
              <a:effectLst/>
            </c:spPr>
            <c:extLst>
              <c:ext xmlns:c16="http://schemas.microsoft.com/office/drawing/2014/chart" uri="{C3380CC4-5D6E-409C-BE32-E72D297353CC}">
                <c16:uniqueId val="{0000000B-915F-4D40-BA5C-516D0EAA4B6B}"/>
              </c:ext>
            </c:extLst>
          </c:dPt>
          <c:dLbls>
            <c:numFmt formatCode="#,##0" sourceLinked="0"/>
            <c:spPr>
              <a:noFill/>
              <a:ln>
                <a:noFill/>
              </a:ln>
              <a:effectLst/>
            </c:spPr>
            <c:txPr>
              <a:bodyPr/>
              <a:lstStyle/>
              <a:p>
                <a:pPr>
                  <a:defRPr sz="12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ALERT006
Blocked</c:v>
                </c:pt>
                <c:pt idx="1">
                  <c:v>ALERT002
Below</c:v>
                </c:pt>
                <c:pt idx="2">
                  <c:v>ALERT005
Below</c:v>
                </c:pt>
                <c:pt idx="3">
                  <c:v>19 Alerts
Ready</c:v>
                </c:pt>
                <c:pt idx="4">
                  <c:v>16 Alerts
Ready</c:v>
                </c:pt>
                <c:pt idx="5">
                  <c:v>ALERT004
100%</c:v>
                </c:pt>
              </c:strCache>
            </c:strRef>
          </c:cat>
          <c:val>
            <c:numRef>
              <c:f>Sheet1!$B$2:$B$7</c:f>
              <c:numCache>
                <c:formatCode>General</c:formatCode>
                <c:ptCount val="6"/>
                <c:pt idx="0">
                  <c:v>50</c:v>
                </c:pt>
                <c:pt idx="1">
                  <c:v>60</c:v>
                </c:pt>
                <c:pt idx="2">
                  <c:v>70</c:v>
                </c:pt>
                <c:pt idx="3">
                  <c:v>93</c:v>
                </c:pt>
                <c:pt idx="4">
                  <c:v>94</c:v>
                </c:pt>
                <c:pt idx="5">
                  <c:v>100</c:v>
                </c:pt>
              </c:numCache>
            </c:numRef>
          </c:val>
          <c:extLst>
            <c:ext xmlns:c16="http://schemas.microsoft.com/office/drawing/2014/chart" uri="{C3380CC4-5D6E-409C-BE32-E72D297353CC}">
              <c16:uniqueId val="{0000000C-915F-4D40-BA5C-516D0EAA4B6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47556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A1A2E"/>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Manual (minutes)</c:v>
                </c:pt>
              </c:strCache>
            </c:strRef>
          </c:tx>
          <c:spPr>
            <a:solidFill>
              <a:srgbClr val="EF4444"/>
            </a:solidFill>
            <a:effectLst/>
          </c:spPr>
          <c:invertIfNegative val="0"/>
          <c:dLbls>
            <c:numFmt formatCode="#,##0" sourceLinked="0"/>
            <c:spPr>
              <a:noFill/>
              <a:ln>
                <a:noFill/>
              </a:ln>
              <a:effectLst/>
            </c:spPr>
            <c:txPr>
              <a:bodyPr/>
              <a:lstStyle/>
              <a:p>
                <a:pPr>
                  <a:defRPr sz="12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Case Prep</c:v>
                </c:pt>
                <c:pt idx="1">
                  <c:v>Review</c:v>
                </c:pt>
                <c:pt idx="2">
                  <c:v>Documentation</c:v>
                </c:pt>
              </c:strCache>
            </c:strRef>
          </c:cat>
          <c:val>
            <c:numRef>
              <c:f>Sheet1!$B$2:$B$4</c:f>
              <c:numCache>
                <c:formatCode>General</c:formatCode>
                <c:ptCount val="3"/>
                <c:pt idx="0">
                  <c:v>45</c:v>
                </c:pt>
                <c:pt idx="1">
                  <c:v>20</c:v>
                </c:pt>
                <c:pt idx="2">
                  <c:v>15</c:v>
                </c:pt>
              </c:numCache>
            </c:numRef>
          </c:val>
          <c:extLst>
            <c:ext xmlns:c16="http://schemas.microsoft.com/office/drawing/2014/chart" uri="{C3380CC4-5D6E-409C-BE32-E72D297353CC}">
              <c16:uniqueId val="{00000000-CF9D-4B79-B494-C4D764DB30CA}"/>
            </c:ext>
          </c:extLst>
        </c:ser>
        <c:ser>
          <c:idx val="1"/>
          <c:order val="1"/>
          <c:tx>
            <c:strRef>
              <c:f>Sheet1!$C$1</c:f>
              <c:strCache>
                <c:ptCount val="1"/>
                <c:pt idx="0">
                  <c:v>Lumen (minutes)</c:v>
                </c:pt>
              </c:strCache>
            </c:strRef>
          </c:tx>
          <c:spPr>
            <a:solidFill>
              <a:srgbClr val="84CC16"/>
            </a:solidFill>
            <a:effectLst/>
          </c:spPr>
          <c:invertIfNegative val="0"/>
          <c:dLbls>
            <c:numFmt formatCode="#,##0" sourceLinked="0"/>
            <c:spPr>
              <a:noFill/>
              <a:ln>
                <a:noFill/>
              </a:ln>
              <a:effectLst/>
            </c:spPr>
            <c:txPr>
              <a:bodyPr/>
              <a:lstStyle/>
              <a:p>
                <a:pPr>
                  <a:defRPr sz="12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Case Prep</c:v>
                </c:pt>
                <c:pt idx="1">
                  <c:v>Review</c:v>
                </c:pt>
                <c:pt idx="2">
                  <c:v>Documentation</c:v>
                </c:pt>
              </c:strCache>
            </c:strRef>
          </c:cat>
          <c:val>
            <c:numRef>
              <c:f>Sheet1!$C$2:$C$4</c:f>
              <c:numCache>
                <c:formatCode>General</c:formatCode>
                <c:ptCount val="3"/>
                <c:pt idx="0">
                  <c:v>10</c:v>
                </c:pt>
                <c:pt idx="1">
                  <c:v>8</c:v>
                </c:pt>
                <c:pt idx="2">
                  <c:v>7</c:v>
                </c:pt>
              </c:numCache>
            </c:numRef>
          </c:val>
          <c:extLst>
            <c:ext xmlns:c16="http://schemas.microsoft.com/office/drawing/2014/chart" uri="{C3380CC4-5D6E-409C-BE32-E72D297353CC}">
              <c16:uniqueId val="{00000001-CF9D-4B79-B494-C4D764DB30C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47556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a:solidFill>
                <a:srgbClr val="94A3B8"/>
              </a:solidFill>
            </a:defRPr>
          </a:pPr>
          <a:endParaRPr lang="en-US"/>
        </a:p>
      </c:txPr>
    </c:legend>
    <c:plotVisOnly val="1"/>
    <c:dispBlanksAs val="span"/>
    <c:showDLblsOverMax val="1"/>
  </c:chart>
  <c:spPr>
    <a:solidFill>
      <a:srgbClr val="1A1A2E"/>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84334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Leishka – </a:t>
            </a:r>
            <a:br>
              <a:rPr lang="en-US" dirty="0"/>
            </a:br>
            <a:r>
              <a:rPr lang="en-US" dirty="0"/>
              <a:t>Lumen is not another AI chatbot. It is an AML decision workbench built around one principle: the AI must prove its claims before a human can rely on them.</a:t>
            </a:r>
            <a:br>
              <a:rPr lang="en-US" dirty="0"/>
            </a:br>
            <a:br>
              <a:rPr lang="en-US" dirty="0"/>
            </a:br>
            <a:r>
              <a:rPr lang="en-US" dirty="0"/>
              <a:t>"Hello. I'm Leishka Pagan, team lead and engineer for Lumen. Our team also includes Shivani, Ryan, and Suli.</a:t>
            </a:r>
          </a:p>
          <a:p>
            <a:pPr rtl="0"/>
            <a:r>
              <a:rPr lang="en-US" dirty="0"/>
              <a:t>Lumen helps bank investigators review anti-money-laundering alerts without blindly trusting AI. It brings the evidence into one place, checks every AI claim against the source records, and records why a person made the final decision.</a:t>
            </a:r>
          </a:p>
          <a:p>
            <a:pPr rtl="0"/>
            <a:endParaRPr lang="en-US" dirty="0"/>
          </a:p>
          <a:p>
            <a:pPr rtl="0"/>
            <a:r>
              <a:rPr lang="en-US" dirty="0"/>
              <a:t>The numbers show the controls behind it. In our demo data, ninety-one percent of the required evidence is ready when a case opens. The AI is limited to nine checkable claim types, governed by seven control layers, and backed by seven hundred and sixty-five automated tests.</a:t>
            </a:r>
          </a:p>
          <a:p>
            <a:pPr rtl="0"/>
            <a:endParaRPr lang="en-US" dirty="0"/>
          </a:p>
          <a:p>
            <a:pPr rtl="0"/>
            <a:r>
              <a:rPr lang="en-US" dirty="0"/>
              <a:t>The goal is simple: AI can help with speed, but it never gets the final word.</a:t>
            </a:r>
          </a:p>
          <a:p>
            <a:pPr rtl="0"/>
            <a:endParaRPr lang="en-US" dirty="0"/>
          </a:p>
          <a:p>
            <a:pPr rtl="0"/>
            <a:r>
              <a:rPr lang="en-US" dirty="0"/>
              <a:t>Here is the problem we built Lumen to solve."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Leishka - But alert volume is only half the problem. AI-generated summaries can enter that same queue without a system checking whether the claims match the bank's records. </a:t>
            </a:r>
            <a:br>
              <a:rPr lang="en-US" dirty="0"/>
            </a:br>
            <a:r>
              <a:rPr lang="en-US" dirty="0"/>
              <a:t>When analysts are already under pressure, review becomes a checkbox instead of a real investigation. If the AI is wrong, the bank is left defending a decision based on a claim that was never verified.</a:t>
            </a:r>
          </a:p>
          <a:p>
            <a:pPr rtl="0"/>
            <a:r>
              <a:rPr lang="en-US" dirty="0"/>
              <a:t>That is the gap Lumen was built to close.</a:t>
            </a:r>
          </a:p>
          <a:p>
            <a:br>
              <a:rPr lang="en-US" dirty="0"/>
            </a:br>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Leishka - So we started from a different question. Most AI tools ask how to get analysts to trust AI faster. We asked how to make the AI prove itself first.</a:t>
            </a:r>
          </a:p>
          <a:p>
            <a:pPr rtl="0"/>
            <a:r>
              <a:rPr lang="en-US" dirty="0"/>
              <a:t>Three steps, always in this order. The AI drafts a checkable claim with a type, a value, and a source reference. Deterministic code checks it against the bank's records and returns supported, contradicted, or needs review. Then the analyst decides, after seeing which claims survived.</a:t>
            </a:r>
            <a:br>
              <a:rPr lang="en-US" dirty="0"/>
            </a:br>
            <a:endParaRPr lang="en-US" dirty="0"/>
          </a:p>
          <a:p>
            <a:pPr rtl="0"/>
            <a:r>
              <a:rPr lang="en-US" dirty="0"/>
              <a:t>Suli - The vocabulary this all runs on, the nine claim types and the terminology, was standardized by our teammate Suli.</a:t>
            </a:r>
          </a:p>
          <a:p>
            <a:pPr rtl="0"/>
            <a:endParaRPr lang="en-US" dirty="0"/>
          </a:p>
          <a:p>
            <a:pPr rtl="0"/>
            <a:r>
              <a:rPr lang="en-US" dirty="0"/>
              <a:t>The model drafts. Code verifies. Humans decide.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Leishka - Here is what sits behind the workbench. Lumen starts with synthetic banking data: thirty customers, one hundred and eighty-seven transactions, and thirty-nine alerts.</a:t>
            </a:r>
          </a:p>
          <a:p>
            <a:pPr rtl="0"/>
            <a:endParaRPr lang="en-US" dirty="0"/>
          </a:p>
          <a:p>
            <a:pPr rtl="0"/>
            <a:r>
              <a:rPr lang="en-US" dirty="0"/>
              <a:t>In the intended production flow, the AI drafter turns those records into one of nine structured claim types. The schema rejects anything malformed, and nine code-based checks compare each claim with the source records, returning PASS, FAIL, or NEEDS REVIEW.</a:t>
            </a:r>
          </a:p>
          <a:p>
            <a:pPr rtl="0"/>
            <a:endParaRPr lang="en-US" dirty="0"/>
          </a:p>
          <a:p>
            <a:pPr rtl="0"/>
            <a:r>
              <a:rPr lang="en-US" dirty="0"/>
              <a:t>The pipeline connects those pieces, while this demonstration calls the verifier directly for consistency. Reviews and overrides are then written to the audit trail.</a:t>
            </a:r>
          </a:p>
          <a:p>
            <a:pPr rtl="0"/>
            <a:endParaRPr lang="en-US" dirty="0"/>
          </a:p>
          <a:p>
            <a:pPr rtl="0"/>
            <a:r>
              <a:rPr lang="en-US" dirty="0"/>
              <a:t>That gives Lumen a working path from source data to a traceable human decision. Now let me show you the controls around it.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lstStyle/>
          <a:p>
            <a:pPr rtl="0"/>
            <a:r>
              <a:rPr lang="en-US" b="1" dirty="0"/>
              <a:t>Leishka - </a:t>
            </a:r>
            <a:r>
              <a:rPr lang="en-US" dirty="0"/>
              <a:t>The queue tells the analyst where to start. Stage two makes sure the case cannot end with a quick click.</a:t>
            </a:r>
          </a:p>
          <a:p>
            <a:pPr rtl="0"/>
            <a:endParaRPr lang="en-US" dirty="0"/>
          </a:p>
          <a:p>
            <a:pPr rtl="0"/>
            <a:r>
              <a:rPr lang="en-US" dirty="0"/>
              <a:t>When a case opens, the source evidence appears beside each AI claim. Every claim receives a clear result: supported when the records agree, contradicted when they do not, or needs review when the source data is missing.</a:t>
            </a:r>
          </a:p>
          <a:p>
            <a:pPr rtl="0"/>
            <a:endParaRPr lang="en-US" dirty="0"/>
          </a:p>
          <a:p>
            <a:pPr rtl="0"/>
            <a:r>
              <a:rPr lang="en-US" dirty="0"/>
              <a:t>Then comes the human-review gate. Before the review can be completed, the analyst must confirm the evidence, record whether the AI draft was accepted, edited, or rejected, explain the decision, leave a final note, and select the final action.</a:t>
            </a:r>
          </a:p>
          <a:p>
            <a:pPr rtl="0"/>
            <a:endParaRPr lang="en-US" dirty="0"/>
          </a:p>
          <a:p>
            <a:pPr rtl="0"/>
            <a:r>
              <a:rPr lang="en-US" dirty="0"/>
              <a:t>Opening a case is not the same as completing a defensible review. Lumen enforces the difference.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Leishka - Everything I have shown you so far is one of seven controls. </a:t>
            </a:r>
          </a:p>
          <a:p>
            <a:pPr rtl="0"/>
            <a:endParaRPr lang="en-US" dirty="0"/>
          </a:p>
          <a:p>
            <a:pPr rtl="0"/>
            <a:r>
              <a:rPr lang="en-US" strike="sngStrike" dirty="0"/>
              <a:t>The vocabulary the AI is locked to, the structured output that made checking possible, the verifier that just ran, the gate you saw block a sign-off. </a:t>
            </a:r>
          </a:p>
          <a:p>
            <a:pPr rtl="0"/>
            <a:endParaRPr lang="en-US" dirty="0"/>
          </a:p>
          <a:p>
            <a:pPr rtl="0"/>
            <a:r>
              <a:rPr lang="en-US" dirty="0"/>
              <a:t>Three more sit around them: schema validation before the verifier ever runs, a controlled audit vocabulary so events cannot drift, and examiner replay so any decision can be reconstructed.</a:t>
            </a:r>
          </a:p>
          <a:p>
            <a:pPr rtl="0"/>
            <a:endParaRPr lang="en-US" dirty="0"/>
          </a:p>
          <a:p>
            <a:pPr rtl="0"/>
            <a:r>
              <a:rPr lang="en-US" dirty="0"/>
              <a:t>Every bank already has a policy that says review the evidence. We did not write a better policy. We made it impossible to skip</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Leishka - "ALERT033 shows what happens when the AI sounds confident, but the records disagree.</a:t>
            </a:r>
          </a:p>
          <a:p>
            <a:pPr rtl="0"/>
            <a:endParaRPr lang="en-US" dirty="0"/>
          </a:p>
          <a:p>
            <a:pPr rtl="0"/>
            <a:r>
              <a:rPr lang="en-US" dirty="0"/>
              <a:t>First, it said money moved rapidly through the account. The rule requires at least three transactions, with money coming in and going out, totaling more than ten thousand dollars within twenty-four hours. The records show only two, totaling about seventy-five hundred. Contradicted.</a:t>
            </a:r>
          </a:p>
          <a:p>
            <a:pPr rtl="0"/>
            <a:endParaRPr lang="en-US" dirty="0"/>
          </a:p>
          <a:p>
            <a:pPr rtl="0"/>
            <a:r>
              <a:rPr lang="en-US" dirty="0"/>
              <a:t>Then it called the transaction volume unusual. The rule flags transactions over twice this customer's expected monthly volume. Their expected monthly is five thousand, so the threshold is ten thousand. The largest transaction was under thirty-nine hundred. Contradicted again.</a:t>
            </a:r>
          </a:p>
          <a:p>
            <a:pPr rtl="0"/>
            <a:endParaRPr lang="en-US" dirty="0"/>
          </a:p>
          <a:p>
            <a:pPr rtl="0"/>
            <a:r>
              <a:rPr lang="en-US" dirty="0"/>
              <a:t>This was code checking the records, not another AI. The case was marked unsupported. Across the dataset, thirty-two of ninety-three AI claims were contradicted, and every one was flagged before an analyst could rely on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Leishka - Now look at the opposite risk. In ALERT007, the AI was right. All three claims matched the records.</a:t>
            </a:r>
          </a:p>
          <a:p>
            <a:pPr rtl="0"/>
            <a:endParaRPr lang="en-US" dirty="0"/>
          </a:p>
          <a:p>
            <a:pPr rtl="0"/>
            <a:r>
              <a:rPr lang="en-US" dirty="0"/>
              <a:t>But the gate is still blocked. The analyst accepted the AI draft without confirming the evidence, explaining the decision, or completing the final note and action.</a:t>
            </a:r>
          </a:p>
          <a:p>
            <a:pPr rtl="0"/>
            <a:endParaRPr lang="en-US" dirty="0"/>
          </a:p>
          <a:p>
            <a:pPr rtl="0"/>
            <a:r>
              <a:rPr lang="en-US" dirty="0"/>
              <a:t>Watch what happens when I complete those steps. The gate changes from blocked to complete.</a:t>
            </a:r>
          </a:p>
          <a:p>
            <a:pPr rtl="0"/>
            <a:endParaRPr lang="en-US" dirty="0"/>
          </a:p>
          <a:p>
            <a:pPr rtl="0"/>
            <a:r>
              <a:rPr lang="en-US" dirty="0"/>
              <a:t>That distinction matters. Lumen is not checking whether the analyst agrees with the AI. It is checking whether the analyst reviewed the evidence and documented the decision. A correct AI answer still does not replace human accountability.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Ryan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37E3C-B899-5E3E-7AEA-8FA4EED7EE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6A0970-CBFA-80C4-DBD9-722AE2AB76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AC471A-859E-1174-FD5B-FE46DF4133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EE2B6A-5BDC-7236-C053-FF2FFC62BB66}"/>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511801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Leishka - Six layers behind everything you just watched. The data, the triage that produced the readiness scores, the AI draft, the verifier that returned the verdicts, the human gate, and the audit trail.</a:t>
            </a:r>
          </a:p>
          <a:p>
            <a:pPr rtl="0"/>
            <a:endParaRPr lang="en-US" dirty="0"/>
          </a:p>
          <a:p>
            <a:pPr rtl="0"/>
            <a:r>
              <a:rPr lang="en-US" dirty="0"/>
              <a:t>The audit strip at the bottom of the slide is a live capture. Every review and override decision writes to it with the actor, the action, the alert, and a timestamp, from a controlled vocabulary.</a:t>
            </a:r>
          </a:p>
          <a:p>
            <a:pPr rtl="0"/>
            <a:r>
              <a:rPr lang="en-US" dirty="0"/>
              <a:t> </a:t>
            </a:r>
          </a:p>
          <a:p>
            <a:pPr rtl="0"/>
            <a:r>
              <a:rPr lang="en-US" dirty="0"/>
              <a:t>Draft events, verification events, and human decisions, all in one trail. This is what an examiner reads eighteen months later when they ask why a case closed.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What slide 12 uniquely does: it proves ninety-one point one percent is measured, not chosen, and it shows the queue's readiness split before any AI is involved.</a:t>
            </a:r>
          </a:p>
          <a:p>
            <a:pPr rtl="0"/>
            <a:br>
              <a:rPr lang="en-US" dirty="0"/>
            </a:br>
            <a:r>
              <a:rPr lang="en-US" dirty="0"/>
              <a:t>Leishka - "Ninety-one point one percent is not a chosen number. For every alert, Lumen counts the required evidence items and how many are actually on file. That average comes out of the records.</a:t>
            </a:r>
          </a:p>
          <a:p>
            <a:pPr rtl="0"/>
            <a:endParaRPr lang="en-US" dirty="0"/>
          </a:p>
          <a:p>
            <a:pPr rtl="0"/>
            <a:r>
              <a:rPr lang="en-US" dirty="0"/>
              <a:t>Thirty-six of thirty-nine cases have the evidence to be reviewed today. Two need a closer look before proceeding. One is blocked, because a required item is missing entirely.</a:t>
            </a:r>
          </a:p>
          <a:p>
            <a:pPr rtl="0"/>
            <a:endParaRPr lang="en-US" dirty="0"/>
          </a:p>
          <a:p>
            <a:pPr rtl="0"/>
            <a:r>
              <a:rPr lang="en-US" dirty="0"/>
              <a:t>The completeness score sits on every row of the queue, so an analyst sees which cases are ready before opening any of them.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Leishka - Every row here is a before and after. Today, most of the analyst's hour goes to gathering data from five systems. With Lumen, the evidence arrives already assembled, so the hour goes to judgment.</a:t>
            </a:r>
          </a:p>
          <a:p>
            <a:pPr rtl="0"/>
            <a:endParaRPr lang="en-US" dirty="0"/>
          </a:p>
          <a:p>
            <a:pPr rtl="0"/>
            <a:r>
              <a:rPr lang="en-US" dirty="0"/>
              <a:t>Today, if the AI is wrong, a tired analyst has to notice while reading. With Lumen, the code flags it before the case opens. And the examiner's file is no longer written from memory afterward. It is captured as the review happens.</a:t>
            </a:r>
          </a:p>
          <a:p>
            <a:pPr rtl="0"/>
            <a:endParaRPr lang="en-US" dirty="0"/>
          </a:p>
          <a:p>
            <a:pPr rtl="0"/>
            <a:r>
              <a:rPr lang="en-US" dirty="0"/>
              <a:t>The analyst stops collecting evidence and starts judging it. And notice: none of that depends on the AI being good. The checking is what delivers it.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b="1" dirty="0"/>
              <a:t>Slide 14, Built for Volume.</a:t>
            </a:r>
            <a:r>
              <a:rPr lang="en-US" dirty="0"/>
              <a:t> </a:t>
            </a:r>
          </a:p>
          <a:p>
            <a:pPr rtl="0"/>
            <a:r>
              <a:rPr lang="en-US" dirty="0"/>
              <a:t>Leishka – Here is the scale advantage. If one AI checked another, every claim would require a second paid AI review, and that cost would grow with volume.</a:t>
            </a:r>
          </a:p>
          <a:p>
            <a:pPr rtl="0"/>
            <a:endParaRPr lang="en-US" dirty="0"/>
          </a:p>
          <a:p>
            <a:pPr rtl="0"/>
            <a:r>
              <a:rPr lang="en-US" dirty="0"/>
              <a:t>Lumen uses fixed rules in code to compare each claim with the source records instead. No second AI charge, no matter the volume.</a:t>
            </a:r>
          </a:p>
          <a:p>
            <a:pPr rtl="0"/>
            <a:endParaRPr lang="en-US" dirty="0"/>
          </a:p>
          <a:p>
            <a:pPr rtl="0"/>
            <a:r>
              <a:rPr lang="en-US" dirty="0"/>
              <a:t>That is the left chart. The right shows the benefit. As more alerts pass through the system, more contradicted claims are caught.</a:t>
            </a:r>
          </a:p>
          <a:p>
            <a:pPr rtl="0"/>
            <a:endParaRPr lang="en-US" dirty="0"/>
          </a:p>
          <a:p>
            <a:pPr rtl="0"/>
            <a:r>
              <a:rPr lang="en-US" dirty="0"/>
              <a:t>Lumen scales the protection without paying another AI to provide it.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Ryan – </a:t>
            </a:r>
            <a:br>
              <a:rPr lang="en-US" dirty="0"/>
            </a:br>
            <a:br>
              <a:rPr lang="en-US" dirty="0"/>
            </a:br>
            <a:r>
              <a:rPr lang="en-US" dirty="0"/>
              <a:t>Leishka – "The current model-risk guidance, SR 26-2 from April 2026, deliberately leaves generative AI outside the legacy framework. </a:t>
            </a:r>
          </a:p>
          <a:p>
            <a:endParaRPr lang="en-US" dirty="0"/>
          </a:p>
          <a:p>
            <a:r>
              <a:rPr lang="en-US" dirty="0"/>
              <a:t>That gap is the space Lumen was built into: verification, documented human oversight, and an examiner-reviewable trail. </a:t>
            </a:r>
          </a:p>
          <a:p>
            <a:endParaRPr lang="en-US" dirty="0"/>
          </a:p>
          <a:p>
            <a:r>
              <a:rPr lang="en-US" dirty="0"/>
              <a:t>We are not claiming regulatory approval. We are showing that when an examiner asks why a decision was made, Lumen can show the evidence, the reasoning, and who made 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Leishka – The difference between Lumen and common AI compliance tools is posture. Most tools trust the AI and rely on the analyst to catch problems. </a:t>
            </a:r>
          </a:p>
          <a:p>
            <a:pPr rtl="0"/>
            <a:endParaRPr lang="en-US" dirty="0"/>
          </a:p>
          <a:p>
            <a:pPr rtl="0"/>
            <a:r>
              <a:rPr lang="en-US" dirty="0"/>
              <a:t>Lumen distrusts the AI until code proves each claim.</a:t>
            </a:r>
          </a:p>
          <a:p>
            <a:pPr rtl="0"/>
            <a:endParaRPr lang="en-US" dirty="0"/>
          </a:p>
          <a:p>
            <a:pPr rtl="0"/>
            <a:r>
              <a:rPr lang="en-US" dirty="0"/>
              <a:t>Lumen is not built to make AI more powerful. It is built to make sure AI has no influence without evidence.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Leishka - Lumen includes seven hundred and sixty-five automated tests covering the behaviors that matter.</a:t>
            </a:r>
          </a:p>
          <a:p>
            <a:pPr rtl="0"/>
            <a:endParaRPr lang="en-US" dirty="0"/>
          </a:p>
          <a:p>
            <a:pPr rtl="0"/>
            <a:r>
              <a:rPr lang="en-US" dirty="0"/>
              <a:t>They confirm that contradicted claims fail, incomplete reviews stay blocked, unknown claim types are rejected, and missing evidence goes to human review instead of crashing the system.</a:t>
            </a:r>
          </a:p>
          <a:p>
            <a:pPr rtl="0"/>
            <a:endParaRPr lang="en-US" dirty="0"/>
          </a:p>
          <a:p>
            <a:pPr rtl="0"/>
            <a:r>
              <a:rPr lang="en-US" dirty="0"/>
              <a:t>They prove the controls still behave the way they should after every change.</a:t>
            </a:r>
          </a:p>
          <a:p>
            <a:pPr rtl="0"/>
            <a:endParaRPr lang="en-US" dirty="0"/>
          </a:p>
          <a:p>
            <a:pPr rtl="0"/>
            <a:r>
              <a:rPr lang="en-US" dirty="0"/>
              <a:t>That is why testing belongs in the governance model. The safeguards are not just written down. They can be checked again and again.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dirty="0"/>
              <a:t>Leishka – </a:t>
            </a:r>
            <a:br>
              <a:rPr lang="en-US" dirty="0"/>
            </a:br>
            <a:r>
              <a:rPr lang="en-US" dirty="0"/>
              <a:t>If Lumen were evaluated tomorrow, three groups would ask three different questions.</a:t>
            </a:r>
          </a:p>
          <a:p>
            <a:pPr rtl="0"/>
            <a:r>
              <a:rPr lang="en-US" dirty="0"/>
              <a:t>Executives would ask whether the process is controlled. In our demo dataset, cases open with an average of ninety-one percent of the required evidence already assembled. Every AI claim is checked against the records, and every final decision is tied to a named reviewer and rationale.</a:t>
            </a:r>
          </a:p>
          <a:p>
            <a:pPr rtl="0"/>
            <a:endParaRPr lang="en-US" dirty="0"/>
          </a:p>
          <a:p>
            <a:pPr rtl="0"/>
            <a:r>
              <a:rPr lang="en-US" dirty="0"/>
              <a:t>Examiners would ask whether that decision can be reconstructed. Lumen preserves the evidence, the reasoning, the action taken, and the timestamp on each. That is what makes the process aligned with documented oversight expectations, without claiming regulatory approval.</a:t>
            </a:r>
          </a:p>
          <a:p>
            <a:pPr rtl="0"/>
            <a:endParaRPr lang="en-US" dirty="0"/>
          </a:p>
          <a:p>
            <a:pPr rtl="0"/>
            <a:r>
              <a:rPr lang="en-US" dirty="0"/>
              <a:t>Investigators would ask whether it helps them do the work. Instead of hunting across multiple systems, they open one case file with the evidence and verified claims together, while the final judgment remains theirs.</a:t>
            </a:r>
          </a:p>
          <a:p>
            <a:pPr rtl="0"/>
            <a:r>
              <a:rPr lang="en-US" dirty="0"/>
              <a:t>That is Lumen. The model drafts. Code verifies. Humans decide.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 no need to presentation audio.</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6881709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61205581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7/24/2026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82336739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7/24/2026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40423470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7/24/2026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75594429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7/24/2026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01803530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7/24/2026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908520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7/24/2026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10192958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7/24/2026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28899608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87129459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7/24/2026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79289458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19950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smtClean="0"/>
              <a:t>7/24/2026</a:t>
            </a:fld>
            <a:endParaRPr 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4121885848"/>
      </p:ext>
    </p:extLst>
  </p:cSld>
  <p:clrMap bg1="dk1" tx1="lt1" bg2="dk2" tx2="lt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microsoft.com/office/2007/relationships/media" Target="../media/media3.m4a"/><Relationship Id="rId7" Type="http://schemas.openxmlformats.org/officeDocument/2006/relationships/image" Target="../media/image2.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notesSlide" Target="../notesSlides/notesSlide2.xml"/><Relationship Id="rId5" Type="http://schemas.openxmlformats.org/officeDocument/2006/relationships/slideLayout" Target="../slideLayouts/slideLayout12.xml"/><Relationship Id="rId10" Type="http://schemas.openxmlformats.org/officeDocument/2006/relationships/image" Target="../media/image1.png"/><Relationship Id="rId4" Type="http://schemas.openxmlformats.org/officeDocument/2006/relationships/audio" Target="../media/media3.m4a"/><Relationship Id="rId9"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1.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12.xml"/><Relationship Id="rId7" Type="http://schemas.openxmlformats.org/officeDocument/2006/relationships/image" Target="../media/image3.png"/><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6.png"/><Relationship Id="rId11" Type="http://schemas.openxmlformats.org/officeDocument/2006/relationships/image" Target="../media/image1.png"/><Relationship Id="rId5" Type="http://schemas.openxmlformats.org/officeDocument/2006/relationships/image" Target="../media/image5.png"/><Relationship Id="rId10" Type="http://schemas.openxmlformats.org/officeDocument/2006/relationships/image" Target="../media/image9.png"/><Relationship Id="rId4" Type="http://schemas.openxmlformats.org/officeDocument/2006/relationships/notesSlide" Target="../notesSlides/notesSlide4.xml"/><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microsoft.com/office/2007/relationships/media" Target="../media/media7.m4a"/><Relationship Id="rId7" Type="http://schemas.openxmlformats.org/officeDocument/2006/relationships/image" Target="../media/image10.png"/><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notesSlide" Target="../notesSlides/notesSlide5.xml"/><Relationship Id="rId5" Type="http://schemas.openxmlformats.org/officeDocument/2006/relationships/slideLayout" Target="../slideLayouts/slideLayout12.xml"/><Relationship Id="rId4" Type="http://schemas.openxmlformats.org/officeDocument/2006/relationships/audio" Target="../media/media7.m4a"/><Relationship Id="rId9"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8.m4a"/><Relationship Id="rId1" Type="http://schemas.microsoft.com/office/2007/relationships/media" Target="../media/media8.m4a"/><Relationship Id="rId5" Type="http://schemas.openxmlformats.org/officeDocument/2006/relationships/image" Target="../media/image1.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image" Target="../media/image1.png"/><Relationship Id="rId5" Type="http://schemas.openxmlformats.org/officeDocument/2006/relationships/image" Target="../media/image1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2.xml"/><Relationship Id="rId7" Type="http://schemas.openxmlformats.org/officeDocument/2006/relationships/image" Target="../media/image1.png"/><Relationship Id="rId2" Type="http://schemas.openxmlformats.org/officeDocument/2006/relationships/audio" Target="../media/media10.m4a"/><Relationship Id="rId1" Type="http://schemas.microsoft.com/office/2007/relationships/media" Target="../media/media10.m4a"/><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12.m4a"/><Relationship Id="rId1" Type="http://schemas.microsoft.com/office/2007/relationships/media" Target="../media/media12.m4a"/><Relationship Id="rId6" Type="http://schemas.openxmlformats.org/officeDocument/2006/relationships/image" Target="../media/image1.png"/><Relationship Id="rId5" Type="http://schemas.openxmlformats.org/officeDocument/2006/relationships/image" Target="../media/image17.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13.m4a"/><Relationship Id="rId1" Type="http://schemas.microsoft.com/office/2007/relationships/media" Target="../media/media13.m4a"/><Relationship Id="rId6" Type="http://schemas.openxmlformats.org/officeDocument/2006/relationships/image" Target="../media/image1.png"/><Relationship Id="rId5" Type="http://schemas.openxmlformats.org/officeDocument/2006/relationships/chart" Target="../charts/char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14.m4a"/><Relationship Id="rId1" Type="http://schemas.microsoft.com/office/2007/relationships/media" Target="../media/media14.m4a"/><Relationship Id="rId5" Type="http://schemas.openxmlformats.org/officeDocument/2006/relationships/image" Target="../media/image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15.m4a"/><Relationship Id="rId1" Type="http://schemas.microsoft.com/office/2007/relationships/media" Target="../media/media15.m4a"/><Relationship Id="rId5" Type="http://schemas.openxmlformats.org/officeDocument/2006/relationships/image" Target="../media/image1.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1.png"/><Relationship Id="rId5" Type="http://schemas.openxmlformats.org/officeDocument/2006/relationships/chart" Target="../charts/char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17.m4a"/><Relationship Id="rId1" Type="http://schemas.microsoft.com/office/2007/relationships/media" Target="../media/media17.m4a"/><Relationship Id="rId5" Type="http://schemas.openxmlformats.org/officeDocument/2006/relationships/image" Target="../media/image1.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18.m4a"/><Relationship Id="rId1" Type="http://schemas.microsoft.com/office/2007/relationships/media" Target="../media/media18.m4a"/><Relationship Id="rId5" Type="http://schemas.openxmlformats.org/officeDocument/2006/relationships/image" Target="../media/image1.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Layout" Target="../slideLayouts/slideLayout12.xml"/><Relationship Id="rId7" Type="http://schemas.openxmlformats.org/officeDocument/2006/relationships/image" Target="../media/image18.png"/><Relationship Id="rId2" Type="http://schemas.openxmlformats.org/officeDocument/2006/relationships/audio" Target="../media/media19.m4a"/><Relationship Id="rId1" Type="http://schemas.microsoft.com/office/2007/relationships/media" Target="../media/media19.m4a"/><Relationship Id="rId6" Type="http://schemas.openxmlformats.org/officeDocument/2006/relationships/image" Target="../media/image6.png"/><Relationship Id="rId11" Type="http://schemas.openxmlformats.org/officeDocument/2006/relationships/image" Target="../media/image1.png"/><Relationship Id="rId5" Type="http://schemas.openxmlformats.org/officeDocument/2006/relationships/image" Target="../media/image5.png"/><Relationship Id="rId10" Type="http://schemas.openxmlformats.org/officeDocument/2006/relationships/image" Target="../media/image9.png"/><Relationship Id="rId4" Type="http://schemas.openxmlformats.org/officeDocument/2006/relationships/notesSlide" Target="../notesSlides/notesSlide18.xml"/><Relationship Id="rId9"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audio" Target="../media/media20.m4a"/><Relationship Id="rId1" Type="http://schemas.microsoft.com/office/2007/relationships/media" Target="../media/media20.m4a"/><Relationship Id="rId5" Type="http://schemas.openxmlformats.org/officeDocument/2006/relationships/image" Target="../media/image1.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hyperlink" Target="leishka-pagan.github.io/Lumen" TargetMode="External"/><Relationship Id="rId2" Type="http://schemas.openxmlformats.org/officeDocument/2006/relationships/notesSlide" Target="../notesSlides/notesSlide21.xml"/><Relationship Id="rId1" Type="http://schemas.openxmlformats.org/officeDocument/2006/relationships/slideLayout" Target="../slideLayouts/slideLayout12.xml"/><Relationship Id="rId5" Type="http://schemas.openxmlformats.org/officeDocument/2006/relationships/hyperlink" Target="https://www.linkedin.com/in/leishka-pagan/" TargetMode="External"/><Relationship Id="rId4" Type="http://schemas.openxmlformats.org/officeDocument/2006/relationships/hyperlink" Target="https://github.com/leishka-pagan/Lumen"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14"/>
        </a:solidFill>
        <a:effectLst/>
      </p:bgPr>
    </p:bg>
    <p:spTree>
      <p:nvGrpSpPr>
        <p:cNvPr id="1" name=""/>
        <p:cNvGrpSpPr/>
        <p:nvPr/>
      </p:nvGrpSpPr>
      <p:grpSpPr>
        <a:xfrm>
          <a:off x="0" y="0"/>
          <a:ext cx="0" cy="0"/>
          <a:chOff x="0" y="0"/>
          <a:chExt cx="0" cy="0"/>
        </a:xfrm>
      </p:grpSpPr>
      <p:sp>
        <p:nvSpPr>
          <p:cNvPr id="2" name="Shape 0"/>
          <p:cNvSpPr/>
          <p:nvPr/>
        </p:nvSpPr>
        <p:spPr>
          <a:xfrm>
            <a:off x="5669280" y="-1371600"/>
            <a:ext cx="5029200" cy="5029200"/>
          </a:xfrm>
          <a:prstGeom prst="ellipse">
            <a:avLst/>
          </a:prstGeom>
          <a:solidFill>
            <a:srgbClr val="7C3AED">
              <a:alpha val="18000"/>
            </a:srgbClr>
          </a:solidFill>
          <a:ln w="12700">
            <a:solidFill>
              <a:srgbClr val="A78BFA"/>
            </a:solidFill>
            <a:prstDash val="solid"/>
          </a:ln>
        </p:spPr>
        <p:txBody>
          <a:bodyPr/>
          <a:lstStyle/>
          <a:p>
            <a:endParaRPr lang="en-US"/>
          </a:p>
        </p:txBody>
      </p:sp>
      <p:sp>
        <p:nvSpPr>
          <p:cNvPr id="3" name="Shape 1"/>
          <p:cNvSpPr/>
          <p:nvPr/>
        </p:nvSpPr>
        <p:spPr>
          <a:xfrm>
            <a:off x="6766560" y="-274320"/>
            <a:ext cx="2926080" cy="2926080"/>
          </a:xfrm>
          <a:prstGeom prst="ellipse">
            <a:avLst/>
          </a:prstGeom>
          <a:solidFill>
            <a:srgbClr val="84CC16">
              <a:alpha val="10000"/>
            </a:srgbClr>
          </a:solidFill>
          <a:ln w="6350">
            <a:solidFill>
              <a:srgbClr val="84CC16"/>
            </a:solidFill>
            <a:prstDash val="solid"/>
          </a:ln>
        </p:spPr>
        <p:txBody>
          <a:bodyPr/>
          <a:lstStyle/>
          <a:p>
            <a:endParaRPr lang="en-US"/>
          </a:p>
        </p:txBody>
      </p:sp>
      <p:sp>
        <p:nvSpPr>
          <p:cNvPr id="4" name="Shape 2"/>
          <p:cNvSpPr/>
          <p:nvPr/>
        </p:nvSpPr>
        <p:spPr>
          <a:xfrm>
            <a:off x="502920" y="457200"/>
            <a:ext cx="2560320" cy="292608"/>
          </a:xfrm>
          <a:prstGeom prst="roundRect">
            <a:avLst>
              <a:gd name="adj" fmla="val 15625"/>
            </a:avLst>
          </a:prstGeom>
          <a:solidFill>
            <a:srgbClr val="7C3AED">
              <a:alpha val="25000"/>
            </a:srgbClr>
          </a:solidFill>
          <a:ln w="6350">
            <a:solidFill>
              <a:srgbClr val="A78BFA"/>
            </a:solidFill>
            <a:prstDash val="solid"/>
          </a:ln>
        </p:spPr>
        <p:txBody>
          <a:bodyPr/>
          <a:lstStyle/>
          <a:p>
            <a:endParaRPr lang="en-US"/>
          </a:p>
        </p:txBody>
      </p:sp>
      <p:sp>
        <p:nvSpPr>
          <p:cNvPr id="5" name="Text 3"/>
          <p:cNvSpPr/>
          <p:nvPr/>
        </p:nvSpPr>
        <p:spPr>
          <a:xfrm>
            <a:off x="502920" y="457200"/>
            <a:ext cx="2560320" cy="292608"/>
          </a:xfrm>
          <a:prstGeom prst="rect">
            <a:avLst/>
          </a:prstGeom>
          <a:noFill/>
          <a:ln/>
        </p:spPr>
        <p:txBody>
          <a:bodyPr wrap="square" lIns="0" tIns="0" rIns="0" bIns="0" rtlCol="0" anchor="ctr"/>
          <a:lstStyle/>
          <a:p>
            <a:pPr marL="0" indent="0" algn="ctr">
              <a:buNone/>
            </a:pPr>
            <a:r>
              <a:rPr lang="en-US" sz="800" b="1" kern="0" spc="200" dirty="0">
                <a:solidFill>
                  <a:srgbClr val="A78BFA"/>
                </a:solidFill>
                <a:latin typeface="Calibri" pitchFamily="34" charset="0"/>
                <a:ea typeface="Calibri" pitchFamily="34" charset="-122"/>
                <a:cs typeface="Calibri" pitchFamily="34" charset="-120"/>
              </a:rPr>
              <a:t>WIC AI INNOVATOR CAPSTONE</a:t>
            </a:r>
            <a:endParaRPr lang="en-US" sz="800" dirty="0"/>
          </a:p>
        </p:txBody>
      </p:sp>
      <p:sp>
        <p:nvSpPr>
          <p:cNvPr id="6" name="Text 4"/>
          <p:cNvSpPr/>
          <p:nvPr/>
        </p:nvSpPr>
        <p:spPr>
          <a:xfrm>
            <a:off x="457200" y="914400"/>
            <a:ext cx="6400800" cy="1280160"/>
          </a:xfrm>
          <a:prstGeom prst="rect">
            <a:avLst/>
          </a:prstGeom>
          <a:noFill/>
          <a:ln/>
        </p:spPr>
        <p:txBody>
          <a:bodyPr wrap="square" rtlCol="0" anchor="ctr"/>
          <a:lstStyle/>
          <a:p>
            <a:pPr marL="0" indent="0" algn="l">
              <a:buNone/>
            </a:pPr>
            <a:r>
              <a:rPr lang="en-US" sz="8000" b="1" dirty="0">
                <a:solidFill>
                  <a:srgbClr val="FFFFFF"/>
                </a:solidFill>
                <a:latin typeface="Cambria" pitchFamily="34" charset="0"/>
                <a:ea typeface="Cambria" pitchFamily="34" charset="-122"/>
                <a:cs typeface="Cambria" pitchFamily="34" charset="-120"/>
              </a:rPr>
              <a:t>Lumen</a:t>
            </a:r>
            <a:endParaRPr lang="en-US" sz="8000" dirty="0"/>
          </a:p>
        </p:txBody>
      </p:sp>
      <p:sp>
        <p:nvSpPr>
          <p:cNvPr id="7" name="Shape 5"/>
          <p:cNvSpPr/>
          <p:nvPr/>
        </p:nvSpPr>
        <p:spPr>
          <a:xfrm>
            <a:off x="502920" y="2148840"/>
            <a:ext cx="2194560" cy="54864"/>
          </a:xfrm>
          <a:prstGeom prst="rect">
            <a:avLst/>
          </a:prstGeom>
          <a:solidFill>
            <a:srgbClr val="84CC16"/>
          </a:solidFill>
          <a:ln w="12700">
            <a:solidFill>
              <a:srgbClr val="84CC16"/>
            </a:solidFill>
            <a:prstDash val="solid"/>
          </a:ln>
        </p:spPr>
        <p:txBody>
          <a:bodyPr/>
          <a:lstStyle/>
          <a:p>
            <a:endParaRPr lang="en-US"/>
          </a:p>
        </p:txBody>
      </p:sp>
      <p:sp>
        <p:nvSpPr>
          <p:cNvPr id="8" name="Text 6"/>
          <p:cNvSpPr/>
          <p:nvPr/>
        </p:nvSpPr>
        <p:spPr>
          <a:xfrm>
            <a:off x="457200" y="2286000"/>
            <a:ext cx="7315200" cy="384048"/>
          </a:xfrm>
          <a:prstGeom prst="rect">
            <a:avLst/>
          </a:prstGeom>
          <a:noFill/>
          <a:ln/>
        </p:spPr>
        <p:txBody>
          <a:bodyPr wrap="square" rtlCol="0" anchor="ctr"/>
          <a:lstStyle/>
          <a:p>
            <a:pPr marL="0" indent="0" algn="l">
              <a:buNone/>
            </a:pPr>
            <a:r>
              <a:rPr lang="en-US" sz="1800" i="1" dirty="0">
                <a:solidFill>
                  <a:srgbClr val="94A3B8"/>
                </a:solidFill>
                <a:latin typeface="Calibri" pitchFamily="34" charset="0"/>
                <a:ea typeface="Calibri" pitchFamily="34" charset="-122"/>
                <a:cs typeface="Calibri" pitchFamily="34" charset="-120"/>
              </a:rPr>
              <a:t>Defensible AML Decision Workbench</a:t>
            </a:r>
            <a:endParaRPr lang="en-US" sz="1800" dirty="0"/>
          </a:p>
        </p:txBody>
      </p:sp>
      <p:sp>
        <p:nvSpPr>
          <p:cNvPr id="9" name="Shape 7"/>
          <p:cNvSpPr/>
          <p:nvPr/>
        </p:nvSpPr>
        <p:spPr>
          <a:xfrm>
            <a:off x="365760" y="3017520"/>
            <a:ext cx="2011680" cy="822960"/>
          </a:xfrm>
          <a:prstGeom prst="roundRect">
            <a:avLst>
              <a:gd name="adj" fmla="val 8889"/>
            </a:avLst>
          </a:prstGeom>
          <a:solidFill>
            <a:srgbClr val="1A1A2E"/>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sp>
        <p:nvSpPr>
          <p:cNvPr id="10" name="Text 8"/>
          <p:cNvSpPr/>
          <p:nvPr/>
        </p:nvSpPr>
        <p:spPr>
          <a:xfrm>
            <a:off x="365760" y="3063240"/>
            <a:ext cx="2011680" cy="384048"/>
          </a:xfrm>
          <a:prstGeom prst="rect">
            <a:avLst/>
          </a:prstGeom>
          <a:noFill/>
          <a:ln/>
        </p:spPr>
        <p:txBody>
          <a:bodyPr wrap="square" rtlCol="0" anchor="ctr"/>
          <a:lstStyle/>
          <a:p>
            <a:pPr marL="0" indent="0" algn="ctr">
              <a:buNone/>
            </a:pPr>
            <a:r>
              <a:rPr lang="en-US" sz="2600" b="1" dirty="0">
                <a:solidFill>
                  <a:srgbClr val="84CC16"/>
                </a:solidFill>
                <a:latin typeface="Cambria" pitchFamily="34" charset="0"/>
                <a:ea typeface="Cambria" pitchFamily="34" charset="-122"/>
                <a:cs typeface="Cambria" pitchFamily="34" charset="-120"/>
              </a:rPr>
              <a:t>91.1%</a:t>
            </a:r>
            <a:endParaRPr lang="en-US" sz="2600" dirty="0"/>
          </a:p>
        </p:txBody>
      </p:sp>
      <p:sp>
        <p:nvSpPr>
          <p:cNvPr id="11" name="Text 9"/>
          <p:cNvSpPr/>
          <p:nvPr/>
        </p:nvSpPr>
        <p:spPr>
          <a:xfrm>
            <a:off x="365760" y="3429000"/>
            <a:ext cx="2011680" cy="256032"/>
          </a:xfrm>
          <a:prstGeom prst="rect">
            <a:avLst/>
          </a:prstGeom>
          <a:noFill/>
          <a:ln/>
        </p:spPr>
        <p:txBody>
          <a:bodyPr wrap="square"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Evidence Completeness</a:t>
            </a:r>
            <a:endParaRPr lang="en-US" sz="1000" dirty="0"/>
          </a:p>
        </p:txBody>
      </p:sp>
      <p:sp>
        <p:nvSpPr>
          <p:cNvPr id="12" name="Shape 10"/>
          <p:cNvSpPr/>
          <p:nvPr/>
        </p:nvSpPr>
        <p:spPr>
          <a:xfrm>
            <a:off x="2542032" y="3017520"/>
            <a:ext cx="2011680" cy="822960"/>
          </a:xfrm>
          <a:prstGeom prst="roundRect">
            <a:avLst>
              <a:gd name="adj" fmla="val 8889"/>
            </a:avLst>
          </a:prstGeom>
          <a:solidFill>
            <a:srgbClr val="1A1A2E"/>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sp>
        <p:nvSpPr>
          <p:cNvPr id="13" name="Text 11"/>
          <p:cNvSpPr/>
          <p:nvPr/>
        </p:nvSpPr>
        <p:spPr>
          <a:xfrm>
            <a:off x="2542032" y="3063240"/>
            <a:ext cx="2011680" cy="384048"/>
          </a:xfrm>
          <a:prstGeom prst="rect">
            <a:avLst/>
          </a:prstGeom>
          <a:noFill/>
          <a:ln/>
        </p:spPr>
        <p:txBody>
          <a:bodyPr wrap="square" rtlCol="0" anchor="ctr"/>
          <a:lstStyle/>
          <a:p>
            <a:pPr marL="0" indent="0" algn="ctr">
              <a:buNone/>
            </a:pPr>
            <a:r>
              <a:rPr lang="en-US" sz="2600" b="1" dirty="0">
                <a:solidFill>
                  <a:srgbClr val="84CC16"/>
                </a:solidFill>
                <a:latin typeface="Cambria" pitchFamily="34" charset="0"/>
                <a:ea typeface="Cambria" pitchFamily="34" charset="-122"/>
                <a:cs typeface="Cambria" pitchFamily="34" charset="-120"/>
              </a:rPr>
              <a:t>765</a:t>
            </a:r>
            <a:endParaRPr lang="en-US" sz="2600" dirty="0"/>
          </a:p>
        </p:txBody>
      </p:sp>
      <p:sp>
        <p:nvSpPr>
          <p:cNvPr id="14" name="Text 12"/>
          <p:cNvSpPr/>
          <p:nvPr/>
        </p:nvSpPr>
        <p:spPr>
          <a:xfrm>
            <a:off x="2542032" y="3429000"/>
            <a:ext cx="2011680" cy="256032"/>
          </a:xfrm>
          <a:prstGeom prst="rect">
            <a:avLst/>
          </a:prstGeom>
          <a:noFill/>
          <a:ln/>
        </p:spPr>
        <p:txBody>
          <a:bodyPr wrap="square"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Tests Passing</a:t>
            </a:r>
            <a:endParaRPr lang="en-US" sz="1000" dirty="0"/>
          </a:p>
        </p:txBody>
      </p:sp>
      <p:sp>
        <p:nvSpPr>
          <p:cNvPr id="15" name="Shape 13"/>
          <p:cNvSpPr/>
          <p:nvPr/>
        </p:nvSpPr>
        <p:spPr>
          <a:xfrm>
            <a:off x="4718304" y="3017520"/>
            <a:ext cx="2011680" cy="822960"/>
          </a:xfrm>
          <a:prstGeom prst="roundRect">
            <a:avLst>
              <a:gd name="adj" fmla="val 8889"/>
            </a:avLst>
          </a:prstGeom>
          <a:solidFill>
            <a:srgbClr val="1A1A2E"/>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sp>
        <p:nvSpPr>
          <p:cNvPr id="16" name="Text 14"/>
          <p:cNvSpPr/>
          <p:nvPr/>
        </p:nvSpPr>
        <p:spPr>
          <a:xfrm>
            <a:off x="4718304" y="3063240"/>
            <a:ext cx="2011680" cy="384048"/>
          </a:xfrm>
          <a:prstGeom prst="rect">
            <a:avLst/>
          </a:prstGeom>
          <a:noFill/>
          <a:ln/>
        </p:spPr>
        <p:txBody>
          <a:bodyPr wrap="square" rtlCol="0" anchor="ctr"/>
          <a:lstStyle/>
          <a:p>
            <a:pPr marL="0" indent="0" algn="ctr">
              <a:buNone/>
            </a:pPr>
            <a:r>
              <a:rPr lang="en-US" sz="2600" b="1" dirty="0">
                <a:solidFill>
                  <a:srgbClr val="84CC16"/>
                </a:solidFill>
                <a:latin typeface="Cambria" pitchFamily="34" charset="0"/>
                <a:ea typeface="Cambria" pitchFamily="34" charset="-122"/>
                <a:cs typeface="Cambria" pitchFamily="34" charset="-120"/>
              </a:rPr>
              <a:t>9</a:t>
            </a:r>
            <a:endParaRPr lang="en-US" sz="2600" dirty="0"/>
          </a:p>
        </p:txBody>
      </p:sp>
      <p:sp>
        <p:nvSpPr>
          <p:cNvPr id="17" name="Text 15"/>
          <p:cNvSpPr/>
          <p:nvPr/>
        </p:nvSpPr>
        <p:spPr>
          <a:xfrm>
            <a:off x="4718304" y="3429000"/>
            <a:ext cx="2011680" cy="256032"/>
          </a:xfrm>
          <a:prstGeom prst="rect">
            <a:avLst/>
          </a:prstGeom>
          <a:noFill/>
          <a:ln/>
        </p:spPr>
        <p:txBody>
          <a:bodyPr wrap="square"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Claim Types Locked</a:t>
            </a:r>
            <a:endParaRPr lang="en-US" sz="1000" dirty="0"/>
          </a:p>
        </p:txBody>
      </p:sp>
      <p:sp>
        <p:nvSpPr>
          <p:cNvPr id="18" name="Shape 16"/>
          <p:cNvSpPr/>
          <p:nvPr/>
        </p:nvSpPr>
        <p:spPr>
          <a:xfrm>
            <a:off x="6894576" y="3017520"/>
            <a:ext cx="2011680" cy="822960"/>
          </a:xfrm>
          <a:prstGeom prst="roundRect">
            <a:avLst>
              <a:gd name="adj" fmla="val 8889"/>
            </a:avLst>
          </a:prstGeom>
          <a:solidFill>
            <a:srgbClr val="1A1A2E"/>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sp>
        <p:nvSpPr>
          <p:cNvPr id="19" name="Text 17"/>
          <p:cNvSpPr/>
          <p:nvPr/>
        </p:nvSpPr>
        <p:spPr>
          <a:xfrm>
            <a:off x="6894576" y="3063240"/>
            <a:ext cx="2011680" cy="384048"/>
          </a:xfrm>
          <a:prstGeom prst="rect">
            <a:avLst/>
          </a:prstGeom>
          <a:noFill/>
          <a:ln/>
        </p:spPr>
        <p:txBody>
          <a:bodyPr wrap="square" rtlCol="0" anchor="ctr"/>
          <a:lstStyle/>
          <a:p>
            <a:pPr marL="0" indent="0" algn="ctr">
              <a:buNone/>
            </a:pPr>
            <a:r>
              <a:rPr lang="en-US" sz="2600" b="1" dirty="0">
                <a:solidFill>
                  <a:srgbClr val="84CC16"/>
                </a:solidFill>
                <a:latin typeface="Cambria" pitchFamily="34" charset="0"/>
                <a:ea typeface="Cambria" pitchFamily="34" charset="-122"/>
                <a:cs typeface="Cambria" pitchFamily="34" charset="-120"/>
              </a:rPr>
              <a:t>7</a:t>
            </a:r>
            <a:endParaRPr lang="en-US" sz="2600" dirty="0"/>
          </a:p>
        </p:txBody>
      </p:sp>
      <p:sp>
        <p:nvSpPr>
          <p:cNvPr id="20" name="Text 18"/>
          <p:cNvSpPr/>
          <p:nvPr/>
        </p:nvSpPr>
        <p:spPr>
          <a:xfrm>
            <a:off x="6894576" y="3429000"/>
            <a:ext cx="2011680" cy="256032"/>
          </a:xfrm>
          <a:prstGeom prst="rect">
            <a:avLst/>
          </a:prstGeom>
          <a:noFill/>
          <a:ln/>
        </p:spPr>
        <p:txBody>
          <a:bodyPr wrap="square"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Control Layers</a:t>
            </a:r>
            <a:endParaRPr lang="en-US" sz="1000" dirty="0"/>
          </a:p>
        </p:txBody>
      </p:sp>
      <p:sp>
        <p:nvSpPr>
          <p:cNvPr id="21" name="Text 19"/>
          <p:cNvSpPr/>
          <p:nvPr/>
        </p:nvSpPr>
        <p:spPr>
          <a:xfrm>
            <a:off x="457200" y="4434840"/>
            <a:ext cx="8229600" cy="256032"/>
          </a:xfrm>
          <a:prstGeom prst="rect">
            <a:avLst/>
          </a:prstGeom>
          <a:noFill/>
          <a:ln/>
        </p:spPr>
        <p:txBody>
          <a:bodyPr wrap="square" rtlCol="0" anchor="ctr"/>
          <a:lstStyle/>
          <a:p>
            <a:pPr marL="0" indent="0" algn="l">
              <a:buNone/>
            </a:pPr>
            <a:r>
              <a:rPr lang="en-US" sz="1100" dirty="0">
                <a:solidFill>
                  <a:srgbClr val="475569"/>
                </a:solidFill>
                <a:latin typeface="Calibri" pitchFamily="34" charset="0"/>
                <a:ea typeface="Calibri" pitchFamily="34" charset="-122"/>
                <a:cs typeface="Calibri" pitchFamily="34" charset="-120"/>
              </a:rPr>
              <a:t>Leishka  ·  Shivani  ·  Ryan  ·  Suli</a:t>
            </a:r>
            <a:endParaRPr lang="en-US" sz="1100" dirty="0"/>
          </a:p>
        </p:txBody>
      </p:sp>
      <p:pic>
        <p:nvPicPr>
          <p:cNvPr id="22" name="Slide 1">
            <a:hlinkClick r:id="" action="ppaction://media"/>
            <a:extLst>
              <a:ext uri="{FF2B5EF4-FFF2-40B4-BE49-F238E27FC236}">
                <a16:creationId xmlns:a16="http://schemas.microsoft.com/office/drawing/2014/main" id="{9B813364-9C15-02C6-CDCC-5E0DC99CC548}"/>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83880" y="4081272"/>
            <a:ext cx="609600" cy="609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57894"/>
    </mc:Choice>
    <mc:Fallback xmlns="">
      <p:transition spd="slow" advTm="5789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4454"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2"/>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D14"/>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The Problem</a:t>
            </a:r>
            <a:endParaRPr lang="en-US" sz="3400" dirty="0"/>
          </a:p>
        </p:txBody>
      </p:sp>
      <p:sp>
        <p:nvSpPr>
          <p:cNvPr id="3" name="Shape 1"/>
          <p:cNvSpPr/>
          <p:nvPr/>
        </p:nvSpPr>
        <p:spPr>
          <a:xfrm>
            <a:off x="365760" y="914400"/>
            <a:ext cx="3931920" cy="3566160"/>
          </a:xfrm>
          <a:prstGeom prst="roundRect">
            <a:avLst>
              <a:gd name="adj" fmla="val 2564"/>
            </a:avLst>
          </a:prstGeom>
          <a:solidFill>
            <a:srgbClr val="1A1A2E"/>
          </a:solidFill>
          <a:ln w="6350">
            <a:solidFill>
              <a:srgbClr val="475569"/>
            </a:solidFill>
            <a:prstDash val="solid"/>
          </a:ln>
          <a:effectLst>
            <a:outerShdw blurRad="177800" dist="50800" dir="8100000" algn="bl" rotWithShape="0">
              <a:srgbClr val="000000">
                <a:alpha val="35000"/>
              </a:srgbClr>
            </a:outerShdw>
          </a:effectLst>
        </p:spPr>
        <p:txBody>
          <a:bodyPr/>
          <a:lstStyle/>
          <a:p>
            <a:endParaRPr lang="en-US"/>
          </a:p>
        </p:txBody>
      </p:sp>
      <p:sp>
        <p:nvSpPr>
          <p:cNvPr id="4" name="Text 2"/>
          <p:cNvSpPr/>
          <p:nvPr/>
        </p:nvSpPr>
        <p:spPr>
          <a:xfrm>
            <a:off x="365760" y="1097280"/>
            <a:ext cx="3931920" cy="1097280"/>
          </a:xfrm>
          <a:prstGeom prst="rect">
            <a:avLst/>
          </a:prstGeom>
          <a:noFill/>
          <a:ln/>
        </p:spPr>
        <p:txBody>
          <a:bodyPr wrap="square" rtlCol="0" anchor="ctr"/>
          <a:lstStyle/>
          <a:p>
            <a:pPr marL="0" indent="0" algn="ctr">
              <a:buNone/>
            </a:pPr>
            <a:r>
              <a:rPr lang="en-US" sz="7200" b="1" dirty="0">
                <a:solidFill>
                  <a:srgbClr val="EF4444"/>
                </a:solidFill>
                <a:latin typeface="Cambria" pitchFamily="34" charset="0"/>
                <a:ea typeface="Cambria" pitchFamily="34" charset="-122"/>
                <a:cs typeface="Cambria" pitchFamily="34" charset="-120"/>
              </a:rPr>
              <a:t>95%</a:t>
            </a:r>
            <a:endParaRPr lang="en-US" sz="7200" dirty="0"/>
          </a:p>
        </p:txBody>
      </p:sp>
      <p:sp>
        <p:nvSpPr>
          <p:cNvPr id="5" name="Text 3"/>
          <p:cNvSpPr/>
          <p:nvPr/>
        </p:nvSpPr>
        <p:spPr>
          <a:xfrm>
            <a:off x="457200" y="2148840"/>
            <a:ext cx="3749040" cy="384048"/>
          </a:xfrm>
          <a:prstGeom prst="rect">
            <a:avLst/>
          </a:prstGeom>
          <a:noFill/>
          <a:ln/>
        </p:spPr>
        <p:txBody>
          <a:bodyPr wrap="square" rtlCol="0" anchor="ctr"/>
          <a:lstStyle/>
          <a:p>
            <a:pPr marL="0" indent="0" algn="ctr">
              <a:buNone/>
            </a:pPr>
            <a:r>
              <a:rPr lang="en-US" sz="1400" dirty="0">
                <a:solidFill>
                  <a:srgbClr val="94A3B8"/>
                </a:solidFill>
                <a:latin typeface="Calibri" pitchFamily="34" charset="0"/>
                <a:ea typeface="Calibri" pitchFamily="34" charset="-122"/>
                <a:cs typeface="Calibri" pitchFamily="34" charset="-120"/>
              </a:rPr>
              <a:t>of AML alerts are false positives</a:t>
            </a:r>
            <a:endParaRPr lang="en-US" sz="1400" dirty="0"/>
          </a:p>
        </p:txBody>
      </p:sp>
      <p:sp>
        <p:nvSpPr>
          <p:cNvPr id="6" name="Text 4"/>
          <p:cNvSpPr/>
          <p:nvPr/>
        </p:nvSpPr>
        <p:spPr>
          <a:xfrm>
            <a:off x="457200" y="2560320"/>
            <a:ext cx="3749040" cy="256032"/>
          </a:xfrm>
          <a:prstGeom prst="rect">
            <a:avLst/>
          </a:prstGeom>
          <a:noFill/>
          <a:ln/>
        </p:spPr>
        <p:txBody>
          <a:bodyPr wrap="square" rtlCol="0" anchor="ctr"/>
          <a:lstStyle/>
          <a:p>
            <a:pPr marL="0" indent="0" algn="ctr">
              <a:buNone/>
            </a:pPr>
            <a:r>
              <a:rPr lang="en-US" sz="900" i="1" dirty="0">
                <a:solidFill>
                  <a:srgbClr val="475569"/>
                </a:solidFill>
                <a:latin typeface="Calibri" pitchFamily="34" charset="0"/>
                <a:ea typeface="Calibri" pitchFamily="34" charset="-122"/>
                <a:cs typeface="Calibri" pitchFamily="34" charset="-120"/>
              </a:rPr>
              <a:t>Source: LexisNexis Risk Solutions</a:t>
            </a:r>
            <a:endParaRPr lang="en-US" sz="900" dirty="0"/>
          </a:p>
        </p:txBody>
      </p:sp>
      <p:sp>
        <p:nvSpPr>
          <p:cNvPr id="7" name="Text 5"/>
          <p:cNvSpPr/>
          <p:nvPr/>
        </p:nvSpPr>
        <p:spPr>
          <a:xfrm>
            <a:off x="365760" y="2926080"/>
            <a:ext cx="3931920" cy="685800"/>
          </a:xfrm>
          <a:prstGeom prst="rect">
            <a:avLst/>
          </a:prstGeom>
          <a:noFill/>
          <a:ln/>
        </p:spPr>
        <p:txBody>
          <a:bodyPr wrap="square" rtlCol="0" anchor="ctr"/>
          <a:lstStyle/>
          <a:p>
            <a:pPr marL="0" indent="0" algn="ctr">
              <a:buNone/>
            </a:pPr>
            <a:r>
              <a:rPr lang="en-US" sz="3800" b="1" dirty="0">
                <a:solidFill>
                  <a:srgbClr val="F59E0B"/>
                </a:solidFill>
                <a:latin typeface="Cambria" pitchFamily="34" charset="0"/>
                <a:ea typeface="Cambria" pitchFamily="34" charset="-122"/>
                <a:cs typeface="Cambria" pitchFamily="34" charset="-120"/>
              </a:rPr>
              <a:t>45 min</a:t>
            </a:r>
            <a:endParaRPr lang="en-US" sz="3800" dirty="0"/>
          </a:p>
        </p:txBody>
      </p:sp>
      <p:sp>
        <p:nvSpPr>
          <p:cNvPr id="8" name="Text 6"/>
          <p:cNvSpPr/>
          <p:nvPr/>
        </p:nvSpPr>
        <p:spPr>
          <a:xfrm>
            <a:off x="457200" y="3611880"/>
            <a:ext cx="3749040" cy="640080"/>
          </a:xfrm>
          <a:prstGeom prst="rect">
            <a:avLst/>
          </a:prstGeom>
          <a:noFill/>
          <a:ln/>
        </p:spPr>
        <p:txBody>
          <a:bodyPr wrap="square"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manual data-gathering per case</a:t>
            </a:r>
            <a:endParaRPr lang="en-US" sz="1000" dirty="0"/>
          </a:p>
          <a:p>
            <a:pPr marL="0" indent="0" algn="ctr">
              <a:buNone/>
            </a:pPr>
            <a:r>
              <a:rPr lang="en-US" sz="1000" dirty="0">
                <a:solidFill>
                  <a:srgbClr val="94A3B8"/>
                </a:solidFill>
                <a:latin typeface="Calibri" pitchFamily="34" charset="0"/>
                <a:ea typeface="Calibri" pitchFamily="34" charset="-122"/>
                <a:cs typeface="Calibri" pitchFamily="34" charset="-120"/>
              </a:rPr>
              <a:t>(ACAMS benchmark)</a:t>
            </a:r>
            <a:endParaRPr lang="en-US" sz="1000" dirty="0"/>
          </a:p>
        </p:txBody>
      </p:sp>
      <p:sp>
        <p:nvSpPr>
          <p:cNvPr id="9" name="Shape 7"/>
          <p:cNvSpPr/>
          <p:nvPr/>
        </p:nvSpPr>
        <p:spPr>
          <a:xfrm>
            <a:off x="4572000" y="914400"/>
            <a:ext cx="4206240" cy="1097280"/>
          </a:xfrm>
          <a:prstGeom prst="roundRect">
            <a:avLst>
              <a:gd name="adj" fmla="val 6667"/>
            </a:avLst>
          </a:prstGeom>
          <a:solidFill>
            <a:srgbClr val="13131F"/>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pic>
        <p:nvPicPr>
          <p:cNvPr id="10" name="Image 0" descr="preencoded.png"/>
          <p:cNvPicPr>
            <a:picLocks noChangeAspect="1"/>
          </p:cNvPicPr>
          <p:nvPr/>
        </p:nvPicPr>
        <p:blipFill>
          <a:blip r:embed="rId7"/>
          <a:stretch>
            <a:fillRect/>
          </a:stretch>
        </p:blipFill>
        <p:spPr>
          <a:xfrm>
            <a:off x="4709160" y="1051560"/>
            <a:ext cx="365760" cy="365760"/>
          </a:xfrm>
          <a:prstGeom prst="rect">
            <a:avLst/>
          </a:prstGeom>
        </p:spPr>
      </p:pic>
      <p:sp>
        <p:nvSpPr>
          <p:cNvPr id="11" name="Text 8"/>
          <p:cNvSpPr/>
          <p:nvPr/>
        </p:nvSpPr>
        <p:spPr>
          <a:xfrm>
            <a:off x="5166360" y="1005840"/>
            <a:ext cx="3474720" cy="292608"/>
          </a:xfrm>
          <a:prstGeom prst="rect">
            <a:avLst/>
          </a:prstGeom>
          <a:noFill/>
          <a:ln/>
        </p:spPr>
        <p:txBody>
          <a:bodyPr wrap="square"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Alert Fatigue</a:t>
            </a:r>
            <a:endParaRPr lang="en-US" sz="1300" dirty="0"/>
          </a:p>
        </p:txBody>
      </p:sp>
      <p:sp>
        <p:nvSpPr>
          <p:cNvPr id="12" name="Text 9"/>
          <p:cNvSpPr/>
          <p:nvPr/>
        </p:nvSpPr>
        <p:spPr>
          <a:xfrm>
            <a:off x="4709160" y="1371600"/>
            <a:ext cx="3931920" cy="566928"/>
          </a:xfrm>
          <a:prstGeom prst="rect">
            <a:avLst/>
          </a:prstGeom>
          <a:noFill/>
          <a:ln/>
        </p:spPr>
        <p:txBody>
          <a:bodyPr wrap="square" rtlCol="0" anchor="ctr"/>
          <a:lstStyle/>
          <a:p>
            <a:pPr marL="0" indent="0" algn="l">
              <a:buNone/>
            </a:pPr>
            <a:r>
              <a:rPr lang="en-US" sz="1050" dirty="0">
                <a:solidFill>
                  <a:srgbClr val="94A3B8"/>
                </a:solidFill>
                <a:latin typeface="Calibri" pitchFamily="34" charset="0"/>
                <a:ea typeface="Calibri" pitchFamily="34" charset="-122"/>
                <a:cs typeface="Calibri" pitchFamily="34" charset="-120"/>
              </a:rPr>
              <a:t>Analysts open 5 to 7 browser tabs per case just to find a customer ID, transaction history, and prior alerts.</a:t>
            </a:r>
            <a:endParaRPr lang="en-US" sz="1050" dirty="0"/>
          </a:p>
        </p:txBody>
      </p:sp>
      <p:sp>
        <p:nvSpPr>
          <p:cNvPr id="13" name="Shape 10"/>
          <p:cNvSpPr/>
          <p:nvPr/>
        </p:nvSpPr>
        <p:spPr>
          <a:xfrm>
            <a:off x="4572000" y="2148840"/>
            <a:ext cx="4206240" cy="1097280"/>
          </a:xfrm>
          <a:prstGeom prst="roundRect">
            <a:avLst>
              <a:gd name="adj" fmla="val 6667"/>
            </a:avLst>
          </a:prstGeom>
          <a:solidFill>
            <a:srgbClr val="13131F"/>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pic>
        <p:nvPicPr>
          <p:cNvPr id="14" name="Image 1" descr="preencoded.png"/>
          <p:cNvPicPr>
            <a:picLocks noChangeAspect="1"/>
          </p:cNvPicPr>
          <p:nvPr/>
        </p:nvPicPr>
        <p:blipFill>
          <a:blip r:embed="rId8"/>
          <a:stretch>
            <a:fillRect/>
          </a:stretch>
        </p:blipFill>
        <p:spPr>
          <a:xfrm>
            <a:off x="4709160" y="2286000"/>
            <a:ext cx="365760" cy="365760"/>
          </a:xfrm>
          <a:prstGeom prst="rect">
            <a:avLst/>
          </a:prstGeom>
        </p:spPr>
      </p:pic>
      <p:sp>
        <p:nvSpPr>
          <p:cNvPr id="15" name="Text 11"/>
          <p:cNvSpPr/>
          <p:nvPr/>
        </p:nvSpPr>
        <p:spPr>
          <a:xfrm>
            <a:off x="5166360" y="2240280"/>
            <a:ext cx="3474720" cy="292608"/>
          </a:xfrm>
          <a:prstGeom prst="rect">
            <a:avLst/>
          </a:prstGeom>
          <a:noFill/>
          <a:ln/>
        </p:spPr>
        <p:txBody>
          <a:bodyPr wrap="square"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AI Hallucinations Go Unchecked</a:t>
            </a:r>
            <a:endParaRPr lang="en-US" sz="1300" dirty="0"/>
          </a:p>
        </p:txBody>
      </p:sp>
      <p:sp>
        <p:nvSpPr>
          <p:cNvPr id="16" name="Text 12"/>
          <p:cNvSpPr/>
          <p:nvPr/>
        </p:nvSpPr>
        <p:spPr>
          <a:xfrm>
            <a:off x="4709160" y="2606040"/>
            <a:ext cx="3931920" cy="566928"/>
          </a:xfrm>
          <a:prstGeom prst="rect">
            <a:avLst/>
          </a:prstGeom>
          <a:noFill/>
          <a:ln/>
        </p:spPr>
        <p:txBody>
          <a:bodyPr wrap="square" rtlCol="0" anchor="ctr"/>
          <a:lstStyle/>
          <a:p>
            <a:pPr marL="0" indent="0" algn="l">
              <a:buNone/>
            </a:pPr>
            <a:r>
              <a:rPr lang="en-US" sz="1050" dirty="0">
                <a:solidFill>
                  <a:srgbClr val="94A3B8"/>
                </a:solidFill>
                <a:latin typeface="Calibri" pitchFamily="34" charset="0"/>
                <a:ea typeface="Calibri" pitchFamily="34" charset="-122"/>
                <a:cs typeface="Calibri" pitchFamily="34" charset="-120"/>
              </a:rPr>
              <a:t>Existing tools pass AI summaries directly to analysts. When the AI is wrong, no technical control catches it.</a:t>
            </a:r>
            <a:endParaRPr lang="en-US" sz="1050" dirty="0"/>
          </a:p>
        </p:txBody>
      </p:sp>
      <p:sp>
        <p:nvSpPr>
          <p:cNvPr id="17" name="Shape 13"/>
          <p:cNvSpPr/>
          <p:nvPr/>
        </p:nvSpPr>
        <p:spPr>
          <a:xfrm>
            <a:off x="4572000" y="3383280"/>
            <a:ext cx="4206240" cy="1097280"/>
          </a:xfrm>
          <a:prstGeom prst="roundRect">
            <a:avLst>
              <a:gd name="adj" fmla="val 6667"/>
            </a:avLst>
          </a:prstGeom>
          <a:solidFill>
            <a:srgbClr val="13131F"/>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pic>
        <p:nvPicPr>
          <p:cNvPr id="18" name="Image 2" descr="preencoded.png"/>
          <p:cNvPicPr>
            <a:picLocks noChangeAspect="1"/>
          </p:cNvPicPr>
          <p:nvPr/>
        </p:nvPicPr>
        <p:blipFill>
          <a:blip r:embed="rId9"/>
          <a:stretch>
            <a:fillRect/>
          </a:stretch>
        </p:blipFill>
        <p:spPr>
          <a:xfrm>
            <a:off x="4709160" y="3520440"/>
            <a:ext cx="365760" cy="365760"/>
          </a:xfrm>
          <a:prstGeom prst="rect">
            <a:avLst/>
          </a:prstGeom>
        </p:spPr>
      </p:pic>
      <p:sp>
        <p:nvSpPr>
          <p:cNvPr id="19" name="Text 14"/>
          <p:cNvSpPr/>
          <p:nvPr/>
        </p:nvSpPr>
        <p:spPr>
          <a:xfrm>
            <a:off x="5166360" y="3474720"/>
            <a:ext cx="3474720" cy="292608"/>
          </a:xfrm>
          <a:prstGeom prst="rect">
            <a:avLst/>
          </a:prstGeom>
          <a:noFill/>
          <a:ln/>
        </p:spPr>
        <p:txBody>
          <a:bodyPr wrap="square"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Rubber-Stamp Culture</a:t>
            </a:r>
            <a:endParaRPr lang="en-US" sz="1300" dirty="0"/>
          </a:p>
        </p:txBody>
      </p:sp>
      <p:sp>
        <p:nvSpPr>
          <p:cNvPr id="20" name="Text 15"/>
          <p:cNvSpPr/>
          <p:nvPr/>
        </p:nvSpPr>
        <p:spPr>
          <a:xfrm>
            <a:off x="4709160" y="3840480"/>
            <a:ext cx="3931920" cy="566928"/>
          </a:xfrm>
          <a:prstGeom prst="rect">
            <a:avLst/>
          </a:prstGeom>
          <a:noFill/>
          <a:ln/>
        </p:spPr>
        <p:txBody>
          <a:bodyPr wrap="square" rtlCol="0" anchor="ctr"/>
          <a:lstStyle/>
          <a:p>
            <a:pPr marL="0" indent="0" algn="l">
              <a:buNone/>
            </a:pPr>
            <a:r>
              <a:rPr lang="en-US" sz="1050" dirty="0">
                <a:solidFill>
                  <a:srgbClr val="94A3B8"/>
                </a:solidFill>
                <a:latin typeface="Calibri" pitchFamily="34" charset="0"/>
                <a:ea typeface="Calibri" pitchFamily="34" charset="-122"/>
                <a:cs typeface="Calibri" pitchFamily="34" charset="-120"/>
              </a:rPr>
              <a:t>Time pressure turns human review into a checkbox. Regulatory risk follows every unchallenged approval.</a:t>
            </a:r>
            <a:endParaRPr lang="en-US" sz="1050" dirty="0"/>
          </a:p>
        </p:txBody>
      </p:sp>
      <p:pic>
        <p:nvPicPr>
          <p:cNvPr id="22" name="Slide_2_Ryan">
            <a:hlinkClick r:id="" action="ppaction://media"/>
            <a:extLst>
              <a:ext uri="{FF2B5EF4-FFF2-40B4-BE49-F238E27FC236}">
                <a16:creationId xmlns:a16="http://schemas.microsoft.com/office/drawing/2014/main" id="{BF6D9C17-6E7A-D45E-C6CA-90969452E37F}"/>
              </a:ext>
            </a:extLst>
          </p:cNvPr>
          <p:cNvPicPr>
            <a:picLocks noChangeAspect="1"/>
          </p:cNvPicPr>
          <p:nvPr>
            <a:audioFile r:link="rId2"/>
            <p:extLst>
              <p:ext uri="{DAA4B4D4-6D71-4841-9C94-3DE7FCFB9230}">
                <p14:media xmlns:p14="http://schemas.microsoft.com/office/powerpoint/2010/main" r:embed="rId1"/>
              </p:ext>
            </p:extLst>
          </p:nvPr>
        </p:nvPicPr>
        <p:blipFill>
          <a:blip r:embed="rId10"/>
          <a:stretch>
            <a:fillRect/>
          </a:stretch>
        </p:blipFill>
        <p:spPr>
          <a:xfrm>
            <a:off x="8237220" y="4137660"/>
            <a:ext cx="609600" cy="609600"/>
          </a:xfrm>
          <a:prstGeom prst="rect">
            <a:avLst/>
          </a:prstGeom>
        </p:spPr>
      </p:pic>
      <p:pic>
        <p:nvPicPr>
          <p:cNvPr id="24" name="Slide 2">
            <a:hlinkClick r:id="" action="ppaction://media"/>
            <a:extLst>
              <a:ext uri="{FF2B5EF4-FFF2-40B4-BE49-F238E27FC236}">
                <a16:creationId xmlns:a16="http://schemas.microsoft.com/office/drawing/2014/main" id="{B9F86B3F-E9F0-A5FB-DC12-212D2BCEE414}"/>
              </a:ext>
            </a:extLst>
          </p:cNvPr>
          <p:cNvPicPr>
            <a:picLocks noChangeAspect="1"/>
          </p:cNvPicPr>
          <p:nvPr>
            <a:audioFile r:link="rId4"/>
            <p:extLst>
              <p:ext uri="{DAA4B4D4-6D71-4841-9C94-3DE7FCFB9230}">
                <p14:media xmlns:p14="http://schemas.microsoft.com/office/powerpoint/2010/main" r:embed="rId3"/>
              </p:ext>
            </p:extLst>
          </p:nvPr>
        </p:nvPicPr>
        <p:blipFill>
          <a:blip r:embed="rId10"/>
          <a:stretch>
            <a:fillRect/>
          </a:stretch>
        </p:blipFill>
        <p:spPr>
          <a:xfrm>
            <a:off x="8237220" y="4123944"/>
            <a:ext cx="609600" cy="609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0912" fill="hold"/>
                                        <p:tgtEl>
                                          <p:spTgt spid="22"/>
                                        </p:tgtEl>
                                      </p:cBhvr>
                                    </p:cmd>
                                  </p:childTnLst>
                                </p:cTn>
                              </p:par>
                            </p:childTnLst>
                          </p:cTn>
                        </p:par>
                        <p:par>
                          <p:cTn id="7" fill="hold">
                            <p:stCondLst>
                              <p:cond delay="30912"/>
                            </p:stCondLst>
                            <p:childTnLst>
                              <p:par>
                                <p:cTn id="8" presetID="1" presetClass="mediacall" presetSubtype="0" fill="hold" nodeType="afterEffect">
                                  <p:stCondLst>
                                    <p:cond delay="0"/>
                                  </p:stCondLst>
                                  <p:childTnLst>
                                    <p:cmd type="call" cmd="playFrom(0.0)">
                                      <p:cBhvr>
                                        <p:cTn id="9" dur="28342" fill="hold"/>
                                        <p:tgtEl>
                                          <p:spTgt spid="2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10" fill="hold" display="0">
                  <p:stCondLst>
                    <p:cond delay="indefinite"/>
                  </p:stCondLst>
                  <p:endCondLst>
                    <p:cond evt="onStopAudio" delay="0">
                      <p:tgtEl>
                        <p:sldTgt/>
                      </p:tgtEl>
                    </p:cond>
                  </p:endCondLst>
                </p:cTn>
                <p:tgtEl>
                  <p:spTgt spid="22"/>
                </p:tgtEl>
              </p:cMediaNode>
            </p:audio>
            <p:audio>
              <p:cMediaNode vol="80000">
                <p:cTn id="11" fill="hold" display="0">
                  <p:stCondLst>
                    <p:cond delay="indefinite"/>
                  </p:stCondLst>
                  <p:endCondLst>
                    <p:cond evt="onStopAudio" delay="0">
                      <p:tgtEl>
                        <p:sldTgt/>
                      </p:tgtEl>
                    </p:cond>
                  </p:endCondLst>
                </p:cTn>
                <p:tgtEl>
                  <p:spTgt spid="24"/>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D14"/>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Our Answer</a:t>
            </a:r>
            <a:endParaRPr lang="en-US" sz="3400" dirty="0"/>
          </a:p>
        </p:txBody>
      </p:sp>
      <p:sp>
        <p:nvSpPr>
          <p:cNvPr id="3" name="Text 1"/>
          <p:cNvSpPr/>
          <p:nvPr/>
        </p:nvSpPr>
        <p:spPr>
          <a:xfrm>
            <a:off x="457200" y="822960"/>
            <a:ext cx="8229600" cy="292608"/>
          </a:xfrm>
          <a:prstGeom prst="rect">
            <a:avLst/>
          </a:prstGeom>
          <a:noFill/>
          <a:ln/>
        </p:spPr>
        <p:txBody>
          <a:bodyPr wrap="square" rtlCol="0" anchor="ctr"/>
          <a:lstStyle/>
          <a:p>
            <a:pPr marL="0" indent="0" algn="l">
              <a:buNone/>
            </a:pPr>
            <a:r>
              <a:rPr lang="en-US" sz="1300" i="1" dirty="0">
                <a:solidFill>
                  <a:srgbClr val="94A3B8"/>
                </a:solidFill>
                <a:latin typeface="Calibri" pitchFamily="34" charset="0"/>
                <a:ea typeface="Calibri" pitchFamily="34" charset="-122"/>
                <a:cs typeface="Calibri" pitchFamily="34" charset="-120"/>
              </a:rPr>
              <a:t>The model drafts. Code verifies. Humans decide.</a:t>
            </a:r>
            <a:endParaRPr lang="en-US" sz="1300" dirty="0"/>
          </a:p>
        </p:txBody>
      </p:sp>
      <p:sp>
        <p:nvSpPr>
          <p:cNvPr id="4" name="Shape 2"/>
          <p:cNvSpPr/>
          <p:nvPr/>
        </p:nvSpPr>
        <p:spPr>
          <a:xfrm>
            <a:off x="365760" y="1188720"/>
            <a:ext cx="2651760" cy="3566160"/>
          </a:xfrm>
          <a:prstGeom prst="roundRect">
            <a:avLst>
              <a:gd name="adj" fmla="val 3448"/>
            </a:avLst>
          </a:prstGeom>
          <a:solidFill>
            <a:srgbClr val="1A1A2E"/>
          </a:solidFill>
          <a:ln w="6350">
            <a:solidFill>
              <a:srgbClr val="475569"/>
            </a:solidFill>
            <a:prstDash val="solid"/>
          </a:ln>
          <a:effectLst>
            <a:outerShdw blurRad="177800" dist="50800" dir="8100000" algn="bl" rotWithShape="0">
              <a:srgbClr val="000000">
                <a:alpha val="35000"/>
              </a:srgbClr>
            </a:outerShdw>
          </a:effectLst>
        </p:spPr>
        <p:txBody>
          <a:bodyPr/>
          <a:lstStyle/>
          <a:p>
            <a:endParaRPr lang="en-US"/>
          </a:p>
        </p:txBody>
      </p:sp>
      <p:sp>
        <p:nvSpPr>
          <p:cNvPr id="5" name="Shape 3"/>
          <p:cNvSpPr/>
          <p:nvPr/>
        </p:nvSpPr>
        <p:spPr>
          <a:xfrm>
            <a:off x="502920" y="1325880"/>
            <a:ext cx="475488" cy="475488"/>
          </a:xfrm>
          <a:prstGeom prst="ellipse">
            <a:avLst/>
          </a:prstGeom>
          <a:solidFill>
            <a:srgbClr val="7C3AED">
              <a:alpha val="20000"/>
            </a:srgbClr>
          </a:solidFill>
          <a:ln w="12700">
            <a:solidFill>
              <a:srgbClr val="7C3AED"/>
            </a:solidFill>
            <a:prstDash val="solid"/>
          </a:ln>
        </p:spPr>
        <p:txBody>
          <a:bodyPr/>
          <a:lstStyle/>
          <a:p>
            <a:endParaRPr lang="en-US"/>
          </a:p>
        </p:txBody>
      </p:sp>
      <p:sp>
        <p:nvSpPr>
          <p:cNvPr id="6" name="Text 4"/>
          <p:cNvSpPr/>
          <p:nvPr/>
        </p:nvSpPr>
        <p:spPr>
          <a:xfrm>
            <a:off x="502920" y="1325880"/>
            <a:ext cx="475488" cy="475488"/>
          </a:xfrm>
          <a:prstGeom prst="rect">
            <a:avLst/>
          </a:prstGeom>
          <a:noFill/>
          <a:ln/>
        </p:spPr>
        <p:txBody>
          <a:bodyPr wrap="square" lIns="0" tIns="0" rIns="0" bIns="0" rtlCol="0" anchor="ctr"/>
          <a:lstStyle/>
          <a:p>
            <a:pPr marL="0" indent="0" algn="ctr">
              <a:buNone/>
            </a:pPr>
            <a:r>
              <a:rPr lang="en-US" sz="1200" b="1" dirty="0">
                <a:solidFill>
                  <a:srgbClr val="A78BFA"/>
                </a:solidFill>
                <a:latin typeface="Cambria" pitchFamily="34" charset="0"/>
                <a:ea typeface="Cambria" pitchFamily="34" charset="-122"/>
                <a:cs typeface="Cambria" pitchFamily="34" charset="-120"/>
              </a:rPr>
              <a:t>01</a:t>
            </a:r>
            <a:endParaRPr lang="en-US" sz="1200" dirty="0"/>
          </a:p>
        </p:txBody>
      </p:sp>
      <p:sp>
        <p:nvSpPr>
          <p:cNvPr id="7" name="Text 5"/>
          <p:cNvSpPr/>
          <p:nvPr/>
        </p:nvSpPr>
        <p:spPr>
          <a:xfrm>
            <a:off x="502920" y="1920240"/>
            <a:ext cx="2377440" cy="594360"/>
          </a:xfrm>
          <a:prstGeom prst="rect">
            <a:avLst/>
          </a:prstGeom>
          <a:noFill/>
          <a:ln/>
        </p:spPr>
        <p:txBody>
          <a:bodyPr wrap="square" rtlCol="0" anchor="ctr"/>
          <a:lstStyle/>
          <a:p>
            <a:pPr marL="0" indent="0" algn="l">
              <a:buNone/>
            </a:pPr>
            <a:r>
              <a:rPr lang="en-US" sz="1400" b="1" dirty="0">
                <a:solidFill>
                  <a:srgbClr val="A78BFA"/>
                </a:solidFill>
                <a:latin typeface="Calibri" pitchFamily="34" charset="0"/>
                <a:ea typeface="Calibri" pitchFamily="34" charset="-122"/>
                <a:cs typeface="Calibri" pitchFamily="34" charset="-120"/>
              </a:rPr>
              <a:t>Structured Claims First</a:t>
            </a:r>
            <a:endParaRPr lang="en-US" sz="1400" dirty="0"/>
          </a:p>
        </p:txBody>
      </p:sp>
      <p:sp>
        <p:nvSpPr>
          <p:cNvPr id="8" name="Text 6"/>
          <p:cNvSpPr/>
          <p:nvPr/>
        </p:nvSpPr>
        <p:spPr>
          <a:xfrm>
            <a:off x="502920" y="2578608"/>
            <a:ext cx="2377440" cy="1828800"/>
          </a:xfrm>
          <a:prstGeom prst="rect">
            <a:avLst/>
          </a:prstGeom>
          <a:noFill/>
          <a:ln/>
        </p:spPr>
        <p:txBody>
          <a:bodyPr wrap="square" rtlCol="0" anchor="ctr"/>
          <a:lstStyle/>
          <a:p>
            <a:pPr marL="0" indent="0" algn="l">
              <a:buNone/>
            </a:pPr>
            <a:r>
              <a:rPr lang="en-US" sz="1100" dirty="0">
                <a:solidFill>
                  <a:srgbClr val="94A3B8"/>
                </a:solidFill>
                <a:latin typeface="Calibri" pitchFamily="34" charset="0"/>
                <a:ea typeface="Calibri" pitchFamily="34" charset="-122"/>
                <a:cs typeface="Calibri" pitchFamily="34" charset="-120"/>
              </a:rPr>
              <a:t>The AI emits JSON claims from a closed 9-type vocabulary. No free prose. Every claim is a checkable data object.</a:t>
            </a:r>
            <a:endParaRPr lang="en-US" sz="1100" dirty="0"/>
          </a:p>
        </p:txBody>
      </p:sp>
      <p:sp>
        <p:nvSpPr>
          <p:cNvPr id="9" name="Shape 7"/>
          <p:cNvSpPr/>
          <p:nvPr/>
        </p:nvSpPr>
        <p:spPr>
          <a:xfrm>
            <a:off x="3200400" y="1188720"/>
            <a:ext cx="2651760" cy="3566160"/>
          </a:xfrm>
          <a:prstGeom prst="roundRect">
            <a:avLst>
              <a:gd name="adj" fmla="val 3448"/>
            </a:avLst>
          </a:prstGeom>
          <a:solidFill>
            <a:srgbClr val="1A1A2E"/>
          </a:solidFill>
          <a:ln w="6350">
            <a:solidFill>
              <a:srgbClr val="475569"/>
            </a:solidFill>
            <a:prstDash val="solid"/>
          </a:ln>
          <a:effectLst>
            <a:outerShdw blurRad="177800" dist="50800" dir="8100000" algn="bl" rotWithShape="0">
              <a:srgbClr val="000000">
                <a:alpha val="35000"/>
              </a:srgbClr>
            </a:outerShdw>
          </a:effectLst>
        </p:spPr>
        <p:txBody>
          <a:bodyPr/>
          <a:lstStyle/>
          <a:p>
            <a:endParaRPr lang="en-US"/>
          </a:p>
        </p:txBody>
      </p:sp>
      <p:sp>
        <p:nvSpPr>
          <p:cNvPr id="10" name="Shape 8"/>
          <p:cNvSpPr/>
          <p:nvPr/>
        </p:nvSpPr>
        <p:spPr>
          <a:xfrm>
            <a:off x="3337560" y="1325880"/>
            <a:ext cx="475488" cy="475488"/>
          </a:xfrm>
          <a:prstGeom prst="ellipse">
            <a:avLst/>
          </a:prstGeom>
          <a:solidFill>
            <a:srgbClr val="84CC16">
              <a:alpha val="20000"/>
            </a:srgbClr>
          </a:solidFill>
          <a:ln w="12700">
            <a:solidFill>
              <a:srgbClr val="84CC16"/>
            </a:solidFill>
            <a:prstDash val="solid"/>
          </a:ln>
        </p:spPr>
        <p:txBody>
          <a:bodyPr/>
          <a:lstStyle/>
          <a:p>
            <a:endParaRPr lang="en-US"/>
          </a:p>
        </p:txBody>
      </p:sp>
      <p:sp>
        <p:nvSpPr>
          <p:cNvPr id="11" name="Text 9"/>
          <p:cNvSpPr/>
          <p:nvPr/>
        </p:nvSpPr>
        <p:spPr>
          <a:xfrm>
            <a:off x="3337560" y="1325880"/>
            <a:ext cx="475488" cy="475488"/>
          </a:xfrm>
          <a:prstGeom prst="rect">
            <a:avLst/>
          </a:prstGeom>
          <a:noFill/>
          <a:ln/>
        </p:spPr>
        <p:txBody>
          <a:bodyPr wrap="square" lIns="0" tIns="0" rIns="0" bIns="0" rtlCol="0" anchor="ctr"/>
          <a:lstStyle/>
          <a:p>
            <a:pPr marL="0" indent="0" algn="ctr">
              <a:buNone/>
            </a:pPr>
            <a:r>
              <a:rPr lang="en-US" sz="1200" b="1" dirty="0">
                <a:solidFill>
                  <a:srgbClr val="BEF264"/>
                </a:solidFill>
                <a:latin typeface="Cambria" pitchFamily="34" charset="0"/>
                <a:ea typeface="Cambria" pitchFamily="34" charset="-122"/>
                <a:cs typeface="Cambria" pitchFamily="34" charset="-120"/>
              </a:rPr>
              <a:t>02</a:t>
            </a:r>
            <a:endParaRPr lang="en-US" sz="1200" dirty="0"/>
          </a:p>
        </p:txBody>
      </p:sp>
      <p:sp>
        <p:nvSpPr>
          <p:cNvPr id="12" name="Text 10"/>
          <p:cNvSpPr/>
          <p:nvPr/>
        </p:nvSpPr>
        <p:spPr>
          <a:xfrm>
            <a:off x="3337560" y="1920240"/>
            <a:ext cx="2377440" cy="594360"/>
          </a:xfrm>
          <a:prstGeom prst="rect">
            <a:avLst/>
          </a:prstGeom>
          <a:noFill/>
          <a:ln/>
        </p:spPr>
        <p:txBody>
          <a:bodyPr wrap="square" rtlCol="0" anchor="ctr"/>
          <a:lstStyle/>
          <a:p>
            <a:pPr marL="0" indent="0" algn="l">
              <a:buNone/>
            </a:pPr>
            <a:r>
              <a:rPr lang="en-US" sz="1400" b="1" dirty="0">
                <a:solidFill>
                  <a:srgbClr val="BEF264"/>
                </a:solidFill>
                <a:latin typeface="Calibri" pitchFamily="34" charset="0"/>
                <a:ea typeface="Calibri" pitchFamily="34" charset="-122"/>
                <a:cs typeface="Calibri" pitchFamily="34" charset="-120"/>
              </a:rPr>
              <a:t>Deterministic Verification Second</a:t>
            </a:r>
            <a:endParaRPr lang="en-US" sz="1400" dirty="0"/>
          </a:p>
        </p:txBody>
      </p:sp>
      <p:sp>
        <p:nvSpPr>
          <p:cNvPr id="13" name="Text 11"/>
          <p:cNvSpPr/>
          <p:nvPr/>
        </p:nvSpPr>
        <p:spPr>
          <a:xfrm>
            <a:off x="3337560" y="2578608"/>
            <a:ext cx="2377440" cy="1828800"/>
          </a:xfrm>
          <a:prstGeom prst="rect">
            <a:avLst/>
          </a:prstGeom>
          <a:noFill/>
          <a:ln/>
        </p:spPr>
        <p:txBody>
          <a:bodyPr wrap="square" rtlCol="0" anchor="ctr"/>
          <a:lstStyle/>
          <a:p>
            <a:pPr marL="0" indent="0" algn="l">
              <a:buNone/>
            </a:pPr>
            <a:r>
              <a:rPr lang="en-US" sz="1100" dirty="0">
                <a:solidFill>
                  <a:srgbClr val="94A3B8"/>
                </a:solidFill>
                <a:latin typeface="Calibri" pitchFamily="34" charset="0"/>
                <a:ea typeface="Calibri" pitchFamily="34" charset="-122"/>
                <a:cs typeface="Calibri" pitchFamily="34" charset="-120"/>
              </a:rPr>
              <a:t>Python code checks every claim against source tables. Returns PASS, FAIL, or NEEDS REVIEW. No LLM judging another LLM.</a:t>
            </a:r>
            <a:endParaRPr lang="en-US" sz="1100" dirty="0"/>
          </a:p>
        </p:txBody>
      </p:sp>
      <p:sp>
        <p:nvSpPr>
          <p:cNvPr id="14" name="Shape 12"/>
          <p:cNvSpPr/>
          <p:nvPr/>
        </p:nvSpPr>
        <p:spPr>
          <a:xfrm>
            <a:off x="6035040" y="1188720"/>
            <a:ext cx="2651760" cy="3566160"/>
          </a:xfrm>
          <a:prstGeom prst="roundRect">
            <a:avLst>
              <a:gd name="adj" fmla="val 3448"/>
            </a:avLst>
          </a:prstGeom>
          <a:solidFill>
            <a:srgbClr val="1A1A2E"/>
          </a:solidFill>
          <a:ln w="6350">
            <a:solidFill>
              <a:srgbClr val="475569"/>
            </a:solidFill>
            <a:prstDash val="solid"/>
          </a:ln>
          <a:effectLst>
            <a:outerShdw blurRad="177800" dist="50800" dir="8100000" algn="bl" rotWithShape="0">
              <a:srgbClr val="000000">
                <a:alpha val="35000"/>
              </a:srgbClr>
            </a:outerShdw>
          </a:effectLst>
        </p:spPr>
        <p:txBody>
          <a:bodyPr/>
          <a:lstStyle/>
          <a:p>
            <a:endParaRPr lang="en-US"/>
          </a:p>
        </p:txBody>
      </p:sp>
      <p:sp>
        <p:nvSpPr>
          <p:cNvPr id="15" name="Shape 13"/>
          <p:cNvSpPr/>
          <p:nvPr/>
        </p:nvSpPr>
        <p:spPr>
          <a:xfrm>
            <a:off x="6172200" y="1325880"/>
            <a:ext cx="475488" cy="475488"/>
          </a:xfrm>
          <a:prstGeom prst="ellipse">
            <a:avLst/>
          </a:prstGeom>
          <a:solidFill>
            <a:srgbClr val="22C55E">
              <a:alpha val="20000"/>
            </a:srgbClr>
          </a:solidFill>
          <a:ln w="12700">
            <a:solidFill>
              <a:srgbClr val="22C55E"/>
            </a:solidFill>
            <a:prstDash val="solid"/>
          </a:ln>
        </p:spPr>
        <p:txBody>
          <a:bodyPr/>
          <a:lstStyle/>
          <a:p>
            <a:endParaRPr lang="en-US"/>
          </a:p>
        </p:txBody>
      </p:sp>
      <p:sp>
        <p:nvSpPr>
          <p:cNvPr id="16" name="Text 14"/>
          <p:cNvSpPr/>
          <p:nvPr/>
        </p:nvSpPr>
        <p:spPr>
          <a:xfrm>
            <a:off x="6172200" y="1325880"/>
            <a:ext cx="475488" cy="475488"/>
          </a:xfrm>
          <a:prstGeom prst="rect">
            <a:avLst/>
          </a:prstGeom>
          <a:noFill/>
          <a:ln/>
        </p:spPr>
        <p:txBody>
          <a:bodyPr wrap="square" lIns="0" tIns="0" rIns="0" bIns="0" rtlCol="0" anchor="ctr"/>
          <a:lstStyle/>
          <a:p>
            <a:pPr marL="0" indent="0" algn="ctr">
              <a:buNone/>
            </a:pPr>
            <a:r>
              <a:rPr lang="en-US" sz="1200" b="1" dirty="0">
                <a:solidFill>
                  <a:srgbClr val="86EFAC"/>
                </a:solidFill>
                <a:latin typeface="Cambria" pitchFamily="34" charset="0"/>
                <a:ea typeface="Cambria" pitchFamily="34" charset="-122"/>
                <a:cs typeface="Cambria" pitchFamily="34" charset="-120"/>
              </a:rPr>
              <a:t>03</a:t>
            </a:r>
            <a:endParaRPr lang="en-US" sz="1200" dirty="0"/>
          </a:p>
        </p:txBody>
      </p:sp>
      <p:sp>
        <p:nvSpPr>
          <p:cNvPr id="17" name="Text 15"/>
          <p:cNvSpPr/>
          <p:nvPr/>
        </p:nvSpPr>
        <p:spPr>
          <a:xfrm>
            <a:off x="6172200" y="1920240"/>
            <a:ext cx="2377440" cy="594360"/>
          </a:xfrm>
          <a:prstGeom prst="rect">
            <a:avLst/>
          </a:prstGeom>
          <a:noFill/>
          <a:ln/>
        </p:spPr>
        <p:txBody>
          <a:bodyPr wrap="square" rtlCol="0" anchor="ctr"/>
          <a:lstStyle/>
          <a:p>
            <a:pPr marL="0" indent="0" algn="l">
              <a:buNone/>
            </a:pPr>
            <a:r>
              <a:rPr lang="en-US" sz="1400" b="1" dirty="0">
                <a:solidFill>
                  <a:srgbClr val="86EFAC"/>
                </a:solidFill>
                <a:latin typeface="Calibri" pitchFamily="34" charset="0"/>
                <a:ea typeface="Calibri" pitchFamily="34" charset="-122"/>
                <a:cs typeface="Calibri" pitchFamily="34" charset="-120"/>
              </a:rPr>
              <a:t>Human Approval Last</a:t>
            </a:r>
            <a:endParaRPr lang="en-US" sz="1400" dirty="0"/>
          </a:p>
        </p:txBody>
      </p:sp>
      <p:sp>
        <p:nvSpPr>
          <p:cNvPr id="18" name="Text 16"/>
          <p:cNvSpPr/>
          <p:nvPr/>
        </p:nvSpPr>
        <p:spPr>
          <a:xfrm>
            <a:off x="6172200" y="2578608"/>
            <a:ext cx="2377440" cy="1828800"/>
          </a:xfrm>
          <a:prstGeom prst="rect">
            <a:avLst/>
          </a:prstGeom>
          <a:noFill/>
          <a:ln/>
        </p:spPr>
        <p:txBody>
          <a:bodyPr wrap="square" rtlCol="0" anchor="ctr"/>
          <a:lstStyle/>
          <a:p>
            <a:pPr marL="0" indent="0" algn="l">
              <a:buNone/>
            </a:pPr>
            <a:r>
              <a:rPr lang="en-US" sz="1100" dirty="0">
                <a:solidFill>
                  <a:srgbClr val="94A3B8"/>
                </a:solidFill>
                <a:latin typeface="Calibri" pitchFamily="34" charset="0"/>
                <a:ea typeface="Calibri" pitchFamily="34" charset="-122"/>
                <a:cs typeface="Calibri" pitchFamily="34" charset="-120"/>
              </a:rPr>
              <a:t>Anti-rubber-stamp gate. A review is not complete until evidence, rationale, and a final action are recorded. The AI never decides.</a:t>
            </a:r>
            <a:endParaRPr lang="en-US" sz="1100" dirty="0"/>
          </a:p>
        </p:txBody>
      </p:sp>
      <p:sp>
        <p:nvSpPr>
          <p:cNvPr id="19" name="Text 17"/>
          <p:cNvSpPr/>
          <p:nvPr/>
        </p:nvSpPr>
        <p:spPr>
          <a:xfrm>
            <a:off x="365760" y="4773168"/>
            <a:ext cx="8412480" cy="256032"/>
          </a:xfrm>
          <a:prstGeom prst="rect">
            <a:avLst/>
          </a:prstGeom>
          <a:noFill/>
          <a:ln/>
        </p:spPr>
        <p:txBody>
          <a:bodyPr wrap="square" rtlCol="0" anchor="ctr"/>
          <a:lstStyle/>
          <a:p>
            <a:pPr marL="0" indent="0" algn="ctr">
              <a:buNone/>
            </a:pPr>
            <a:r>
              <a:rPr lang="en-US" sz="1200" i="1" dirty="0">
                <a:solidFill>
                  <a:srgbClr val="A78BFA"/>
                </a:solidFill>
                <a:latin typeface="Calibri" pitchFamily="34" charset="0"/>
                <a:ea typeface="Calibri" pitchFamily="34" charset="-122"/>
                <a:cs typeface="Calibri" pitchFamily="34" charset="-120"/>
              </a:rPr>
              <a:t>Most AI compliance tools try to make analysts trust AI faster. Lumen does the opposite.</a:t>
            </a:r>
            <a:endParaRPr lang="en-US" sz="1200" dirty="0"/>
          </a:p>
        </p:txBody>
      </p:sp>
      <p:pic>
        <p:nvPicPr>
          <p:cNvPr id="20" name="Slide 3">
            <a:hlinkClick r:id="" action="ppaction://media"/>
            <a:extLst>
              <a:ext uri="{FF2B5EF4-FFF2-40B4-BE49-F238E27FC236}">
                <a16:creationId xmlns:a16="http://schemas.microsoft.com/office/drawing/2014/main" id="{79091CA1-F02E-C6D8-8B86-F377319AB214}"/>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260080" y="4015740"/>
            <a:ext cx="609600" cy="609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8095"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0"/>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0D14"/>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What We Actually Built</a:t>
            </a:r>
            <a:endParaRPr lang="en-US" sz="3400" dirty="0"/>
          </a:p>
        </p:txBody>
      </p:sp>
      <p:sp>
        <p:nvSpPr>
          <p:cNvPr id="3" name="Text 1"/>
          <p:cNvSpPr/>
          <p:nvPr/>
        </p:nvSpPr>
        <p:spPr>
          <a:xfrm>
            <a:off x="457200" y="822960"/>
            <a:ext cx="8229600" cy="292608"/>
          </a:xfrm>
          <a:prstGeom prst="rect">
            <a:avLst/>
          </a:prstGeom>
          <a:noFill/>
          <a:ln/>
        </p:spPr>
        <p:txBody>
          <a:bodyPr wrap="square" rtlCol="0" anchor="ctr"/>
          <a:lstStyle/>
          <a:p>
            <a:pPr marL="0" indent="0" algn="l">
              <a:buNone/>
            </a:pPr>
            <a:r>
              <a:rPr lang="en-US" sz="1300" i="1" dirty="0">
                <a:solidFill>
                  <a:srgbClr val="94A3B8"/>
                </a:solidFill>
                <a:latin typeface="Calibri" pitchFamily="34" charset="0"/>
                <a:ea typeface="Calibri" pitchFamily="34" charset="-122"/>
                <a:cs typeface="Calibri" pitchFamily="34" charset="-120"/>
              </a:rPr>
              <a:t>This separates us from teams who made a concept deck.</a:t>
            </a:r>
            <a:endParaRPr lang="en-US" sz="1300" dirty="0"/>
          </a:p>
        </p:txBody>
      </p:sp>
      <p:sp>
        <p:nvSpPr>
          <p:cNvPr id="4" name="Shape 2"/>
          <p:cNvSpPr/>
          <p:nvPr/>
        </p:nvSpPr>
        <p:spPr>
          <a:xfrm>
            <a:off x="320040" y="1097280"/>
            <a:ext cx="2788920" cy="1755648"/>
          </a:xfrm>
          <a:prstGeom prst="roundRect">
            <a:avLst>
              <a:gd name="adj" fmla="val 4688"/>
            </a:avLst>
          </a:prstGeom>
          <a:solidFill>
            <a:srgbClr val="1A1A2E"/>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pic>
        <p:nvPicPr>
          <p:cNvPr id="5" name="Image 0" descr="preencoded.png"/>
          <p:cNvPicPr>
            <a:picLocks noChangeAspect="1"/>
          </p:cNvPicPr>
          <p:nvPr/>
        </p:nvPicPr>
        <p:blipFill>
          <a:blip r:embed="rId5"/>
          <a:stretch>
            <a:fillRect/>
          </a:stretch>
        </p:blipFill>
        <p:spPr>
          <a:xfrm>
            <a:off x="429768" y="1188720"/>
            <a:ext cx="292608" cy="292608"/>
          </a:xfrm>
          <a:prstGeom prst="rect">
            <a:avLst/>
          </a:prstGeom>
        </p:spPr>
      </p:pic>
      <p:sp>
        <p:nvSpPr>
          <p:cNvPr id="6" name="Text 3"/>
          <p:cNvSpPr/>
          <p:nvPr/>
        </p:nvSpPr>
        <p:spPr>
          <a:xfrm>
            <a:off x="795528" y="1188720"/>
            <a:ext cx="2212848" cy="292608"/>
          </a:xfrm>
          <a:prstGeom prst="rect">
            <a:avLst/>
          </a:prstGeom>
          <a:noFill/>
          <a:ln/>
        </p:spPr>
        <p:txBody>
          <a:bodyPr wrap="square" rtlCol="0" anchor="ctr"/>
          <a:lstStyle/>
          <a:p>
            <a:pPr marL="0" indent="0" algn="l">
              <a:buNone/>
            </a:pPr>
            <a:r>
              <a:rPr lang="en-US" sz="1200" b="1" dirty="0">
                <a:solidFill>
                  <a:srgbClr val="84CC16"/>
                </a:solidFill>
                <a:latin typeface="Calibri" pitchFamily="34" charset="0"/>
                <a:ea typeface="Calibri" pitchFamily="34" charset="-122"/>
                <a:cs typeface="Calibri" pitchFamily="34" charset="-120"/>
              </a:rPr>
              <a:t>data/</a:t>
            </a:r>
            <a:endParaRPr lang="en-US" sz="1200" dirty="0"/>
          </a:p>
        </p:txBody>
      </p:sp>
      <p:sp>
        <p:nvSpPr>
          <p:cNvPr id="7" name="Text 4"/>
          <p:cNvSpPr/>
          <p:nvPr/>
        </p:nvSpPr>
        <p:spPr>
          <a:xfrm>
            <a:off x="429768" y="1554480"/>
            <a:ext cx="2578608" cy="1188720"/>
          </a:xfrm>
          <a:prstGeom prst="rect">
            <a:avLst/>
          </a:prstGeom>
          <a:noFill/>
          <a:ln/>
        </p:spPr>
        <p:txBody>
          <a:bodyPr wrap="square" rtlCol="0" anchor="ctr"/>
          <a:lstStyle/>
          <a:p>
            <a:pPr marL="0" indent="0" algn="l">
              <a:buNone/>
            </a:pPr>
            <a:r>
              <a:rPr lang="en-US" sz="1000" dirty="0">
                <a:solidFill>
                  <a:srgbClr val="94A3B8"/>
                </a:solidFill>
                <a:latin typeface="Calibri" pitchFamily="34" charset="0"/>
                <a:ea typeface="Calibri" pitchFamily="34" charset="-122"/>
                <a:cs typeface="Calibri" pitchFamily="34" charset="-120"/>
              </a:rPr>
              <a:t>Synthetic AML dataset (8 sources + audit)</a:t>
            </a:r>
            <a:endParaRPr lang="en-US" sz="1000" dirty="0"/>
          </a:p>
          <a:p>
            <a:pPr marL="0" indent="0" algn="l">
              <a:buNone/>
            </a:pPr>
            <a:r>
              <a:rPr lang="en-US" sz="1000" dirty="0">
                <a:solidFill>
                  <a:srgbClr val="94A3B8"/>
                </a:solidFill>
                <a:latin typeface="Calibri" pitchFamily="34" charset="0"/>
                <a:ea typeface="Calibri" pitchFamily="34" charset="-122"/>
                <a:cs typeface="Calibri" pitchFamily="34" charset="-120"/>
              </a:rPr>
              <a:t>30 customers, 187 transactions</a:t>
            </a:r>
            <a:endParaRPr lang="en-US" sz="1000" dirty="0"/>
          </a:p>
          <a:p>
            <a:pPr marL="0" indent="0" algn="l">
              <a:buNone/>
            </a:pPr>
            <a:r>
              <a:rPr lang="en-US" sz="1000" dirty="0">
                <a:solidFill>
                  <a:srgbClr val="94A3B8"/>
                </a:solidFill>
                <a:latin typeface="Calibri" pitchFamily="34" charset="0"/>
                <a:ea typeface="Calibri" pitchFamily="34" charset="-122"/>
                <a:cs typeface="Calibri" pitchFamily="34" charset="-120"/>
              </a:rPr>
              <a:t>Seeded demo cases and review records</a:t>
            </a:r>
            <a:endParaRPr lang="en-US" sz="1000" dirty="0"/>
          </a:p>
          <a:p>
            <a:pPr marL="0" indent="0" algn="l">
              <a:buNone/>
            </a:pPr>
            <a:r>
              <a:rPr lang="en-US" sz="1000" dirty="0">
                <a:solidFill>
                  <a:srgbClr val="94A3B8"/>
                </a:solidFill>
                <a:latin typeface="Calibri" pitchFamily="34" charset="0"/>
                <a:ea typeface="Calibri" pitchFamily="34" charset="-122"/>
                <a:cs typeface="Calibri" pitchFamily="34" charset="-120"/>
              </a:rPr>
              <a:t>Evidence completeness averages 91.1%</a:t>
            </a:r>
            <a:endParaRPr lang="en-US" sz="1000" dirty="0"/>
          </a:p>
        </p:txBody>
      </p:sp>
      <p:sp>
        <p:nvSpPr>
          <p:cNvPr id="8" name="Shape 5"/>
          <p:cNvSpPr/>
          <p:nvPr/>
        </p:nvSpPr>
        <p:spPr>
          <a:xfrm>
            <a:off x="3264408" y="1097280"/>
            <a:ext cx="2788920" cy="1755648"/>
          </a:xfrm>
          <a:prstGeom prst="roundRect">
            <a:avLst>
              <a:gd name="adj" fmla="val 4688"/>
            </a:avLst>
          </a:prstGeom>
          <a:solidFill>
            <a:srgbClr val="1A1A2E"/>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pic>
        <p:nvPicPr>
          <p:cNvPr id="9" name="Image 1" descr="preencoded.png"/>
          <p:cNvPicPr>
            <a:picLocks noChangeAspect="1"/>
          </p:cNvPicPr>
          <p:nvPr/>
        </p:nvPicPr>
        <p:blipFill>
          <a:blip r:embed="rId6"/>
          <a:stretch>
            <a:fillRect/>
          </a:stretch>
        </p:blipFill>
        <p:spPr>
          <a:xfrm>
            <a:off x="3374136" y="1188720"/>
            <a:ext cx="292608" cy="292608"/>
          </a:xfrm>
          <a:prstGeom prst="rect">
            <a:avLst/>
          </a:prstGeom>
        </p:spPr>
      </p:pic>
      <p:sp>
        <p:nvSpPr>
          <p:cNvPr id="10" name="Text 6"/>
          <p:cNvSpPr/>
          <p:nvPr/>
        </p:nvSpPr>
        <p:spPr>
          <a:xfrm>
            <a:off x="3739896" y="1188720"/>
            <a:ext cx="2212848" cy="292608"/>
          </a:xfrm>
          <a:prstGeom prst="rect">
            <a:avLst/>
          </a:prstGeom>
          <a:noFill/>
          <a:ln/>
        </p:spPr>
        <p:txBody>
          <a:bodyPr wrap="square" rtlCol="0" anchor="ctr"/>
          <a:lstStyle/>
          <a:p>
            <a:pPr marL="0" indent="0" algn="l">
              <a:buNone/>
            </a:pPr>
            <a:r>
              <a:rPr lang="en-US" sz="1200" b="1" dirty="0">
                <a:solidFill>
                  <a:srgbClr val="84CC16"/>
                </a:solidFill>
                <a:latin typeface="Calibri" pitchFamily="34" charset="0"/>
                <a:ea typeface="Calibri" pitchFamily="34" charset="-122"/>
                <a:cs typeface="Calibri" pitchFamily="34" charset="-120"/>
              </a:rPr>
              <a:t>src/schema.py</a:t>
            </a:r>
            <a:endParaRPr lang="en-US" sz="1200" dirty="0"/>
          </a:p>
        </p:txBody>
      </p:sp>
      <p:sp>
        <p:nvSpPr>
          <p:cNvPr id="11" name="Text 7"/>
          <p:cNvSpPr/>
          <p:nvPr/>
        </p:nvSpPr>
        <p:spPr>
          <a:xfrm>
            <a:off x="3374136" y="1554480"/>
            <a:ext cx="2578608" cy="1188720"/>
          </a:xfrm>
          <a:prstGeom prst="rect">
            <a:avLst/>
          </a:prstGeom>
          <a:noFill/>
          <a:ln/>
        </p:spPr>
        <p:txBody>
          <a:bodyPr wrap="square" rtlCol="0" anchor="ctr"/>
          <a:lstStyle/>
          <a:p>
            <a:pPr marL="0" indent="0" algn="l">
              <a:buNone/>
            </a:pPr>
            <a:r>
              <a:rPr lang="en-US" sz="1000" dirty="0">
                <a:solidFill>
                  <a:srgbClr val="94A3B8"/>
                </a:solidFill>
                <a:latin typeface="Calibri" pitchFamily="34" charset="0"/>
                <a:ea typeface="Calibri" pitchFamily="34" charset="-122"/>
                <a:cs typeface="Calibri" pitchFamily="34" charset="-120"/>
              </a:rPr>
              <a:t>Pydantic v2 validation models</a:t>
            </a:r>
            <a:endParaRPr lang="en-US" sz="1000" dirty="0"/>
          </a:p>
          <a:p>
            <a:pPr marL="0" indent="0" algn="l">
              <a:buNone/>
            </a:pPr>
            <a:r>
              <a:rPr lang="en-US" sz="1000" dirty="0">
                <a:solidFill>
                  <a:srgbClr val="94A3B8"/>
                </a:solidFill>
                <a:latin typeface="Calibri" pitchFamily="34" charset="0"/>
                <a:ea typeface="Calibri" pitchFamily="34" charset="-122"/>
                <a:cs typeface="Calibri" pitchFamily="34" charset="-120"/>
              </a:rPr>
              <a:t>Closed 9-type claim vocabulary</a:t>
            </a:r>
            <a:endParaRPr lang="en-US" sz="1000" dirty="0"/>
          </a:p>
          <a:p>
            <a:pPr marL="0" indent="0" algn="l">
              <a:buNone/>
            </a:pPr>
            <a:r>
              <a:rPr lang="en-US" sz="1000" dirty="0">
                <a:solidFill>
                  <a:srgbClr val="94A3B8"/>
                </a:solidFill>
                <a:latin typeface="Calibri" pitchFamily="34" charset="0"/>
                <a:ea typeface="Calibri" pitchFamily="34" charset="-122"/>
                <a:cs typeface="Calibri" pitchFamily="34" charset="-120"/>
              </a:rPr>
              <a:t>Single source of truth for all tables</a:t>
            </a:r>
            <a:endParaRPr lang="en-US" sz="1000" dirty="0"/>
          </a:p>
        </p:txBody>
      </p:sp>
      <p:sp>
        <p:nvSpPr>
          <p:cNvPr id="12" name="Shape 8"/>
          <p:cNvSpPr/>
          <p:nvPr/>
        </p:nvSpPr>
        <p:spPr>
          <a:xfrm>
            <a:off x="6208776" y="1097280"/>
            <a:ext cx="2788920" cy="1755648"/>
          </a:xfrm>
          <a:prstGeom prst="roundRect">
            <a:avLst>
              <a:gd name="adj" fmla="val 4688"/>
            </a:avLst>
          </a:prstGeom>
          <a:solidFill>
            <a:srgbClr val="1A1A2E"/>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pic>
        <p:nvPicPr>
          <p:cNvPr id="13" name="Image 2" descr="preencoded.png"/>
          <p:cNvPicPr>
            <a:picLocks noChangeAspect="1"/>
          </p:cNvPicPr>
          <p:nvPr/>
        </p:nvPicPr>
        <p:blipFill>
          <a:blip r:embed="rId7"/>
          <a:stretch>
            <a:fillRect/>
          </a:stretch>
        </p:blipFill>
        <p:spPr>
          <a:xfrm>
            <a:off x="6318504" y="1188720"/>
            <a:ext cx="292608" cy="292608"/>
          </a:xfrm>
          <a:prstGeom prst="rect">
            <a:avLst/>
          </a:prstGeom>
        </p:spPr>
      </p:pic>
      <p:sp>
        <p:nvSpPr>
          <p:cNvPr id="14" name="Text 9"/>
          <p:cNvSpPr/>
          <p:nvPr/>
        </p:nvSpPr>
        <p:spPr>
          <a:xfrm>
            <a:off x="6684264" y="1188720"/>
            <a:ext cx="2212848" cy="292608"/>
          </a:xfrm>
          <a:prstGeom prst="rect">
            <a:avLst/>
          </a:prstGeom>
          <a:noFill/>
          <a:ln/>
        </p:spPr>
        <p:txBody>
          <a:bodyPr wrap="square" rtlCol="0" anchor="ctr"/>
          <a:lstStyle/>
          <a:p>
            <a:pPr marL="0" indent="0" algn="l">
              <a:buNone/>
            </a:pPr>
            <a:r>
              <a:rPr lang="en-US" sz="1200" b="1" dirty="0">
                <a:solidFill>
                  <a:srgbClr val="84CC16"/>
                </a:solidFill>
                <a:latin typeface="Calibri" pitchFamily="34" charset="0"/>
                <a:ea typeface="Calibri" pitchFamily="34" charset="-122"/>
                <a:cs typeface="Calibri" pitchFamily="34" charset="-120"/>
              </a:rPr>
              <a:t>src/llm_drafter.py</a:t>
            </a:r>
            <a:endParaRPr lang="en-US" sz="1200" dirty="0"/>
          </a:p>
        </p:txBody>
      </p:sp>
      <p:sp>
        <p:nvSpPr>
          <p:cNvPr id="15" name="Text 10"/>
          <p:cNvSpPr/>
          <p:nvPr/>
        </p:nvSpPr>
        <p:spPr>
          <a:xfrm>
            <a:off x="6318504" y="1554480"/>
            <a:ext cx="2578608" cy="1188720"/>
          </a:xfrm>
          <a:prstGeom prst="rect">
            <a:avLst/>
          </a:prstGeom>
          <a:noFill/>
          <a:ln/>
        </p:spPr>
        <p:txBody>
          <a:bodyPr wrap="square" rtlCol="0" anchor="ctr"/>
          <a:lstStyle/>
          <a:p>
            <a:pPr marL="0" indent="0" algn="l">
              <a:buNone/>
            </a:pPr>
            <a:r>
              <a:rPr lang="en-US" sz="1000" dirty="0">
                <a:solidFill>
                  <a:srgbClr val="94A3B8"/>
                </a:solidFill>
                <a:latin typeface="Calibri" pitchFamily="34" charset="0"/>
                <a:ea typeface="Calibri" pitchFamily="34" charset="-122"/>
                <a:cs typeface="Calibri" pitchFamily="34" charset="-120"/>
              </a:rPr>
              <a:t>Anthropic tool-use API call</a:t>
            </a:r>
            <a:endParaRPr lang="en-US" sz="1000" dirty="0"/>
          </a:p>
          <a:p>
            <a:pPr marL="0" indent="0" algn="l">
              <a:buNone/>
            </a:pPr>
            <a:r>
              <a:rPr lang="en-US" sz="1000" dirty="0">
                <a:solidFill>
                  <a:srgbClr val="94A3B8"/>
                </a:solidFill>
                <a:latin typeface="Calibri" pitchFamily="34" charset="0"/>
                <a:ea typeface="Calibri" pitchFamily="34" charset="-122"/>
                <a:cs typeface="Calibri" pitchFamily="34" charset="-120"/>
              </a:rPr>
              <a:t>Forced structured claim output</a:t>
            </a:r>
            <a:endParaRPr lang="en-US" sz="1000" dirty="0"/>
          </a:p>
          <a:p>
            <a:pPr marL="0" indent="0" algn="l">
              <a:buNone/>
            </a:pPr>
            <a:r>
              <a:rPr lang="en-US" sz="1000" dirty="0">
                <a:solidFill>
                  <a:srgbClr val="94A3B8"/>
                </a:solidFill>
                <a:latin typeface="Calibri" pitchFamily="34" charset="0"/>
                <a:ea typeface="Calibri" pitchFamily="34" charset="-122"/>
                <a:cs typeface="Calibri" pitchFamily="34" charset="-120"/>
              </a:rPr>
              <a:t>3-gate schema enforcement</a:t>
            </a:r>
            <a:endParaRPr lang="en-US" sz="1000" dirty="0"/>
          </a:p>
          <a:p>
            <a:pPr marL="0" indent="0" algn="l">
              <a:buNone/>
            </a:pPr>
            <a:r>
              <a:rPr lang="en-US" sz="1000" dirty="0">
                <a:solidFill>
                  <a:srgbClr val="94A3B8"/>
                </a:solidFill>
                <a:latin typeface="Calibri" pitchFamily="34" charset="0"/>
                <a:ea typeface="Calibri" pitchFamily="34" charset="-122"/>
                <a:cs typeface="Calibri" pitchFamily="34" charset="-120"/>
              </a:rPr>
              <a:t>Never-raise fallback behavior</a:t>
            </a:r>
            <a:endParaRPr lang="en-US" sz="1000" dirty="0"/>
          </a:p>
        </p:txBody>
      </p:sp>
      <p:sp>
        <p:nvSpPr>
          <p:cNvPr id="16" name="Shape 11"/>
          <p:cNvSpPr/>
          <p:nvPr/>
        </p:nvSpPr>
        <p:spPr>
          <a:xfrm>
            <a:off x="320040" y="3017520"/>
            <a:ext cx="2788920" cy="1755648"/>
          </a:xfrm>
          <a:prstGeom prst="roundRect">
            <a:avLst>
              <a:gd name="adj" fmla="val 4688"/>
            </a:avLst>
          </a:prstGeom>
          <a:solidFill>
            <a:srgbClr val="1A1A2E"/>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pic>
        <p:nvPicPr>
          <p:cNvPr id="17" name="Image 3" descr="preencoded.png"/>
          <p:cNvPicPr>
            <a:picLocks noChangeAspect="1"/>
          </p:cNvPicPr>
          <p:nvPr/>
        </p:nvPicPr>
        <p:blipFill>
          <a:blip r:embed="rId8"/>
          <a:stretch>
            <a:fillRect/>
          </a:stretch>
        </p:blipFill>
        <p:spPr>
          <a:xfrm>
            <a:off x="429768" y="3108960"/>
            <a:ext cx="292608" cy="292608"/>
          </a:xfrm>
          <a:prstGeom prst="rect">
            <a:avLst/>
          </a:prstGeom>
        </p:spPr>
      </p:pic>
      <p:sp>
        <p:nvSpPr>
          <p:cNvPr id="18" name="Text 12"/>
          <p:cNvSpPr/>
          <p:nvPr/>
        </p:nvSpPr>
        <p:spPr>
          <a:xfrm>
            <a:off x="795528" y="3108960"/>
            <a:ext cx="2212848" cy="292608"/>
          </a:xfrm>
          <a:prstGeom prst="rect">
            <a:avLst/>
          </a:prstGeom>
          <a:noFill/>
          <a:ln/>
        </p:spPr>
        <p:txBody>
          <a:bodyPr wrap="square" rtlCol="0" anchor="ctr"/>
          <a:lstStyle/>
          <a:p>
            <a:pPr marL="0" indent="0" algn="l">
              <a:buNone/>
            </a:pPr>
            <a:r>
              <a:rPr lang="en-US" sz="1200" b="1" dirty="0">
                <a:solidFill>
                  <a:srgbClr val="84CC16"/>
                </a:solidFill>
                <a:latin typeface="Calibri" pitchFamily="34" charset="0"/>
                <a:ea typeface="Calibri" pitchFamily="34" charset="-122"/>
                <a:cs typeface="Calibri" pitchFamily="34" charset="-120"/>
              </a:rPr>
              <a:t>src/verifier.py</a:t>
            </a:r>
            <a:endParaRPr lang="en-US" sz="1200" dirty="0"/>
          </a:p>
        </p:txBody>
      </p:sp>
      <p:sp>
        <p:nvSpPr>
          <p:cNvPr id="19" name="Text 13"/>
          <p:cNvSpPr/>
          <p:nvPr/>
        </p:nvSpPr>
        <p:spPr>
          <a:xfrm>
            <a:off x="429768" y="3474720"/>
            <a:ext cx="2578608" cy="1188720"/>
          </a:xfrm>
          <a:prstGeom prst="rect">
            <a:avLst/>
          </a:prstGeom>
          <a:noFill/>
          <a:ln/>
        </p:spPr>
        <p:txBody>
          <a:bodyPr wrap="square" rtlCol="0" anchor="ctr"/>
          <a:lstStyle/>
          <a:p>
            <a:pPr marL="0" indent="0" algn="l">
              <a:buNone/>
            </a:pPr>
            <a:r>
              <a:rPr lang="en-US" sz="1000" dirty="0">
                <a:solidFill>
                  <a:srgbClr val="94A3B8"/>
                </a:solidFill>
                <a:latin typeface="Calibri" pitchFamily="34" charset="0"/>
                <a:ea typeface="Calibri" pitchFamily="34" charset="-122"/>
                <a:cs typeface="Calibri" pitchFamily="34" charset="-120"/>
              </a:rPr>
              <a:t>9 deterministic verifier functions</a:t>
            </a:r>
            <a:endParaRPr lang="en-US" sz="1000" dirty="0"/>
          </a:p>
          <a:p>
            <a:pPr marL="0" indent="0" algn="l">
              <a:buNone/>
            </a:pPr>
            <a:r>
              <a:rPr lang="en-US" sz="1000" dirty="0">
                <a:solidFill>
                  <a:srgbClr val="94A3B8"/>
                </a:solidFill>
                <a:latin typeface="Calibri" pitchFamily="34" charset="0"/>
                <a:ea typeface="Calibri" pitchFamily="34" charset="-122"/>
                <a:cs typeface="Calibri" pitchFamily="34" charset="-120"/>
              </a:rPr>
              <a:t>PASS / FAIL / NEEDS_REVIEW</a:t>
            </a:r>
            <a:endParaRPr lang="en-US" sz="1000" dirty="0"/>
          </a:p>
          <a:p>
            <a:pPr marL="0" indent="0" algn="l">
              <a:buNone/>
            </a:pPr>
            <a:r>
              <a:rPr lang="en-US" sz="1000" dirty="0">
                <a:solidFill>
                  <a:srgbClr val="94A3B8"/>
                </a:solidFill>
                <a:latin typeface="Calibri" pitchFamily="34" charset="0"/>
                <a:ea typeface="Calibri" pitchFamily="34" charset="-122"/>
                <a:cs typeface="Calibri" pitchFamily="34" charset="-120"/>
              </a:rPr>
              <a:t>Field-based and pattern-based checks</a:t>
            </a:r>
            <a:endParaRPr lang="en-US" sz="1000" dirty="0"/>
          </a:p>
        </p:txBody>
      </p:sp>
      <p:sp>
        <p:nvSpPr>
          <p:cNvPr id="20" name="Shape 14"/>
          <p:cNvSpPr/>
          <p:nvPr/>
        </p:nvSpPr>
        <p:spPr>
          <a:xfrm>
            <a:off x="3264408" y="3017520"/>
            <a:ext cx="2788920" cy="1755648"/>
          </a:xfrm>
          <a:prstGeom prst="roundRect">
            <a:avLst>
              <a:gd name="adj" fmla="val 4688"/>
            </a:avLst>
          </a:prstGeom>
          <a:solidFill>
            <a:srgbClr val="1A1A2E"/>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pic>
        <p:nvPicPr>
          <p:cNvPr id="21" name="Image 4" descr="preencoded.png"/>
          <p:cNvPicPr>
            <a:picLocks noChangeAspect="1"/>
          </p:cNvPicPr>
          <p:nvPr/>
        </p:nvPicPr>
        <p:blipFill>
          <a:blip r:embed="rId9"/>
          <a:stretch>
            <a:fillRect/>
          </a:stretch>
        </p:blipFill>
        <p:spPr>
          <a:xfrm>
            <a:off x="3374136" y="3108960"/>
            <a:ext cx="292608" cy="292608"/>
          </a:xfrm>
          <a:prstGeom prst="rect">
            <a:avLst/>
          </a:prstGeom>
        </p:spPr>
      </p:pic>
      <p:sp>
        <p:nvSpPr>
          <p:cNvPr id="22" name="Text 15"/>
          <p:cNvSpPr/>
          <p:nvPr/>
        </p:nvSpPr>
        <p:spPr>
          <a:xfrm>
            <a:off x="3739896" y="3108960"/>
            <a:ext cx="2212848" cy="292608"/>
          </a:xfrm>
          <a:prstGeom prst="rect">
            <a:avLst/>
          </a:prstGeom>
          <a:noFill/>
          <a:ln/>
        </p:spPr>
        <p:txBody>
          <a:bodyPr wrap="square" rtlCol="0" anchor="ctr"/>
          <a:lstStyle/>
          <a:p>
            <a:pPr marL="0" indent="0" algn="l">
              <a:buNone/>
            </a:pPr>
            <a:r>
              <a:rPr lang="en-US" sz="1200" b="1" dirty="0">
                <a:solidFill>
                  <a:srgbClr val="84CC16"/>
                </a:solidFill>
                <a:latin typeface="Calibri" pitchFamily="34" charset="0"/>
                <a:ea typeface="Calibri" pitchFamily="34" charset="-122"/>
                <a:cs typeface="Calibri" pitchFamily="34" charset="-120"/>
              </a:rPr>
              <a:t>src/pipeline.py</a:t>
            </a:r>
            <a:endParaRPr lang="en-US" sz="1200" dirty="0"/>
          </a:p>
        </p:txBody>
      </p:sp>
      <p:sp>
        <p:nvSpPr>
          <p:cNvPr id="23" name="Text 16"/>
          <p:cNvSpPr/>
          <p:nvPr/>
        </p:nvSpPr>
        <p:spPr>
          <a:xfrm>
            <a:off x="3374136" y="3474720"/>
            <a:ext cx="2578608" cy="1188720"/>
          </a:xfrm>
          <a:prstGeom prst="rect">
            <a:avLst/>
          </a:prstGeom>
          <a:noFill/>
          <a:ln/>
        </p:spPr>
        <p:txBody>
          <a:bodyPr wrap="square" rtlCol="0" anchor="ctr"/>
          <a:lstStyle/>
          <a:p>
            <a:pPr marL="0" indent="0" algn="l">
              <a:buNone/>
            </a:pPr>
            <a:r>
              <a:rPr lang="en-US" sz="1000" dirty="0">
                <a:solidFill>
                  <a:srgbClr val="94A3B8"/>
                </a:solidFill>
                <a:latin typeface="Calibri" pitchFamily="34" charset="0"/>
                <a:ea typeface="Calibri" pitchFamily="34" charset="-122"/>
                <a:cs typeface="Calibri" pitchFamily="34" charset="-120"/>
              </a:rPr>
              <a:t>Intended production wiring</a:t>
            </a:r>
            <a:endParaRPr lang="en-US" sz="1000" dirty="0"/>
          </a:p>
          <a:p>
            <a:pPr marL="0" indent="0" algn="l">
              <a:buNone/>
            </a:pPr>
            <a:r>
              <a:rPr lang="en-US" sz="1000" dirty="0">
                <a:solidFill>
                  <a:srgbClr val="94A3B8"/>
                </a:solidFill>
                <a:latin typeface="Calibri" pitchFamily="34" charset="0"/>
                <a:ea typeface="Calibri" pitchFamily="34" charset="-122"/>
                <a:cs typeface="Calibri" pitchFamily="34" charset="-120"/>
              </a:rPr>
              <a:t>Chains draft, verify, and gate</a:t>
            </a:r>
            <a:endParaRPr lang="en-US" sz="1000" dirty="0"/>
          </a:p>
          <a:p>
            <a:pPr marL="0" indent="0" algn="l">
              <a:buNone/>
            </a:pPr>
            <a:r>
              <a:rPr lang="en-US" sz="1000" dirty="0">
                <a:solidFill>
                  <a:srgbClr val="94A3B8"/>
                </a:solidFill>
                <a:latin typeface="Calibri" pitchFamily="34" charset="0"/>
                <a:ea typeface="Calibri" pitchFamily="34" charset="-122"/>
                <a:cs typeface="Calibri" pitchFamily="34" charset="-120"/>
              </a:rPr>
              <a:t>Demo calls the verifier directly</a:t>
            </a:r>
            <a:endParaRPr lang="en-US" sz="1000" dirty="0"/>
          </a:p>
        </p:txBody>
      </p:sp>
      <p:sp>
        <p:nvSpPr>
          <p:cNvPr id="24" name="Shape 17"/>
          <p:cNvSpPr/>
          <p:nvPr/>
        </p:nvSpPr>
        <p:spPr>
          <a:xfrm>
            <a:off x="6208776" y="3017520"/>
            <a:ext cx="2788920" cy="1755648"/>
          </a:xfrm>
          <a:prstGeom prst="roundRect">
            <a:avLst>
              <a:gd name="adj" fmla="val 4688"/>
            </a:avLst>
          </a:prstGeom>
          <a:solidFill>
            <a:srgbClr val="1A1A2E"/>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pic>
        <p:nvPicPr>
          <p:cNvPr id="25" name="Image 5" descr="preencoded.png"/>
          <p:cNvPicPr>
            <a:picLocks noChangeAspect="1"/>
          </p:cNvPicPr>
          <p:nvPr/>
        </p:nvPicPr>
        <p:blipFill>
          <a:blip r:embed="rId10"/>
          <a:stretch>
            <a:fillRect/>
          </a:stretch>
        </p:blipFill>
        <p:spPr>
          <a:xfrm>
            <a:off x="6318504" y="3108960"/>
            <a:ext cx="292608" cy="292608"/>
          </a:xfrm>
          <a:prstGeom prst="rect">
            <a:avLst/>
          </a:prstGeom>
        </p:spPr>
      </p:pic>
      <p:sp>
        <p:nvSpPr>
          <p:cNvPr id="26" name="Text 18"/>
          <p:cNvSpPr/>
          <p:nvPr/>
        </p:nvSpPr>
        <p:spPr>
          <a:xfrm>
            <a:off x="6684264" y="3108960"/>
            <a:ext cx="2212848" cy="292608"/>
          </a:xfrm>
          <a:prstGeom prst="rect">
            <a:avLst/>
          </a:prstGeom>
          <a:noFill/>
          <a:ln/>
        </p:spPr>
        <p:txBody>
          <a:bodyPr wrap="square" rtlCol="0" anchor="ctr"/>
          <a:lstStyle/>
          <a:p>
            <a:pPr marL="0" indent="0" algn="l">
              <a:buNone/>
            </a:pPr>
            <a:r>
              <a:rPr lang="en-US" sz="1200" b="1" dirty="0">
                <a:solidFill>
                  <a:srgbClr val="84CC16"/>
                </a:solidFill>
                <a:latin typeface="Calibri" pitchFamily="34" charset="0"/>
                <a:ea typeface="Calibri" pitchFamily="34" charset="-122"/>
                <a:cs typeface="Calibri" pitchFamily="34" charset="-120"/>
              </a:rPr>
              <a:t>tests/ (765 tests)</a:t>
            </a:r>
            <a:endParaRPr lang="en-US" sz="1200" dirty="0"/>
          </a:p>
        </p:txBody>
      </p:sp>
      <p:sp>
        <p:nvSpPr>
          <p:cNvPr id="27" name="Text 19"/>
          <p:cNvSpPr/>
          <p:nvPr/>
        </p:nvSpPr>
        <p:spPr>
          <a:xfrm>
            <a:off x="6318504" y="3474720"/>
            <a:ext cx="2578608" cy="1188720"/>
          </a:xfrm>
          <a:prstGeom prst="rect">
            <a:avLst/>
          </a:prstGeom>
          <a:noFill/>
          <a:ln/>
        </p:spPr>
        <p:txBody>
          <a:bodyPr wrap="square" rtlCol="0" anchor="ctr"/>
          <a:lstStyle/>
          <a:p>
            <a:pPr marL="0" indent="0" algn="l">
              <a:buNone/>
            </a:pPr>
            <a:r>
              <a:rPr lang="en-US" sz="1000" dirty="0">
                <a:solidFill>
                  <a:srgbClr val="94A3B8"/>
                </a:solidFill>
                <a:latin typeface="Calibri" pitchFamily="34" charset="0"/>
                <a:ea typeface="Calibri" pitchFamily="34" charset="-122"/>
                <a:cs typeface="Calibri" pitchFamily="34" charset="-120"/>
              </a:rPr>
              <a:t>Data integrity and demo cases</a:t>
            </a:r>
            <a:endParaRPr lang="en-US" sz="1000" dirty="0"/>
          </a:p>
          <a:p>
            <a:pPr marL="0" indent="0" algn="l">
              <a:buNone/>
            </a:pPr>
            <a:r>
              <a:rPr lang="en-US" sz="1000" dirty="0">
                <a:solidFill>
                  <a:srgbClr val="94A3B8"/>
                </a:solidFill>
                <a:latin typeface="Calibri" pitchFamily="34" charset="0"/>
                <a:ea typeface="Calibri" pitchFamily="34" charset="-122"/>
                <a:cs typeface="Calibri" pitchFamily="34" charset="-120"/>
              </a:rPr>
              <a:t>LLM drafter mock coverage</a:t>
            </a:r>
            <a:endParaRPr lang="en-US" sz="1000" dirty="0"/>
          </a:p>
          <a:p>
            <a:pPr marL="0" indent="0" algn="l">
              <a:buNone/>
            </a:pPr>
            <a:r>
              <a:rPr lang="en-US" sz="1000" dirty="0">
                <a:solidFill>
                  <a:srgbClr val="94A3B8"/>
                </a:solidFill>
                <a:latin typeface="Calibri" pitchFamily="34" charset="0"/>
                <a:ea typeface="Calibri" pitchFamily="34" charset="-122"/>
                <a:cs typeface="Calibri" pitchFamily="34" charset="-120"/>
              </a:rPr>
              <a:t>Verifier + negative paths</a:t>
            </a:r>
            <a:endParaRPr lang="en-US" sz="1000" dirty="0"/>
          </a:p>
          <a:p>
            <a:pPr marL="0" indent="0" algn="l">
              <a:buNone/>
            </a:pPr>
            <a:r>
              <a:rPr lang="en-US" sz="1000" dirty="0">
                <a:solidFill>
                  <a:srgbClr val="94A3B8"/>
                </a:solidFill>
                <a:latin typeface="Calibri" pitchFamily="34" charset="0"/>
                <a:ea typeface="Calibri" pitchFamily="34" charset="-122"/>
                <a:cs typeface="Calibri" pitchFamily="34" charset="-120"/>
              </a:rPr>
              <a:t>Demo seed governance</a:t>
            </a:r>
            <a:endParaRPr lang="en-US" sz="1000" dirty="0"/>
          </a:p>
        </p:txBody>
      </p:sp>
      <p:pic>
        <p:nvPicPr>
          <p:cNvPr id="31" name="Slide 4 - Leishka">
            <a:hlinkClick r:id="" action="ppaction://media"/>
            <a:extLst>
              <a:ext uri="{FF2B5EF4-FFF2-40B4-BE49-F238E27FC236}">
                <a16:creationId xmlns:a16="http://schemas.microsoft.com/office/drawing/2014/main" id="{B993DE48-9098-478B-48DE-D501D98F5900}"/>
              </a:ext>
            </a:extLst>
          </p:cNvPr>
          <p:cNvPicPr>
            <a:picLocks noChangeAspect="1"/>
          </p:cNvPicPr>
          <p:nvPr>
            <a:audioFile r:link="rId2"/>
            <p:extLst>
              <p:ext uri="{DAA4B4D4-6D71-4841-9C94-3DE7FCFB9230}">
                <p14:media xmlns:p14="http://schemas.microsoft.com/office/powerpoint/2010/main" r:embed="rId1"/>
              </p:ext>
            </p:extLst>
          </p:nvPr>
        </p:nvPicPr>
        <p:blipFill>
          <a:blip r:embed="rId11"/>
          <a:stretch>
            <a:fillRect/>
          </a:stretch>
        </p:blipFill>
        <p:spPr>
          <a:xfrm>
            <a:off x="8133588" y="4126992"/>
            <a:ext cx="609600" cy="609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0118" fill="hold"/>
                                        <p:tgtEl>
                                          <p:spTgt spid="3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1"/>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bg"/>
          <p:cNvSpPr>
            <a:spLocks noGrp="1"/>
          </p:cNvSpPr>
          <p:nvPr/>
        </p:nvSpPr>
        <p:spPr>
          <a:xfrm>
            <a:off x="0" y="0"/>
            <a:ext cx="9144000" cy="5143500"/>
          </a:xfrm>
          <a:prstGeom prst="rect">
            <a:avLst/>
          </a:prstGeom>
          <a:solidFill>
            <a:srgbClr val="0D0D14"/>
          </a:solidFill>
          <a:ln>
            <a:noFill/>
          </a:ln>
        </p:spPr>
        <p:txBody>
          <a:bodyPr wrap="square" lIns="0" tIns="0" rIns="0" bIns="0" anchor="t"/>
          <a:lstStyle/>
          <a:p>
            <a:endParaRPr/>
          </a:p>
        </p:txBody>
      </p:sp>
      <p:sp>
        <p:nvSpPr>
          <p:cNvPr id="202" name="title"/>
          <p:cNvSpPr>
            <a:spLocks noGrp="1"/>
          </p:cNvSpPr>
          <p:nvPr/>
        </p:nvSpPr>
        <p:spPr>
          <a:xfrm>
            <a:off x="457200" y="256032"/>
            <a:ext cx="8229600" cy="548640"/>
          </a:xfrm>
          <a:prstGeom prst="roundRect">
            <a:avLst>
              <a:gd name="adj" fmla="val 6500"/>
            </a:avLst>
          </a:prstGeom>
          <a:noFill/>
          <a:ln>
            <a:noFill/>
          </a:ln>
        </p:spPr>
        <p:txBody>
          <a:bodyPr wrap="square" lIns="0" tIns="0" rIns="0" bIns="0" anchor="t"/>
          <a:lstStyle/>
          <a:p>
            <a:pPr algn="l"/>
            <a:r>
              <a:rPr lang="en-US" sz="3400" b="1" dirty="0">
                <a:solidFill>
                  <a:srgbClr val="FFFFFF"/>
                </a:solidFill>
                <a:latin typeface="Calibri"/>
              </a:rPr>
              <a:t>From Alert Queue to Decision Workbench</a:t>
            </a:r>
          </a:p>
        </p:txBody>
      </p:sp>
      <p:sp>
        <p:nvSpPr>
          <p:cNvPr id="203" name="subtitle"/>
          <p:cNvSpPr>
            <a:spLocks noGrp="1"/>
          </p:cNvSpPr>
          <p:nvPr/>
        </p:nvSpPr>
        <p:spPr>
          <a:xfrm>
            <a:off x="457200" y="822960"/>
            <a:ext cx="8229600" cy="292608"/>
          </a:xfrm>
          <a:prstGeom prst="roundRect">
            <a:avLst>
              <a:gd name="adj" fmla="val 6500"/>
            </a:avLst>
          </a:prstGeom>
          <a:noFill/>
          <a:ln>
            <a:noFill/>
          </a:ln>
        </p:spPr>
        <p:txBody>
          <a:bodyPr wrap="square" lIns="0" tIns="0" rIns="0" bIns="0" anchor="t"/>
          <a:lstStyle/>
          <a:p>
            <a:pPr algn="l"/>
            <a:r>
              <a:rPr lang="en-US" sz="1300" b="0" dirty="0">
                <a:solidFill>
                  <a:srgbClr val="94A3B8"/>
                </a:solidFill>
                <a:latin typeface="Calibri"/>
              </a:rPr>
              <a:t>One screen, built in two stages.</a:t>
            </a:r>
          </a:p>
        </p:txBody>
      </p:sp>
      <p:sp>
        <p:nvSpPr>
          <p:cNvPr id="204" name="panel_left"/>
          <p:cNvSpPr>
            <a:spLocks noGrp="1"/>
          </p:cNvSpPr>
          <p:nvPr/>
        </p:nvSpPr>
        <p:spPr>
          <a:xfrm>
            <a:off x="410385" y="1179999"/>
            <a:ext cx="4114799" cy="3509063"/>
          </a:xfrm>
          <a:prstGeom prst="roundRect">
            <a:avLst>
              <a:gd name="adj" fmla="val 6500"/>
            </a:avLst>
          </a:prstGeom>
          <a:solidFill>
            <a:schemeClr val="tx2">
              <a:lumMod val="75000"/>
            </a:schemeClr>
          </a:solidFill>
          <a:ln w="12700">
            <a:solidFill>
              <a:srgbClr val="475569"/>
            </a:solidFill>
          </a:ln>
        </p:spPr>
        <p:txBody>
          <a:bodyPr wrap="square" lIns="0" tIns="0" rIns="0" bIns="0" anchor="t"/>
          <a:lstStyle/>
          <a:p>
            <a:endParaRPr/>
          </a:p>
        </p:txBody>
      </p:sp>
      <p:sp>
        <p:nvSpPr>
          <p:cNvPr id="205" name="panel_right"/>
          <p:cNvSpPr>
            <a:spLocks noGrp="1"/>
          </p:cNvSpPr>
          <p:nvPr/>
        </p:nvSpPr>
        <p:spPr>
          <a:xfrm>
            <a:off x="4615185" y="1180000"/>
            <a:ext cx="4071615" cy="3834452"/>
          </a:xfrm>
          <a:prstGeom prst="roundRect">
            <a:avLst>
              <a:gd name="adj" fmla="val 6500"/>
            </a:avLst>
          </a:prstGeom>
          <a:solidFill>
            <a:schemeClr val="tx2">
              <a:lumMod val="75000"/>
            </a:schemeClr>
          </a:solidFill>
          <a:ln w="12700">
            <a:solidFill>
              <a:srgbClr val="475569"/>
            </a:solidFill>
          </a:ln>
        </p:spPr>
        <p:txBody>
          <a:bodyPr wrap="square" lIns="0" tIns="0" rIns="0" bIns="0" anchor="t"/>
          <a:lstStyle/>
          <a:p>
            <a:endParaRPr/>
          </a:p>
        </p:txBody>
      </p:sp>
      <p:sp>
        <p:nvSpPr>
          <p:cNvPr id="206" name="head"/>
          <p:cNvSpPr>
            <a:spLocks noGrp="1"/>
          </p:cNvSpPr>
          <p:nvPr/>
        </p:nvSpPr>
        <p:spPr>
          <a:xfrm>
            <a:off x="547200" y="1270000"/>
            <a:ext cx="3820500" cy="830000"/>
          </a:xfrm>
          <a:prstGeom prst="roundRect">
            <a:avLst>
              <a:gd name="adj" fmla="val 6500"/>
            </a:avLst>
          </a:prstGeom>
          <a:noFill/>
          <a:ln>
            <a:noFill/>
          </a:ln>
        </p:spPr>
        <p:txBody>
          <a:bodyPr wrap="square" lIns="0" tIns="0" rIns="0" bIns="0" anchor="t"/>
          <a:lstStyle/>
          <a:p>
            <a:pPr algn="l"/>
            <a:r>
              <a:rPr lang="en-US" sz="1100" b="1" dirty="0">
                <a:solidFill>
                  <a:srgbClr val="84CC16"/>
                </a:solidFill>
                <a:latin typeface="Calibri"/>
              </a:rPr>
              <a:t>STAGE ONE</a:t>
            </a:r>
          </a:p>
          <a:p>
            <a:pPr algn="l">
              <a:spcBef>
                <a:spcPts val="400"/>
              </a:spcBef>
            </a:pPr>
            <a:r>
              <a:rPr lang="en-US" sz="2000" b="1" dirty="0">
                <a:solidFill>
                  <a:srgbClr val="FFFFFF"/>
                </a:solidFill>
                <a:latin typeface="Calibri"/>
              </a:rPr>
              <a:t>The Alert Queue</a:t>
            </a:r>
          </a:p>
          <a:p>
            <a:pPr algn="l">
              <a:spcBef>
                <a:spcPts val="300"/>
              </a:spcBef>
            </a:pPr>
            <a:r>
              <a:rPr lang="en-US" sz="1200" b="0" dirty="0">
                <a:solidFill>
                  <a:srgbClr val="94A3B8"/>
                </a:solidFill>
                <a:latin typeface="Calibri"/>
              </a:rPr>
              <a:t>Where the work arrives</a:t>
            </a:r>
          </a:p>
        </p:txBody>
      </p:sp>
      <p:sp>
        <p:nvSpPr>
          <p:cNvPr id="207" name="lbl"/>
          <p:cNvSpPr>
            <a:spLocks noGrp="1"/>
          </p:cNvSpPr>
          <p:nvPr/>
        </p:nvSpPr>
        <p:spPr>
          <a:xfrm>
            <a:off x="547200" y="2150000"/>
            <a:ext cx="3820500" cy="170000"/>
          </a:xfrm>
          <a:prstGeom prst="roundRect">
            <a:avLst>
              <a:gd name="adj" fmla="val 6500"/>
            </a:avLst>
          </a:prstGeom>
          <a:noFill/>
          <a:ln>
            <a:noFill/>
          </a:ln>
        </p:spPr>
        <p:txBody>
          <a:bodyPr wrap="square" lIns="0" tIns="0" rIns="0" bIns="0" anchor="t"/>
          <a:lstStyle/>
          <a:p>
            <a:pPr algn="l"/>
            <a:r>
              <a:rPr lang="en-US" sz="800" b="1" dirty="0">
                <a:solidFill>
                  <a:srgbClr val="94A3B8"/>
                </a:solidFill>
                <a:latin typeface="Calibri"/>
              </a:rPr>
              <a:t>ALERT QUEUE</a:t>
            </a:r>
          </a:p>
        </p:txBody>
      </p:sp>
      <p:sp>
        <p:nvSpPr>
          <p:cNvPr id="208" name="chip"/>
          <p:cNvSpPr>
            <a:spLocks noGrp="1"/>
          </p:cNvSpPr>
          <p:nvPr/>
        </p:nvSpPr>
        <p:spPr>
          <a:xfrm>
            <a:off x="547200" y="2360000"/>
            <a:ext cx="880000" cy="200000"/>
          </a:xfrm>
          <a:prstGeom prst="roundRect">
            <a:avLst>
              <a:gd name="adj" fmla="val 25000"/>
            </a:avLst>
          </a:prstGeom>
          <a:solidFill>
            <a:srgbClr val="13131F"/>
          </a:solidFill>
          <a:ln w="12700">
            <a:solidFill>
              <a:srgbClr val="475569"/>
            </a:solidFill>
          </a:ln>
        </p:spPr>
        <p:txBody>
          <a:bodyPr wrap="square" lIns="20000" tIns="20000" rIns="20000" bIns="20000" anchor="ctr"/>
          <a:lstStyle/>
          <a:p>
            <a:pPr algn="ctr"/>
            <a:r>
              <a:rPr lang="en-US" sz="700" b="1" dirty="0">
                <a:solidFill>
                  <a:srgbClr val="475569"/>
                </a:solidFill>
                <a:latin typeface="Calibri"/>
              </a:rPr>
              <a:t>SEVERITY</a:t>
            </a:r>
          </a:p>
        </p:txBody>
      </p:sp>
      <p:sp>
        <p:nvSpPr>
          <p:cNvPr id="209" name="chip"/>
          <p:cNvSpPr>
            <a:spLocks noGrp="1"/>
          </p:cNvSpPr>
          <p:nvPr/>
        </p:nvSpPr>
        <p:spPr>
          <a:xfrm>
            <a:off x="1497200" y="2360000"/>
            <a:ext cx="760000" cy="200000"/>
          </a:xfrm>
          <a:prstGeom prst="roundRect">
            <a:avLst>
              <a:gd name="adj" fmla="val 25000"/>
            </a:avLst>
          </a:prstGeom>
          <a:solidFill>
            <a:srgbClr val="13131F"/>
          </a:solidFill>
          <a:ln w="12700">
            <a:solidFill>
              <a:srgbClr val="475569"/>
            </a:solidFill>
          </a:ln>
        </p:spPr>
        <p:txBody>
          <a:bodyPr wrap="square" lIns="20000" tIns="20000" rIns="20000" bIns="20000" anchor="ctr"/>
          <a:lstStyle/>
          <a:p>
            <a:pPr algn="ctr"/>
            <a:r>
              <a:rPr lang="en-US" sz="700" b="1" dirty="0">
                <a:solidFill>
                  <a:srgbClr val="475569"/>
                </a:solidFill>
                <a:latin typeface="Calibri"/>
              </a:rPr>
              <a:t>STATUS</a:t>
            </a:r>
          </a:p>
        </p:txBody>
      </p:sp>
      <p:sp>
        <p:nvSpPr>
          <p:cNvPr id="210" name="row"/>
          <p:cNvSpPr>
            <a:spLocks noGrp="1"/>
          </p:cNvSpPr>
          <p:nvPr/>
        </p:nvSpPr>
        <p:spPr>
          <a:xfrm>
            <a:off x="547200" y="2660000"/>
            <a:ext cx="3820500" cy="180000"/>
          </a:xfrm>
          <a:prstGeom prst="roundRect">
            <a:avLst>
              <a:gd name="adj" fmla="val 6500"/>
            </a:avLst>
          </a:prstGeom>
          <a:solidFill>
            <a:srgbClr val="13131F"/>
          </a:solidFill>
          <a:ln>
            <a:noFill/>
          </a:ln>
        </p:spPr>
        <p:txBody>
          <a:bodyPr wrap="square" lIns="0" tIns="0" rIns="0" bIns="0" anchor="t"/>
          <a:lstStyle/>
          <a:p>
            <a:endParaRPr/>
          </a:p>
        </p:txBody>
      </p:sp>
      <p:sp>
        <p:nvSpPr>
          <p:cNvPr id="211" name="dot"/>
          <p:cNvSpPr>
            <a:spLocks noGrp="1"/>
          </p:cNvSpPr>
          <p:nvPr/>
        </p:nvSpPr>
        <p:spPr>
          <a:xfrm>
            <a:off x="627200" y="2715000"/>
            <a:ext cx="70000" cy="70000"/>
          </a:xfrm>
          <a:prstGeom prst="ellipse">
            <a:avLst/>
          </a:prstGeom>
          <a:solidFill>
            <a:srgbClr val="EF4444"/>
          </a:solidFill>
          <a:ln>
            <a:noFill/>
          </a:ln>
        </p:spPr>
        <p:txBody>
          <a:bodyPr wrap="square" lIns="0" tIns="0" rIns="0" bIns="0" anchor="t"/>
          <a:lstStyle/>
          <a:p>
            <a:endParaRPr/>
          </a:p>
        </p:txBody>
      </p:sp>
      <p:sp>
        <p:nvSpPr>
          <p:cNvPr id="212" name="bar"/>
          <p:cNvSpPr>
            <a:spLocks noGrp="1"/>
          </p:cNvSpPr>
          <p:nvPr/>
        </p:nvSpPr>
        <p:spPr>
          <a:xfrm>
            <a:off x="747200" y="2728000"/>
            <a:ext cx="2300000" cy="50000"/>
          </a:xfrm>
          <a:prstGeom prst="rect">
            <a:avLst/>
          </a:prstGeom>
          <a:solidFill>
            <a:srgbClr val="475569"/>
          </a:solidFill>
          <a:ln>
            <a:noFill/>
          </a:ln>
        </p:spPr>
        <p:txBody>
          <a:bodyPr wrap="square" lIns="0" tIns="0" rIns="0" bIns="0" anchor="t"/>
          <a:lstStyle/>
          <a:p>
            <a:endParaRPr/>
          </a:p>
        </p:txBody>
      </p:sp>
      <p:sp>
        <p:nvSpPr>
          <p:cNvPr id="213" name="row"/>
          <p:cNvSpPr>
            <a:spLocks noGrp="1"/>
          </p:cNvSpPr>
          <p:nvPr/>
        </p:nvSpPr>
        <p:spPr>
          <a:xfrm>
            <a:off x="547200" y="2900000"/>
            <a:ext cx="3820500" cy="180000"/>
          </a:xfrm>
          <a:prstGeom prst="roundRect">
            <a:avLst>
              <a:gd name="adj" fmla="val 6500"/>
            </a:avLst>
          </a:prstGeom>
          <a:solidFill>
            <a:srgbClr val="13131F"/>
          </a:solidFill>
          <a:ln>
            <a:noFill/>
          </a:ln>
        </p:spPr>
        <p:txBody>
          <a:bodyPr wrap="square" lIns="0" tIns="0" rIns="0" bIns="0" anchor="t"/>
          <a:lstStyle/>
          <a:p>
            <a:endParaRPr/>
          </a:p>
        </p:txBody>
      </p:sp>
      <p:sp>
        <p:nvSpPr>
          <p:cNvPr id="214" name="dot"/>
          <p:cNvSpPr>
            <a:spLocks noGrp="1"/>
          </p:cNvSpPr>
          <p:nvPr/>
        </p:nvSpPr>
        <p:spPr>
          <a:xfrm>
            <a:off x="627200" y="2955000"/>
            <a:ext cx="70000" cy="70000"/>
          </a:xfrm>
          <a:prstGeom prst="ellipse">
            <a:avLst/>
          </a:prstGeom>
          <a:solidFill>
            <a:srgbClr val="F59E0B"/>
          </a:solidFill>
          <a:ln>
            <a:noFill/>
          </a:ln>
        </p:spPr>
        <p:txBody>
          <a:bodyPr wrap="square" lIns="0" tIns="0" rIns="0" bIns="0" anchor="t"/>
          <a:lstStyle/>
          <a:p>
            <a:endParaRPr/>
          </a:p>
        </p:txBody>
      </p:sp>
      <p:sp>
        <p:nvSpPr>
          <p:cNvPr id="215" name="bar"/>
          <p:cNvSpPr>
            <a:spLocks noGrp="1"/>
          </p:cNvSpPr>
          <p:nvPr/>
        </p:nvSpPr>
        <p:spPr>
          <a:xfrm>
            <a:off x="747200" y="2968000"/>
            <a:ext cx="1950000" cy="50000"/>
          </a:xfrm>
          <a:prstGeom prst="rect">
            <a:avLst/>
          </a:prstGeom>
          <a:solidFill>
            <a:srgbClr val="475569"/>
          </a:solidFill>
          <a:ln>
            <a:noFill/>
          </a:ln>
        </p:spPr>
        <p:txBody>
          <a:bodyPr wrap="square" lIns="0" tIns="0" rIns="0" bIns="0" anchor="t"/>
          <a:lstStyle/>
          <a:p>
            <a:endParaRPr/>
          </a:p>
        </p:txBody>
      </p:sp>
      <p:sp>
        <p:nvSpPr>
          <p:cNvPr id="216" name="row"/>
          <p:cNvSpPr>
            <a:spLocks noGrp="1"/>
          </p:cNvSpPr>
          <p:nvPr/>
        </p:nvSpPr>
        <p:spPr>
          <a:xfrm>
            <a:off x="547200" y="3140000"/>
            <a:ext cx="3820500" cy="180000"/>
          </a:xfrm>
          <a:prstGeom prst="roundRect">
            <a:avLst>
              <a:gd name="adj" fmla="val 6500"/>
            </a:avLst>
          </a:prstGeom>
          <a:solidFill>
            <a:srgbClr val="13131F"/>
          </a:solidFill>
          <a:ln>
            <a:noFill/>
          </a:ln>
        </p:spPr>
        <p:txBody>
          <a:bodyPr wrap="square" lIns="0" tIns="0" rIns="0" bIns="0" anchor="t"/>
          <a:lstStyle/>
          <a:p>
            <a:endParaRPr/>
          </a:p>
        </p:txBody>
      </p:sp>
      <p:sp>
        <p:nvSpPr>
          <p:cNvPr id="217" name="dot"/>
          <p:cNvSpPr>
            <a:spLocks noGrp="1"/>
          </p:cNvSpPr>
          <p:nvPr/>
        </p:nvSpPr>
        <p:spPr>
          <a:xfrm>
            <a:off x="627200" y="3195000"/>
            <a:ext cx="70000" cy="70000"/>
          </a:xfrm>
          <a:prstGeom prst="ellipse">
            <a:avLst/>
          </a:prstGeom>
          <a:solidFill>
            <a:srgbClr val="F59E0B"/>
          </a:solidFill>
          <a:ln>
            <a:noFill/>
          </a:ln>
        </p:spPr>
        <p:txBody>
          <a:bodyPr wrap="square" lIns="0" tIns="0" rIns="0" bIns="0" anchor="t"/>
          <a:lstStyle/>
          <a:p>
            <a:endParaRPr/>
          </a:p>
        </p:txBody>
      </p:sp>
      <p:sp>
        <p:nvSpPr>
          <p:cNvPr id="218" name="bar"/>
          <p:cNvSpPr>
            <a:spLocks noGrp="1"/>
          </p:cNvSpPr>
          <p:nvPr/>
        </p:nvSpPr>
        <p:spPr>
          <a:xfrm>
            <a:off x="747200" y="3208000"/>
            <a:ext cx="2500000" cy="50000"/>
          </a:xfrm>
          <a:prstGeom prst="rect">
            <a:avLst/>
          </a:prstGeom>
          <a:solidFill>
            <a:srgbClr val="475569"/>
          </a:solidFill>
          <a:ln>
            <a:noFill/>
          </a:ln>
        </p:spPr>
        <p:txBody>
          <a:bodyPr wrap="square" lIns="0" tIns="0" rIns="0" bIns="0" anchor="t"/>
          <a:lstStyle/>
          <a:p>
            <a:endParaRPr/>
          </a:p>
        </p:txBody>
      </p:sp>
      <p:sp>
        <p:nvSpPr>
          <p:cNvPr id="219" name="row"/>
          <p:cNvSpPr>
            <a:spLocks noGrp="1"/>
          </p:cNvSpPr>
          <p:nvPr/>
        </p:nvSpPr>
        <p:spPr>
          <a:xfrm>
            <a:off x="547200" y="3380000"/>
            <a:ext cx="3820500" cy="180000"/>
          </a:xfrm>
          <a:prstGeom prst="roundRect">
            <a:avLst>
              <a:gd name="adj" fmla="val 6500"/>
            </a:avLst>
          </a:prstGeom>
          <a:solidFill>
            <a:srgbClr val="13131F"/>
          </a:solidFill>
          <a:ln>
            <a:noFill/>
          </a:ln>
        </p:spPr>
        <p:txBody>
          <a:bodyPr wrap="square" lIns="0" tIns="0" rIns="0" bIns="0" anchor="t"/>
          <a:lstStyle/>
          <a:p>
            <a:endParaRPr/>
          </a:p>
        </p:txBody>
      </p:sp>
      <p:sp>
        <p:nvSpPr>
          <p:cNvPr id="220" name="dot"/>
          <p:cNvSpPr>
            <a:spLocks noGrp="1"/>
          </p:cNvSpPr>
          <p:nvPr/>
        </p:nvSpPr>
        <p:spPr>
          <a:xfrm>
            <a:off x="627200" y="3435000"/>
            <a:ext cx="70000" cy="70000"/>
          </a:xfrm>
          <a:prstGeom prst="ellipse">
            <a:avLst/>
          </a:prstGeom>
          <a:solidFill>
            <a:srgbClr val="475569"/>
          </a:solidFill>
          <a:ln>
            <a:noFill/>
          </a:ln>
        </p:spPr>
        <p:txBody>
          <a:bodyPr wrap="square" lIns="0" tIns="0" rIns="0" bIns="0" anchor="t"/>
          <a:lstStyle/>
          <a:p>
            <a:endParaRPr/>
          </a:p>
        </p:txBody>
      </p:sp>
      <p:sp>
        <p:nvSpPr>
          <p:cNvPr id="221" name="bar"/>
          <p:cNvSpPr>
            <a:spLocks noGrp="1"/>
          </p:cNvSpPr>
          <p:nvPr/>
        </p:nvSpPr>
        <p:spPr>
          <a:xfrm>
            <a:off x="747200" y="3448000"/>
            <a:ext cx="2100000" cy="50000"/>
          </a:xfrm>
          <a:prstGeom prst="rect">
            <a:avLst/>
          </a:prstGeom>
          <a:solidFill>
            <a:srgbClr val="475569"/>
          </a:solidFill>
          <a:ln>
            <a:noFill/>
          </a:ln>
        </p:spPr>
        <p:txBody>
          <a:bodyPr wrap="square" lIns="0" tIns="0" rIns="0" bIns="0" anchor="t"/>
          <a:lstStyle/>
          <a:p>
            <a:endParaRPr/>
          </a:p>
        </p:txBody>
      </p:sp>
      <p:sp>
        <p:nvSpPr>
          <p:cNvPr id="222" name="foot"/>
          <p:cNvSpPr>
            <a:spLocks noGrp="1"/>
          </p:cNvSpPr>
          <p:nvPr/>
        </p:nvSpPr>
        <p:spPr>
          <a:xfrm>
            <a:off x="547200" y="3700000"/>
            <a:ext cx="3820500" cy="560000"/>
          </a:xfrm>
          <a:prstGeom prst="roundRect">
            <a:avLst>
              <a:gd name="adj" fmla="val 6500"/>
            </a:avLst>
          </a:prstGeom>
          <a:noFill/>
          <a:ln>
            <a:noFill/>
          </a:ln>
        </p:spPr>
        <p:txBody>
          <a:bodyPr wrap="square" lIns="0" tIns="0" rIns="0" bIns="0" anchor="t"/>
          <a:lstStyle/>
          <a:p>
            <a:pPr algn="l"/>
            <a:r>
              <a:rPr lang="en-US" sz="1400" b="1" dirty="0">
                <a:solidFill>
                  <a:srgbClr val="84CC16"/>
                </a:solidFill>
                <a:latin typeface="Calibri"/>
              </a:rPr>
              <a:t>The work becomes visible.</a:t>
            </a:r>
          </a:p>
          <a:p>
            <a:pPr algn="l">
              <a:spcBef>
                <a:spcPts val="500"/>
              </a:spcBef>
            </a:pPr>
            <a:r>
              <a:rPr lang="en-US" sz="1050" b="0" dirty="0">
                <a:solidFill>
                  <a:srgbClr val="94A3B8"/>
                </a:solidFill>
                <a:latin typeface="Calibri"/>
              </a:rPr>
              <a:t>Built by Shivani Mayekar</a:t>
            </a:r>
          </a:p>
        </p:txBody>
      </p:sp>
      <p:sp>
        <p:nvSpPr>
          <p:cNvPr id="223" name="head"/>
          <p:cNvSpPr>
            <a:spLocks noGrp="1"/>
          </p:cNvSpPr>
          <p:nvPr/>
        </p:nvSpPr>
        <p:spPr>
          <a:xfrm>
            <a:off x="4776300" y="1270000"/>
            <a:ext cx="3820500" cy="830000"/>
          </a:xfrm>
          <a:prstGeom prst="roundRect">
            <a:avLst>
              <a:gd name="adj" fmla="val 6500"/>
            </a:avLst>
          </a:prstGeom>
          <a:noFill/>
          <a:ln>
            <a:noFill/>
          </a:ln>
        </p:spPr>
        <p:txBody>
          <a:bodyPr wrap="square" lIns="0" tIns="0" rIns="0" bIns="0" anchor="t"/>
          <a:lstStyle/>
          <a:p>
            <a:pPr algn="l"/>
            <a:r>
              <a:rPr lang="en-US" sz="1100" b="1" dirty="0">
                <a:solidFill>
                  <a:srgbClr val="84CC16"/>
                </a:solidFill>
                <a:latin typeface="Calibri"/>
              </a:rPr>
              <a:t>STAGE TWO</a:t>
            </a:r>
          </a:p>
          <a:p>
            <a:pPr algn="l">
              <a:spcBef>
                <a:spcPts val="400"/>
              </a:spcBef>
            </a:pPr>
            <a:r>
              <a:rPr lang="en-US" sz="2000" b="1" dirty="0">
                <a:solidFill>
                  <a:srgbClr val="FFFFFF"/>
                </a:solidFill>
                <a:latin typeface="Calibri"/>
              </a:rPr>
              <a:t>The Decision Workbench</a:t>
            </a:r>
          </a:p>
          <a:p>
            <a:pPr algn="l">
              <a:spcBef>
                <a:spcPts val="300"/>
              </a:spcBef>
            </a:pPr>
            <a:r>
              <a:rPr lang="en-US" sz="1200" b="0" dirty="0">
                <a:solidFill>
                  <a:srgbClr val="94A3B8"/>
                </a:solidFill>
                <a:latin typeface="Calibri"/>
              </a:rPr>
              <a:t>Where the work gets decided</a:t>
            </a:r>
          </a:p>
        </p:txBody>
      </p:sp>
      <p:sp>
        <p:nvSpPr>
          <p:cNvPr id="224" name="lbl"/>
          <p:cNvSpPr>
            <a:spLocks noGrp="1"/>
          </p:cNvSpPr>
          <p:nvPr/>
        </p:nvSpPr>
        <p:spPr>
          <a:xfrm>
            <a:off x="4776300" y="2150000"/>
            <a:ext cx="3820500" cy="170000"/>
          </a:xfrm>
          <a:prstGeom prst="roundRect">
            <a:avLst>
              <a:gd name="adj" fmla="val 6500"/>
            </a:avLst>
          </a:prstGeom>
          <a:noFill/>
          <a:ln>
            <a:noFill/>
          </a:ln>
        </p:spPr>
        <p:txBody>
          <a:bodyPr wrap="square" lIns="0" tIns="0" rIns="0" bIns="0" anchor="t"/>
          <a:lstStyle/>
          <a:p>
            <a:pPr algn="l"/>
            <a:r>
              <a:rPr lang="en-US" sz="800" b="1" dirty="0">
                <a:solidFill>
                  <a:srgbClr val="94A3B8"/>
                </a:solidFill>
                <a:latin typeface="Calibri"/>
              </a:rPr>
              <a:t>CASE FILE</a:t>
            </a:r>
          </a:p>
        </p:txBody>
      </p:sp>
      <p:sp>
        <p:nvSpPr>
          <p:cNvPr id="225" name="card"/>
          <p:cNvSpPr>
            <a:spLocks noGrp="1"/>
          </p:cNvSpPr>
          <p:nvPr/>
        </p:nvSpPr>
        <p:spPr>
          <a:xfrm>
            <a:off x="4776300" y="2360000"/>
            <a:ext cx="3820500" cy="780000"/>
          </a:xfrm>
          <a:prstGeom prst="roundRect">
            <a:avLst>
              <a:gd name="adj" fmla="val 6500"/>
            </a:avLst>
          </a:prstGeom>
          <a:solidFill>
            <a:srgbClr val="13131F"/>
          </a:solidFill>
          <a:ln w="12700">
            <a:solidFill>
              <a:srgbClr val="475569"/>
            </a:solidFill>
          </a:ln>
        </p:spPr>
        <p:txBody>
          <a:bodyPr wrap="square" lIns="0" tIns="0" rIns="0" bIns="0" anchor="t"/>
          <a:lstStyle/>
          <a:p>
            <a:endParaRPr/>
          </a:p>
        </p:txBody>
      </p:sp>
      <p:sp>
        <p:nvSpPr>
          <p:cNvPr id="226" name="chip"/>
          <p:cNvSpPr>
            <a:spLocks noGrp="1"/>
          </p:cNvSpPr>
          <p:nvPr/>
        </p:nvSpPr>
        <p:spPr>
          <a:xfrm>
            <a:off x="4906300" y="2470000"/>
            <a:ext cx="1010000" cy="190000"/>
          </a:xfrm>
          <a:prstGeom prst="roundRect">
            <a:avLst>
              <a:gd name="adj" fmla="val 25000"/>
            </a:avLst>
          </a:prstGeom>
          <a:solidFill>
            <a:srgbClr val="13131F"/>
          </a:solidFill>
          <a:ln w="12700">
            <a:solidFill>
              <a:srgbClr val="84CC16"/>
            </a:solidFill>
          </a:ln>
        </p:spPr>
        <p:txBody>
          <a:bodyPr wrap="square" lIns="20000" tIns="20000" rIns="20000" bIns="20000" anchor="ctr"/>
          <a:lstStyle/>
          <a:p>
            <a:pPr algn="ctr"/>
            <a:r>
              <a:rPr lang="en-US" sz="700" b="1" dirty="0">
                <a:solidFill>
                  <a:srgbClr val="84CC16"/>
                </a:solidFill>
                <a:latin typeface="Calibri"/>
              </a:rPr>
              <a:t>SUPPORTED</a:t>
            </a:r>
          </a:p>
        </p:txBody>
      </p:sp>
      <p:sp>
        <p:nvSpPr>
          <p:cNvPr id="227" name="chip"/>
          <p:cNvSpPr>
            <a:spLocks noGrp="1"/>
          </p:cNvSpPr>
          <p:nvPr/>
        </p:nvSpPr>
        <p:spPr>
          <a:xfrm>
            <a:off x="5986300" y="2470000"/>
            <a:ext cx="1290000" cy="190000"/>
          </a:xfrm>
          <a:prstGeom prst="roundRect">
            <a:avLst>
              <a:gd name="adj" fmla="val 25000"/>
            </a:avLst>
          </a:prstGeom>
          <a:solidFill>
            <a:srgbClr val="13131F"/>
          </a:solidFill>
          <a:ln w="12700">
            <a:solidFill>
              <a:srgbClr val="EF4444"/>
            </a:solidFill>
          </a:ln>
        </p:spPr>
        <p:txBody>
          <a:bodyPr wrap="square" lIns="20000" tIns="20000" rIns="20000" bIns="20000" anchor="ctr"/>
          <a:lstStyle/>
          <a:p>
            <a:pPr algn="ctr"/>
            <a:r>
              <a:rPr lang="en-US" sz="700" b="1" dirty="0">
                <a:solidFill>
                  <a:srgbClr val="EF4444"/>
                </a:solidFill>
                <a:latin typeface="Calibri"/>
              </a:rPr>
              <a:t>CONTRADICTED</a:t>
            </a:r>
          </a:p>
        </p:txBody>
      </p:sp>
      <p:sp>
        <p:nvSpPr>
          <p:cNvPr id="228" name="bar"/>
          <p:cNvSpPr>
            <a:spLocks noGrp="1"/>
          </p:cNvSpPr>
          <p:nvPr/>
        </p:nvSpPr>
        <p:spPr>
          <a:xfrm>
            <a:off x="4906300" y="2770000"/>
            <a:ext cx="2600000" cy="50000"/>
          </a:xfrm>
          <a:prstGeom prst="rect">
            <a:avLst/>
          </a:prstGeom>
          <a:solidFill>
            <a:srgbClr val="475569"/>
          </a:solidFill>
          <a:ln>
            <a:noFill/>
          </a:ln>
        </p:spPr>
        <p:txBody>
          <a:bodyPr wrap="square" lIns="0" tIns="0" rIns="0" bIns="0" anchor="t"/>
          <a:lstStyle/>
          <a:p>
            <a:endParaRPr/>
          </a:p>
        </p:txBody>
      </p:sp>
      <p:sp>
        <p:nvSpPr>
          <p:cNvPr id="229" name="bar"/>
          <p:cNvSpPr>
            <a:spLocks noGrp="1"/>
          </p:cNvSpPr>
          <p:nvPr/>
        </p:nvSpPr>
        <p:spPr>
          <a:xfrm>
            <a:off x="4906300" y="2910000"/>
            <a:ext cx="2050000" cy="50000"/>
          </a:xfrm>
          <a:prstGeom prst="rect">
            <a:avLst/>
          </a:prstGeom>
          <a:solidFill>
            <a:srgbClr val="475569"/>
          </a:solidFill>
          <a:ln>
            <a:noFill/>
          </a:ln>
        </p:spPr>
        <p:txBody>
          <a:bodyPr wrap="square" lIns="0" tIns="0" rIns="0" bIns="0" anchor="t"/>
          <a:lstStyle/>
          <a:p>
            <a:endParaRPr/>
          </a:p>
        </p:txBody>
      </p:sp>
      <p:sp>
        <p:nvSpPr>
          <p:cNvPr id="230" name="gate"/>
          <p:cNvSpPr>
            <a:spLocks noGrp="1"/>
          </p:cNvSpPr>
          <p:nvPr/>
        </p:nvSpPr>
        <p:spPr>
          <a:xfrm>
            <a:off x="4776300" y="3260000"/>
            <a:ext cx="3820500" cy="300000"/>
          </a:xfrm>
          <a:prstGeom prst="roundRect">
            <a:avLst>
              <a:gd name="adj" fmla="val 6500"/>
            </a:avLst>
          </a:prstGeom>
          <a:solidFill>
            <a:srgbClr val="13131F"/>
          </a:solidFill>
          <a:ln w="12700">
            <a:solidFill>
              <a:srgbClr val="EF4444"/>
            </a:solidFill>
          </a:ln>
        </p:spPr>
        <p:txBody>
          <a:bodyPr wrap="square" lIns="20000" tIns="20000" rIns="20000" bIns="20000" anchor="ctr"/>
          <a:lstStyle/>
          <a:p>
            <a:pPr algn="ctr"/>
            <a:r>
              <a:rPr lang="en-US" sz="900" b="1" dirty="0">
                <a:solidFill>
                  <a:srgbClr val="EF4444"/>
                </a:solidFill>
                <a:latin typeface="Calibri"/>
              </a:rPr>
              <a:t>HUMAN-REVIEW GATE: BLOCKED</a:t>
            </a:r>
          </a:p>
        </p:txBody>
      </p:sp>
      <p:sp>
        <p:nvSpPr>
          <p:cNvPr id="231" name="foot"/>
          <p:cNvSpPr>
            <a:spLocks noGrp="1"/>
          </p:cNvSpPr>
          <p:nvPr/>
        </p:nvSpPr>
        <p:spPr>
          <a:xfrm>
            <a:off x="4776300" y="3700000"/>
            <a:ext cx="3820500" cy="560000"/>
          </a:xfrm>
          <a:prstGeom prst="roundRect">
            <a:avLst>
              <a:gd name="adj" fmla="val 6500"/>
            </a:avLst>
          </a:prstGeom>
          <a:noFill/>
          <a:ln>
            <a:noFill/>
          </a:ln>
        </p:spPr>
        <p:txBody>
          <a:bodyPr wrap="square" lIns="0" tIns="0" rIns="0" bIns="0" anchor="t"/>
          <a:lstStyle/>
          <a:p>
            <a:pPr algn="l"/>
            <a:r>
              <a:rPr lang="en-US" sz="1400" b="1" dirty="0">
                <a:solidFill>
                  <a:srgbClr val="84CC16"/>
                </a:solidFill>
                <a:latin typeface="Calibri"/>
              </a:rPr>
              <a:t>The decision becomes defensible.</a:t>
            </a:r>
          </a:p>
          <a:p>
            <a:pPr algn="l">
              <a:spcBef>
                <a:spcPts val="500"/>
              </a:spcBef>
            </a:pPr>
            <a:r>
              <a:rPr lang="en-US" sz="1050" b="0" dirty="0">
                <a:solidFill>
                  <a:srgbClr val="94A3B8"/>
                </a:solidFill>
                <a:latin typeface="Calibri"/>
              </a:rPr>
              <a:t>Built by Leishka Pagan</a:t>
            </a:r>
          </a:p>
        </p:txBody>
      </p:sp>
      <p:sp>
        <p:nvSpPr>
          <p:cNvPr id="232" name="footer"/>
          <p:cNvSpPr>
            <a:spLocks noGrp="1"/>
          </p:cNvSpPr>
          <p:nvPr/>
        </p:nvSpPr>
        <p:spPr>
          <a:xfrm>
            <a:off x="410385" y="4753495"/>
            <a:ext cx="8229600" cy="250000"/>
          </a:xfrm>
          <a:prstGeom prst="roundRect">
            <a:avLst>
              <a:gd name="adj" fmla="val 6500"/>
            </a:avLst>
          </a:prstGeom>
          <a:noFill/>
          <a:ln>
            <a:noFill/>
          </a:ln>
        </p:spPr>
        <p:txBody>
          <a:bodyPr wrap="square" lIns="0" tIns="0" rIns="0" bIns="0" anchor="t"/>
          <a:lstStyle/>
          <a:p>
            <a:pPr algn="l"/>
            <a:r>
              <a:rPr lang="en-US" sz="1050" b="0" dirty="0">
                <a:solidFill>
                  <a:srgbClr val="94A3B8"/>
                </a:solidFill>
                <a:latin typeface="Calibri"/>
              </a:rPr>
              <a:t>Every commit is public in the linked repository.</a:t>
            </a:r>
          </a:p>
        </p:txBody>
      </p:sp>
      <p:pic>
        <p:nvPicPr>
          <p:cNvPr id="2" name="Picture 1">
            <a:extLst>
              <a:ext uri="{FF2B5EF4-FFF2-40B4-BE49-F238E27FC236}">
                <a16:creationId xmlns:a16="http://schemas.microsoft.com/office/drawing/2014/main" id="{AC3FA292-26FE-ABBD-6BDA-1C62B1785CE2}"/>
              </a:ex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433791" y="1560710"/>
            <a:ext cx="4067985" cy="2965581"/>
          </a:xfrm>
          <a:prstGeom prst="rect">
            <a:avLst/>
          </a:prstGeom>
        </p:spPr>
      </p:pic>
      <p:pic>
        <p:nvPicPr>
          <p:cNvPr id="6" name="Picture 5">
            <a:extLst>
              <a:ext uri="{FF2B5EF4-FFF2-40B4-BE49-F238E27FC236}">
                <a16:creationId xmlns:a16="http://schemas.microsoft.com/office/drawing/2014/main" id="{867C7645-B3D0-7EE9-2EEA-50018B5A74DD}"/>
              </a:ext>
            </a:extLst>
          </p:cNvPr>
          <p:cNvPicPr>
            <a:picLocks noChangeAspect="1"/>
          </p:cNvPicPr>
          <p:nvPr/>
        </p:nvPicPr>
        <p:blipFill>
          <a:blip r:embed="rId8"/>
          <a:stretch>
            <a:fillRect/>
          </a:stretch>
        </p:blipFill>
        <p:spPr>
          <a:xfrm>
            <a:off x="4765042" y="1550458"/>
            <a:ext cx="3843015" cy="3203037"/>
          </a:xfrm>
          <a:prstGeom prst="rect">
            <a:avLst/>
          </a:prstGeom>
        </p:spPr>
      </p:pic>
      <p:pic>
        <p:nvPicPr>
          <p:cNvPr id="3" name="Shivani_Slide_5_Alert_Queue">
            <a:hlinkClick r:id="" action="ppaction://media"/>
            <a:extLst>
              <a:ext uri="{FF2B5EF4-FFF2-40B4-BE49-F238E27FC236}">
                <a16:creationId xmlns:a16="http://schemas.microsoft.com/office/drawing/2014/main" id="{BA3E1625-0C04-8F90-7C6A-61EE8034F767}"/>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363570" y="4268895"/>
            <a:ext cx="609600" cy="609600"/>
          </a:xfrm>
          <a:prstGeom prst="rect">
            <a:avLst/>
          </a:prstGeom>
        </p:spPr>
      </p:pic>
      <p:pic>
        <p:nvPicPr>
          <p:cNvPr id="4" name="Slide 5 - Leishka pt2">
            <a:hlinkClick r:id="" action="ppaction://media"/>
            <a:extLst>
              <a:ext uri="{FF2B5EF4-FFF2-40B4-BE49-F238E27FC236}">
                <a16:creationId xmlns:a16="http://schemas.microsoft.com/office/drawing/2014/main" id="{F95F8139-39FD-73C1-B938-13AAF5DB040E}"/>
              </a:ext>
            </a:extLst>
          </p:cNvPr>
          <p:cNvPicPr>
            <a:picLocks noChangeAspect="1"/>
          </p:cNvPicPr>
          <p:nvPr>
            <a:audioFile r:link="rId4"/>
            <p:extLst>
              <p:ext uri="{DAA4B4D4-6D71-4841-9C94-3DE7FCFB9230}">
                <p14:media xmlns:p14="http://schemas.microsoft.com/office/powerpoint/2010/main" r:embed="rId3"/>
              </p:ext>
            </p:extLst>
          </p:nvPr>
        </p:nvPicPr>
        <p:blipFill>
          <a:blip r:embed="rId9"/>
          <a:stretch>
            <a:fillRect/>
          </a:stretch>
        </p:blipFill>
        <p:spPr>
          <a:xfrm>
            <a:off x="8319221" y="4240562"/>
            <a:ext cx="609600" cy="609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6728" fill="hold"/>
                                        <p:tgtEl>
                                          <p:spTgt spid="3"/>
                                        </p:tgtEl>
                                      </p:cBhvr>
                                    </p:cmd>
                                  </p:childTnLst>
                                </p:cTn>
                              </p:par>
                            </p:childTnLst>
                          </p:cTn>
                        </p:par>
                        <p:par>
                          <p:cTn id="7" fill="hold">
                            <p:stCondLst>
                              <p:cond delay="46728"/>
                            </p:stCondLst>
                            <p:childTnLst>
                              <p:par>
                                <p:cTn id="8" presetID="1" presetClass="mediacall" presetSubtype="0" fill="hold" nodeType="afterEffect">
                                  <p:stCondLst>
                                    <p:cond delay="0"/>
                                  </p:stCondLst>
                                  <p:childTnLst>
                                    <p:cmd type="call" cmd="playFrom(0.0)">
                                      <p:cBhvr>
                                        <p:cTn id="9" dur="39623"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43939">
                <p:cTn id="10" fill="hold" display="0">
                  <p:stCondLst>
                    <p:cond delay="indefinite"/>
                  </p:stCondLst>
                  <p:endCondLst>
                    <p:cond evt="onStopAudio" delay="0">
                      <p:tgtEl>
                        <p:sldTgt/>
                      </p:tgtEl>
                    </p:cond>
                  </p:endCondLst>
                </p:cTn>
                <p:tgtEl>
                  <p:spTgt spid="3"/>
                </p:tgtEl>
              </p:cMediaNode>
            </p:audio>
            <p:audio>
              <p:cMediaNode vol="80000">
                <p:cTn id="11" fill="hold" display="0">
                  <p:stCondLst>
                    <p:cond delay="indefinite"/>
                  </p:stCondLst>
                  <p:endCondLst>
                    <p:cond evt="onStopAudio" delay="0">
                      <p:tgtEl>
                        <p:sldTgt/>
                      </p:tgtEl>
                    </p:cond>
                  </p:endCondLst>
                </p:cTn>
                <p:tgtEl>
                  <p:spTgt spid="4"/>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D0D14"/>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The Lumen Control Stack</a:t>
            </a:r>
            <a:endParaRPr lang="en-US" sz="3400" dirty="0"/>
          </a:p>
        </p:txBody>
      </p:sp>
      <p:sp>
        <p:nvSpPr>
          <p:cNvPr id="3" name="Text 1"/>
          <p:cNvSpPr/>
          <p:nvPr/>
        </p:nvSpPr>
        <p:spPr>
          <a:xfrm>
            <a:off x="457200" y="822960"/>
            <a:ext cx="8229600" cy="292608"/>
          </a:xfrm>
          <a:prstGeom prst="rect">
            <a:avLst/>
          </a:prstGeom>
          <a:noFill/>
          <a:ln/>
        </p:spPr>
        <p:txBody>
          <a:bodyPr wrap="square" rtlCol="0" anchor="ctr"/>
          <a:lstStyle/>
          <a:p>
            <a:pPr marL="0" indent="0" algn="l">
              <a:buNone/>
            </a:pPr>
            <a:r>
              <a:rPr lang="en-US" sz="1300" i="1" dirty="0">
                <a:solidFill>
                  <a:srgbClr val="94A3B8"/>
                </a:solidFill>
                <a:latin typeface="Calibri" pitchFamily="34" charset="0"/>
                <a:ea typeface="Calibri" pitchFamily="34" charset="-122"/>
                <a:cs typeface="Calibri" pitchFamily="34" charset="-120"/>
              </a:rPr>
              <a:t>AI output is not trusted until it passes every control.</a:t>
            </a:r>
            <a:endParaRPr lang="en-US" sz="1300" dirty="0"/>
          </a:p>
        </p:txBody>
      </p:sp>
      <p:sp>
        <p:nvSpPr>
          <p:cNvPr id="4" name="Shape 2"/>
          <p:cNvSpPr/>
          <p:nvPr/>
        </p:nvSpPr>
        <p:spPr>
          <a:xfrm>
            <a:off x="320040" y="1143000"/>
            <a:ext cx="4160520" cy="804672"/>
          </a:xfrm>
          <a:prstGeom prst="roundRect">
            <a:avLst>
              <a:gd name="adj" fmla="val 7955"/>
            </a:avLst>
          </a:prstGeom>
          <a:solidFill>
            <a:srgbClr val="13131F"/>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sp>
        <p:nvSpPr>
          <p:cNvPr id="5" name="Shape 3"/>
          <p:cNvSpPr/>
          <p:nvPr/>
        </p:nvSpPr>
        <p:spPr>
          <a:xfrm>
            <a:off x="411480" y="1307592"/>
            <a:ext cx="347472" cy="347472"/>
          </a:xfrm>
          <a:prstGeom prst="ellipse">
            <a:avLst/>
          </a:prstGeom>
          <a:solidFill>
            <a:srgbClr val="7C3AED">
              <a:alpha val="22000"/>
            </a:srgbClr>
          </a:solidFill>
          <a:ln w="10160">
            <a:solidFill>
              <a:srgbClr val="7C3AED"/>
            </a:solidFill>
            <a:prstDash val="solid"/>
          </a:ln>
        </p:spPr>
        <p:txBody>
          <a:bodyPr/>
          <a:lstStyle/>
          <a:p>
            <a:endParaRPr lang="en-US"/>
          </a:p>
        </p:txBody>
      </p:sp>
      <p:sp>
        <p:nvSpPr>
          <p:cNvPr id="6" name="Text 4"/>
          <p:cNvSpPr/>
          <p:nvPr/>
        </p:nvSpPr>
        <p:spPr>
          <a:xfrm>
            <a:off x="411480" y="1307592"/>
            <a:ext cx="347472" cy="347472"/>
          </a:xfrm>
          <a:prstGeom prst="rect">
            <a:avLst/>
          </a:prstGeom>
          <a:noFill/>
          <a:ln/>
        </p:spPr>
        <p:txBody>
          <a:bodyPr wrap="square" lIns="0" tIns="0" rIns="0" bIns="0" rtlCol="0" anchor="ctr"/>
          <a:lstStyle/>
          <a:p>
            <a:pPr marL="0" indent="0" algn="ctr">
              <a:buNone/>
            </a:pPr>
            <a:r>
              <a:rPr lang="en-US" sz="1200" b="1" dirty="0">
                <a:solidFill>
                  <a:srgbClr val="7C3AED"/>
                </a:solidFill>
                <a:latin typeface="Cambria" pitchFamily="34" charset="0"/>
                <a:ea typeface="Cambria" pitchFamily="34" charset="-122"/>
                <a:cs typeface="Cambria" pitchFamily="34" charset="-120"/>
              </a:rPr>
              <a:t>1</a:t>
            </a:r>
            <a:endParaRPr lang="en-US" sz="1200" dirty="0"/>
          </a:p>
        </p:txBody>
      </p:sp>
      <p:sp>
        <p:nvSpPr>
          <p:cNvPr id="7" name="Text 5"/>
          <p:cNvSpPr/>
          <p:nvPr/>
        </p:nvSpPr>
        <p:spPr>
          <a:xfrm>
            <a:off x="850392" y="1197864"/>
            <a:ext cx="3520440" cy="274320"/>
          </a:xfrm>
          <a:prstGeom prst="rect">
            <a:avLst/>
          </a:prstGeom>
          <a:noFill/>
          <a:ln/>
        </p:spPr>
        <p:txBody>
          <a:bodyPr wrap="square"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Closed Claim Vocabulary</a:t>
            </a:r>
            <a:endParaRPr lang="en-US" sz="1200" dirty="0"/>
          </a:p>
        </p:txBody>
      </p:sp>
      <p:sp>
        <p:nvSpPr>
          <p:cNvPr id="8" name="Text 6"/>
          <p:cNvSpPr/>
          <p:nvPr/>
        </p:nvSpPr>
        <p:spPr>
          <a:xfrm>
            <a:off x="850392" y="1490472"/>
            <a:ext cx="3520440" cy="384048"/>
          </a:xfrm>
          <a:prstGeom prst="rect">
            <a:avLst/>
          </a:prstGeom>
          <a:noFill/>
          <a:ln/>
        </p:spPr>
        <p:txBody>
          <a:bodyPr wrap="square" rtlCol="0" anchor="ctr"/>
          <a:lstStyle/>
          <a:p>
            <a:pPr marL="0" indent="0" algn="l">
              <a:buNone/>
            </a:pPr>
            <a:r>
              <a:rPr lang="en-US" sz="1050" dirty="0">
                <a:solidFill>
                  <a:srgbClr val="94A3B8"/>
                </a:solidFill>
                <a:latin typeface="Calibri" pitchFamily="34" charset="0"/>
                <a:ea typeface="Calibri" pitchFamily="34" charset="-122"/>
                <a:cs typeface="Calibri" pitchFamily="34" charset="-120"/>
              </a:rPr>
              <a:t>AI can only emit 9 approved claim types. Anything outside is rejected.</a:t>
            </a:r>
            <a:endParaRPr lang="en-US" sz="1050" dirty="0"/>
          </a:p>
        </p:txBody>
      </p:sp>
      <p:sp>
        <p:nvSpPr>
          <p:cNvPr id="9" name="Shape 7"/>
          <p:cNvSpPr/>
          <p:nvPr/>
        </p:nvSpPr>
        <p:spPr>
          <a:xfrm>
            <a:off x="320040" y="2075688"/>
            <a:ext cx="4160520" cy="804672"/>
          </a:xfrm>
          <a:prstGeom prst="roundRect">
            <a:avLst>
              <a:gd name="adj" fmla="val 7955"/>
            </a:avLst>
          </a:prstGeom>
          <a:solidFill>
            <a:srgbClr val="13131F"/>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sp>
        <p:nvSpPr>
          <p:cNvPr id="10" name="Shape 8"/>
          <p:cNvSpPr/>
          <p:nvPr/>
        </p:nvSpPr>
        <p:spPr>
          <a:xfrm>
            <a:off x="411480" y="2240280"/>
            <a:ext cx="347472" cy="347472"/>
          </a:xfrm>
          <a:prstGeom prst="ellipse">
            <a:avLst/>
          </a:prstGeom>
          <a:solidFill>
            <a:srgbClr val="7C3AED">
              <a:alpha val="22000"/>
            </a:srgbClr>
          </a:solidFill>
          <a:ln w="10160">
            <a:solidFill>
              <a:srgbClr val="7C3AED"/>
            </a:solidFill>
            <a:prstDash val="solid"/>
          </a:ln>
        </p:spPr>
        <p:txBody>
          <a:bodyPr/>
          <a:lstStyle/>
          <a:p>
            <a:endParaRPr lang="en-US"/>
          </a:p>
        </p:txBody>
      </p:sp>
      <p:sp>
        <p:nvSpPr>
          <p:cNvPr id="11" name="Text 9"/>
          <p:cNvSpPr/>
          <p:nvPr/>
        </p:nvSpPr>
        <p:spPr>
          <a:xfrm>
            <a:off x="411480" y="2240280"/>
            <a:ext cx="347472" cy="347472"/>
          </a:xfrm>
          <a:prstGeom prst="rect">
            <a:avLst/>
          </a:prstGeom>
          <a:noFill/>
          <a:ln/>
        </p:spPr>
        <p:txBody>
          <a:bodyPr wrap="square" lIns="0" tIns="0" rIns="0" bIns="0" rtlCol="0" anchor="ctr"/>
          <a:lstStyle/>
          <a:p>
            <a:pPr marL="0" indent="0" algn="ctr">
              <a:buNone/>
            </a:pPr>
            <a:r>
              <a:rPr lang="en-US" sz="1200" b="1" dirty="0">
                <a:solidFill>
                  <a:srgbClr val="7C3AED"/>
                </a:solidFill>
                <a:latin typeface="Cambria" pitchFamily="34" charset="0"/>
                <a:ea typeface="Cambria" pitchFamily="34" charset="-122"/>
                <a:cs typeface="Cambria" pitchFamily="34" charset="-120"/>
              </a:rPr>
              <a:t>2</a:t>
            </a:r>
            <a:endParaRPr lang="en-US" sz="1200" dirty="0"/>
          </a:p>
        </p:txBody>
      </p:sp>
      <p:sp>
        <p:nvSpPr>
          <p:cNvPr id="12" name="Text 10"/>
          <p:cNvSpPr/>
          <p:nvPr/>
        </p:nvSpPr>
        <p:spPr>
          <a:xfrm>
            <a:off x="850392" y="2130552"/>
            <a:ext cx="3520440" cy="274320"/>
          </a:xfrm>
          <a:prstGeom prst="rect">
            <a:avLst/>
          </a:prstGeom>
          <a:noFill/>
          <a:ln/>
        </p:spPr>
        <p:txBody>
          <a:bodyPr wrap="square"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Structured JSON Output</a:t>
            </a:r>
            <a:endParaRPr lang="en-US" sz="1200" dirty="0"/>
          </a:p>
        </p:txBody>
      </p:sp>
      <p:sp>
        <p:nvSpPr>
          <p:cNvPr id="13" name="Text 11"/>
          <p:cNvSpPr/>
          <p:nvPr/>
        </p:nvSpPr>
        <p:spPr>
          <a:xfrm>
            <a:off x="850392" y="2423160"/>
            <a:ext cx="3520440" cy="384048"/>
          </a:xfrm>
          <a:prstGeom prst="rect">
            <a:avLst/>
          </a:prstGeom>
          <a:noFill/>
          <a:ln/>
        </p:spPr>
        <p:txBody>
          <a:bodyPr wrap="square" rtlCol="0" anchor="ctr"/>
          <a:lstStyle/>
          <a:p>
            <a:pPr marL="0" indent="0" algn="l">
              <a:buNone/>
            </a:pPr>
            <a:r>
              <a:rPr lang="en-US" sz="1050" dirty="0">
                <a:solidFill>
                  <a:srgbClr val="94A3B8"/>
                </a:solidFill>
                <a:latin typeface="Calibri" pitchFamily="34" charset="0"/>
                <a:ea typeface="Calibri" pitchFamily="34" charset="-122"/>
                <a:cs typeface="Calibri" pitchFamily="34" charset="-120"/>
              </a:rPr>
              <a:t>No free-form prose. Every claim is a typed, checkable data object.</a:t>
            </a:r>
            <a:endParaRPr lang="en-US" sz="1050" dirty="0"/>
          </a:p>
        </p:txBody>
      </p:sp>
      <p:sp>
        <p:nvSpPr>
          <p:cNvPr id="14" name="Shape 12"/>
          <p:cNvSpPr/>
          <p:nvPr/>
        </p:nvSpPr>
        <p:spPr>
          <a:xfrm>
            <a:off x="320040" y="3008376"/>
            <a:ext cx="4160520" cy="804672"/>
          </a:xfrm>
          <a:prstGeom prst="roundRect">
            <a:avLst>
              <a:gd name="adj" fmla="val 7955"/>
            </a:avLst>
          </a:prstGeom>
          <a:solidFill>
            <a:srgbClr val="13131F"/>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sp>
        <p:nvSpPr>
          <p:cNvPr id="15" name="Shape 13"/>
          <p:cNvSpPr/>
          <p:nvPr/>
        </p:nvSpPr>
        <p:spPr>
          <a:xfrm>
            <a:off x="411480" y="3172968"/>
            <a:ext cx="347472" cy="347472"/>
          </a:xfrm>
          <a:prstGeom prst="ellipse">
            <a:avLst/>
          </a:prstGeom>
          <a:solidFill>
            <a:srgbClr val="84CC16">
              <a:alpha val="22000"/>
            </a:srgbClr>
          </a:solidFill>
          <a:ln w="10160">
            <a:solidFill>
              <a:srgbClr val="84CC16"/>
            </a:solidFill>
            <a:prstDash val="solid"/>
          </a:ln>
        </p:spPr>
        <p:txBody>
          <a:bodyPr/>
          <a:lstStyle/>
          <a:p>
            <a:endParaRPr lang="en-US"/>
          </a:p>
        </p:txBody>
      </p:sp>
      <p:sp>
        <p:nvSpPr>
          <p:cNvPr id="16" name="Text 14"/>
          <p:cNvSpPr/>
          <p:nvPr/>
        </p:nvSpPr>
        <p:spPr>
          <a:xfrm>
            <a:off x="411480" y="3172968"/>
            <a:ext cx="347472" cy="347472"/>
          </a:xfrm>
          <a:prstGeom prst="rect">
            <a:avLst/>
          </a:prstGeom>
          <a:noFill/>
          <a:ln/>
        </p:spPr>
        <p:txBody>
          <a:bodyPr wrap="square" lIns="0" tIns="0" rIns="0" bIns="0" rtlCol="0" anchor="ctr"/>
          <a:lstStyle/>
          <a:p>
            <a:pPr marL="0" indent="0" algn="ctr">
              <a:buNone/>
            </a:pPr>
            <a:r>
              <a:rPr lang="en-US" sz="1200" b="1" dirty="0">
                <a:solidFill>
                  <a:srgbClr val="84CC16"/>
                </a:solidFill>
                <a:latin typeface="Cambria" pitchFamily="34" charset="0"/>
                <a:ea typeface="Cambria" pitchFamily="34" charset="-122"/>
                <a:cs typeface="Cambria" pitchFamily="34" charset="-120"/>
              </a:rPr>
              <a:t>3</a:t>
            </a:r>
            <a:endParaRPr lang="en-US" sz="1200" dirty="0"/>
          </a:p>
        </p:txBody>
      </p:sp>
      <p:sp>
        <p:nvSpPr>
          <p:cNvPr id="17" name="Text 15"/>
          <p:cNvSpPr/>
          <p:nvPr/>
        </p:nvSpPr>
        <p:spPr>
          <a:xfrm>
            <a:off x="850392" y="3063240"/>
            <a:ext cx="3520440" cy="274320"/>
          </a:xfrm>
          <a:prstGeom prst="rect">
            <a:avLst/>
          </a:prstGeom>
          <a:noFill/>
          <a:ln/>
        </p:spPr>
        <p:txBody>
          <a:bodyPr wrap="square"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Schema Enforcement</a:t>
            </a:r>
            <a:endParaRPr lang="en-US" sz="1200" dirty="0"/>
          </a:p>
        </p:txBody>
      </p:sp>
      <p:sp>
        <p:nvSpPr>
          <p:cNvPr id="18" name="Text 16"/>
          <p:cNvSpPr/>
          <p:nvPr/>
        </p:nvSpPr>
        <p:spPr>
          <a:xfrm>
            <a:off x="850392" y="3355848"/>
            <a:ext cx="3520440" cy="384048"/>
          </a:xfrm>
          <a:prstGeom prst="rect">
            <a:avLst/>
          </a:prstGeom>
          <a:noFill/>
          <a:ln/>
        </p:spPr>
        <p:txBody>
          <a:bodyPr wrap="square" rtlCol="0" anchor="ctr"/>
          <a:lstStyle/>
          <a:p>
            <a:pPr marL="0" indent="0" algn="l">
              <a:buNone/>
            </a:pPr>
            <a:r>
              <a:rPr lang="en-US" sz="1050" dirty="0">
                <a:solidFill>
                  <a:srgbClr val="94A3B8"/>
                </a:solidFill>
                <a:latin typeface="Calibri" pitchFamily="34" charset="0"/>
                <a:ea typeface="Calibri" pitchFamily="34" charset="-122"/>
                <a:cs typeface="Calibri" pitchFamily="34" charset="-120"/>
              </a:rPr>
              <a:t>Tool schema + Python validation gates reject invalid AI output before verification.</a:t>
            </a:r>
            <a:endParaRPr lang="en-US" sz="1050" dirty="0"/>
          </a:p>
        </p:txBody>
      </p:sp>
      <p:sp>
        <p:nvSpPr>
          <p:cNvPr id="19" name="Shape 17"/>
          <p:cNvSpPr/>
          <p:nvPr/>
        </p:nvSpPr>
        <p:spPr>
          <a:xfrm>
            <a:off x="320040" y="3941064"/>
            <a:ext cx="4160520" cy="804672"/>
          </a:xfrm>
          <a:prstGeom prst="roundRect">
            <a:avLst>
              <a:gd name="adj" fmla="val 7955"/>
            </a:avLst>
          </a:prstGeom>
          <a:solidFill>
            <a:srgbClr val="13131F"/>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sp>
        <p:nvSpPr>
          <p:cNvPr id="20" name="Shape 18"/>
          <p:cNvSpPr/>
          <p:nvPr/>
        </p:nvSpPr>
        <p:spPr>
          <a:xfrm>
            <a:off x="411480" y="4105656"/>
            <a:ext cx="347472" cy="347472"/>
          </a:xfrm>
          <a:prstGeom prst="ellipse">
            <a:avLst/>
          </a:prstGeom>
          <a:solidFill>
            <a:srgbClr val="84CC16">
              <a:alpha val="22000"/>
            </a:srgbClr>
          </a:solidFill>
          <a:ln w="10160">
            <a:solidFill>
              <a:srgbClr val="84CC16"/>
            </a:solidFill>
            <a:prstDash val="solid"/>
          </a:ln>
        </p:spPr>
        <p:txBody>
          <a:bodyPr/>
          <a:lstStyle/>
          <a:p>
            <a:endParaRPr lang="en-US"/>
          </a:p>
        </p:txBody>
      </p:sp>
      <p:sp>
        <p:nvSpPr>
          <p:cNvPr id="21" name="Text 19"/>
          <p:cNvSpPr/>
          <p:nvPr/>
        </p:nvSpPr>
        <p:spPr>
          <a:xfrm>
            <a:off x="411480" y="4105656"/>
            <a:ext cx="347472" cy="347472"/>
          </a:xfrm>
          <a:prstGeom prst="rect">
            <a:avLst/>
          </a:prstGeom>
          <a:noFill/>
          <a:ln/>
        </p:spPr>
        <p:txBody>
          <a:bodyPr wrap="square" lIns="0" tIns="0" rIns="0" bIns="0" rtlCol="0" anchor="ctr"/>
          <a:lstStyle/>
          <a:p>
            <a:pPr marL="0" indent="0" algn="ctr">
              <a:buNone/>
            </a:pPr>
            <a:r>
              <a:rPr lang="en-US" sz="1200" b="1" dirty="0">
                <a:solidFill>
                  <a:srgbClr val="84CC16"/>
                </a:solidFill>
                <a:latin typeface="Cambria" pitchFamily="34" charset="0"/>
                <a:ea typeface="Cambria" pitchFamily="34" charset="-122"/>
                <a:cs typeface="Cambria" pitchFamily="34" charset="-120"/>
              </a:rPr>
              <a:t>4</a:t>
            </a:r>
            <a:endParaRPr lang="en-US" sz="1200" dirty="0"/>
          </a:p>
        </p:txBody>
      </p:sp>
      <p:sp>
        <p:nvSpPr>
          <p:cNvPr id="22" name="Text 20"/>
          <p:cNvSpPr/>
          <p:nvPr/>
        </p:nvSpPr>
        <p:spPr>
          <a:xfrm>
            <a:off x="850392" y="3995928"/>
            <a:ext cx="3520440" cy="274320"/>
          </a:xfrm>
          <a:prstGeom prst="rect">
            <a:avLst/>
          </a:prstGeom>
          <a:noFill/>
          <a:ln/>
        </p:spPr>
        <p:txBody>
          <a:bodyPr wrap="square"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Deterministic Verifier</a:t>
            </a:r>
            <a:endParaRPr lang="en-US" sz="1200" dirty="0"/>
          </a:p>
        </p:txBody>
      </p:sp>
      <p:sp>
        <p:nvSpPr>
          <p:cNvPr id="23" name="Text 21"/>
          <p:cNvSpPr/>
          <p:nvPr/>
        </p:nvSpPr>
        <p:spPr>
          <a:xfrm>
            <a:off x="850392" y="4288536"/>
            <a:ext cx="3520440" cy="384048"/>
          </a:xfrm>
          <a:prstGeom prst="rect">
            <a:avLst/>
          </a:prstGeom>
          <a:noFill/>
          <a:ln/>
        </p:spPr>
        <p:txBody>
          <a:bodyPr wrap="square" rtlCol="0" anchor="ctr"/>
          <a:lstStyle/>
          <a:p>
            <a:pPr marL="0" indent="0" algn="l">
              <a:buNone/>
            </a:pPr>
            <a:r>
              <a:rPr lang="en-US" sz="1050" dirty="0">
                <a:solidFill>
                  <a:srgbClr val="94A3B8"/>
                </a:solidFill>
                <a:latin typeface="Calibri" pitchFamily="34" charset="0"/>
                <a:ea typeface="Calibri" pitchFamily="34" charset="-122"/>
                <a:cs typeface="Calibri" pitchFamily="34" charset="-120"/>
              </a:rPr>
              <a:t>Python checks each claim against source tables. PASS, FAIL, or NEEDS_REVIEW.</a:t>
            </a:r>
            <a:endParaRPr lang="en-US" sz="1050" dirty="0"/>
          </a:p>
        </p:txBody>
      </p:sp>
      <p:sp>
        <p:nvSpPr>
          <p:cNvPr id="24" name="Shape 22"/>
          <p:cNvSpPr/>
          <p:nvPr/>
        </p:nvSpPr>
        <p:spPr>
          <a:xfrm>
            <a:off x="4709160" y="1143000"/>
            <a:ext cx="4160520" cy="804672"/>
          </a:xfrm>
          <a:prstGeom prst="roundRect">
            <a:avLst>
              <a:gd name="adj" fmla="val 7955"/>
            </a:avLst>
          </a:prstGeom>
          <a:solidFill>
            <a:srgbClr val="13131F"/>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sp>
        <p:nvSpPr>
          <p:cNvPr id="25" name="Shape 23"/>
          <p:cNvSpPr/>
          <p:nvPr/>
        </p:nvSpPr>
        <p:spPr>
          <a:xfrm>
            <a:off x="4800600" y="1307592"/>
            <a:ext cx="347472" cy="347472"/>
          </a:xfrm>
          <a:prstGeom prst="ellipse">
            <a:avLst/>
          </a:prstGeom>
          <a:solidFill>
            <a:srgbClr val="22C55E">
              <a:alpha val="22000"/>
            </a:srgbClr>
          </a:solidFill>
          <a:ln w="10160">
            <a:solidFill>
              <a:srgbClr val="22C55E"/>
            </a:solidFill>
            <a:prstDash val="solid"/>
          </a:ln>
        </p:spPr>
        <p:txBody>
          <a:bodyPr/>
          <a:lstStyle/>
          <a:p>
            <a:endParaRPr lang="en-US"/>
          </a:p>
        </p:txBody>
      </p:sp>
      <p:sp>
        <p:nvSpPr>
          <p:cNvPr id="26" name="Text 24"/>
          <p:cNvSpPr/>
          <p:nvPr/>
        </p:nvSpPr>
        <p:spPr>
          <a:xfrm>
            <a:off x="4800600" y="1307592"/>
            <a:ext cx="347472" cy="347472"/>
          </a:xfrm>
          <a:prstGeom prst="rect">
            <a:avLst/>
          </a:prstGeom>
          <a:noFill/>
          <a:ln/>
        </p:spPr>
        <p:txBody>
          <a:bodyPr wrap="square" lIns="0" tIns="0" rIns="0" bIns="0" rtlCol="0" anchor="ctr"/>
          <a:lstStyle/>
          <a:p>
            <a:pPr marL="0" indent="0" algn="ctr">
              <a:buNone/>
            </a:pPr>
            <a:r>
              <a:rPr lang="en-US" sz="1200" b="1" dirty="0">
                <a:solidFill>
                  <a:srgbClr val="22C55E"/>
                </a:solidFill>
                <a:latin typeface="Cambria" pitchFamily="34" charset="0"/>
                <a:ea typeface="Cambria" pitchFamily="34" charset="-122"/>
                <a:cs typeface="Cambria" pitchFamily="34" charset="-120"/>
              </a:rPr>
              <a:t>5</a:t>
            </a:r>
            <a:endParaRPr lang="en-US" sz="1200" dirty="0"/>
          </a:p>
        </p:txBody>
      </p:sp>
      <p:sp>
        <p:nvSpPr>
          <p:cNvPr id="27" name="Text 25"/>
          <p:cNvSpPr/>
          <p:nvPr/>
        </p:nvSpPr>
        <p:spPr>
          <a:xfrm>
            <a:off x="5239512" y="1197864"/>
            <a:ext cx="3520440" cy="274320"/>
          </a:xfrm>
          <a:prstGeom prst="rect">
            <a:avLst/>
          </a:prstGeom>
          <a:noFill/>
          <a:ln/>
        </p:spPr>
        <p:txBody>
          <a:bodyPr wrap="square"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Human Approval Gate</a:t>
            </a:r>
            <a:endParaRPr lang="en-US" sz="1200" dirty="0"/>
          </a:p>
        </p:txBody>
      </p:sp>
      <p:sp>
        <p:nvSpPr>
          <p:cNvPr id="28" name="Text 26"/>
          <p:cNvSpPr/>
          <p:nvPr/>
        </p:nvSpPr>
        <p:spPr>
          <a:xfrm>
            <a:off x="5239512" y="1490472"/>
            <a:ext cx="3520440" cy="384048"/>
          </a:xfrm>
          <a:prstGeom prst="rect">
            <a:avLst/>
          </a:prstGeom>
          <a:noFill/>
          <a:ln/>
        </p:spPr>
        <p:txBody>
          <a:bodyPr wrap="square" rtlCol="0" anchor="ctr"/>
          <a:lstStyle/>
          <a:p>
            <a:pPr marL="0" indent="0" algn="l">
              <a:buNone/>
            </a:pPr>
            <a:r>
              <a:rPr lang="en-US" sz="1050" dirty="0">
                <a:solidFill>
                  <a:srgbClr val="94A3B8"/>
                </a:solidFill>
                <a:latin typeface="Calibri" pitchFamily="34" charset="0"/>
                <a:ea typeface="Calibri" pitchFamily="34" charset="-122"/>
                <a:cs typeface="Calibri" pitchFamily="34" charset="-120"/>
              </a:rPr>
              <a:t>A review is not complete until evidence, rationale, and a final note are recorded. Enforced in review_gate.py.</a:t>
            </a:r>
            <a:endParaRPr lang="en-US" sz="1050" dirty="0"/>
          </a:p>
        </p:txBody>
      </p:sp>
      <p:sp>
        <p:nvSpPr>
          <p:cNvPr id="29" name="Shape 27"/>
          <p:cNvSpPr/>
          <p:nvPr/>
        </p:nvSpPr>
        <p:spPr>
          <a:xfrm>
            <a:off x="4709160" y="2075688"/>
            <a:ext cx="4160520" cy="804672"/>
          </a:xfrm>
          <a:prstGeom prst="roundRect">
            <a:avLst>
              <a:gd name="adj" fmla="val 7955"/>
            </a:avLst>
          </a:prstGeom>
          <a:solidFill>
            <a:srgbClr val="13131F"/>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sp>
        <p:nvSpPr>
          <p:cNvPr id="30" name="Shape 28"/>
          <p:cNvSpPr/>
          <p:nvPr/>
        </p:nvSpPr>
        <p:spPr>
          <a:xfrm>
            <a:off x="4800600" y="2240280"/>
            <a:ext cx="347472" cy="347472"/>
          </a:xfrm>
          <a:prstGeom prst="ellipse">
            <a:avLst/>
          </a:prstGeom>
          <a:solidFill>
            <a:srgbClr val="22C55E">
              <a:alpha val="22000"/>
            </a:srgbClr>
          </a:solidFill>
          <a:ln w="10160">
            <a:solidFill>
              <a:srgbClr val="22C55E"/>
            </a:solidFill>
            <a:prstDash val="solid"/>
          </a:ln>
        </p:spPr>
        <p:txBody>
          <a:bodyPr/>
          <a:lstStyle/>
          <a:p>
            <a:endParaRPr lang="en-US"/>
          </a:p>
        </p:txBody>
      </p:sp>
      <p:sp>
        <p:nvSpPr>
          <p:cNvPr id="31" name="Text 29"/>
          <p:cNvSpPr/>
          <p:nvPr/>
        </p:nvSpPr>
        <p:spPr>
          <a:xfrm>
            <a:off x="4800600" y="2240280"/>
            <a:ext cx="347472" cy="347472"/>
          </a:xfrm>
          <a:prstGeom prst="rect">
            <a:avLst/>
          </a:prstGeom>
          <a:noFill/>
          <a:ln/>
        </p:spPr>
        <p:txBody>
          <a:bodyPr wrap="square" lIns="0" tIns="0" rIns="0" bIns="0" rtlCol="0" anchor="ctr"/>
          <a:lstStyle/>
          <a:p>
            <a:pPr marL="0" indent="0" algn="ctr">
              <a:buNone/>
            </a:pPr>
            <a:r>
              <a:rPr lang="en-US" sz="1200" b="1" dirty="0">
                <a:solidFill>
                  <a:srgbClr val="22C55E"/>
                </a:solidFill>
                <a:latin typeface="Cambria" pitchFamily="34" charset="0"/>
                <a:ea typeface="Cambria" pitchFamily="34" charset="-122"/>
                <a:cs typeface="Cambria" pitchFamily="34" charset="-120"/>
              </a:rPr>
              <a:t>6</a:t>
            </a:r>
            <a:endParaRPr lang="en-US" sz="1200" dirty="0"/>
          </a:p>
        </p:txBody>
      </p:sp>
      <p:sp>
        <p:nvSpPr>
          <p:cNvPr id="32" name="Text 30"/>
          <p:cNvSpPr/>
          <p:nvPr/>
        </p:nvSpPr>
        <p:spPr>
          <a:xfrm>
            <a:off x="5239512" y="2130552"/>
            <a:ext cx="3520440" cy="274320"/>
          </a:xfrm>
          <a:prstGeom prst="rect">
            <a:avLst/>
          </a:prstGeom>
          <a:noFill/>
          <a:ln/>
        </p:spPr>
        <p:txBody>
          <a:bodyPr wrap="square"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Controlled Audit Vocabulary</a:t>
            </a:r>
            <a:endParaRPr lang="en-US" sz="1200" dirty="0"/>
          </a:p>
        </p:txBody>
      </p:sp>
      <p:sp>
        <p:nvSpPr>
          <p:cNvPr id="33" name="Text 31"/>
          <p:cNvSpPr/>
          <p:nvPr/>
        </p:nvSpPr>
        <p:spPr>
          <a:xfrm>
            <a:off x="5239512" y="2423160"/>
            <a:ext cx="3520440" cy="384048"/>
          </a:xfrm>
          <a:prstGeom prst="rect">
            <a:avLst/>
          </a:prstGeom>
          <a:noFill/>
          <a:ln/>
        </p:spPr>
        <p:txBody>
          <a:bodyPr wrap="square" rtlCol="0" anchor="ctr"/>
          <a:lstStyle/>
          <a:p>
            <a:pPr marL="0" indent="0" algn="l">
              <a:buNone/>
            </a:pPr>
            <a:r>
              <a:rPr lang="en-US" sz="1050" dirty="0">
                <a:solidFill>
                  <a:srgbClr val="94A3B8"/>
                </a:solidFill>
                <a:latin typeface="Calibri" pitchFamily="34" charset="0"/>
                <a:ea typeface="Calibri" pitchFamily="34" charset="-122"/>
                <a:cs typeface="Calibri" pitchFamily="34" charset="-120"/>
              </a:rPr>
              <a:t>Every audit event must use an approved action name. Phantom events are caught by tests.</a:t>
            </a:r>
            <a:endParaRPr lang="en-US" sz="1050" dirty="0"/>
          </a:p>
        </p:txBody>
      </p:sp>
      <p:sp>
        <p:nvSpPr>
          <p:cNvPr id="34" name="Shape 32"/>
          <p:cNvSpPr/>
          <p:nvPr/>
        </p:nvSpPr>
        <p:spPr>
          <a:xfrm>
            <a:off x="4709160" y="3008376"/>
            <a:ext cx="4160520" cy="804672"/>
          </a:xfrm>
          <a:prstGeom prst="roundRect">
            <a:avLst>
              <a:gd name="adj" fmla="val 7955"/>
            </a:avLst>
          </a:prstGeom>
          <a:solidFill>
            <a:srgbClr val="13131F"/>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sp>
        <p:nvSpPr>
          <p:cNvPr id="35" name="Shape 33"/>
          <p:cNvSpPr/>
          <p:nvPr/>
        </p:nvSpPr>
        <p:spPr>
          <a:xfrm>
            <a:off x="4800600" y="3172968"/>
            <a:ext cx="347472" cy="347472"/>
          </a:xfrm>
          <a:prstGeom prst="ellipse">
            <a:avLst/>
          </a:prstGeom>
          <a:solidFill>
            <a:srgbClr val="F59E0B">
              <a:alpha val="22000"/>
            </a:srgbClr>
          </a:solidFill>
          <a:ln w="10160">
            <a:solidFill>
              <a:srgbClr val="F59E0B"/>
            </a:solidFill>
            <a:prstDash val="solid"/>
          </a:ln>
        </p:spPr>
        <p:txBody>
          <a:bodyPr/>
          <a:lstStyle/>
          <a:p>
            <a:endParaRPr lang="en-US"/>
          </a:p>
        </p:txBody>
      </p:sp>
      <p:sp>
        <p:nvSpPr>
          <p:cNvPr id="36" name="Text 34"/>
          <p:cNvSpPr/>
          <p:nvPr/>
        </p:nvSpPr>
        <p:spPr>
          <a:xfrm>
            <a:off x="4800600" y="3172968"/>
            <a:ext cx="347472" cy="347472"/>
          </a:xfrm>
          <a:prstGeom prst="rect">
            <a:avLst/>
          </a:prstGeom>
          <a:noFill/>
          <a:ln/>
        </p:spPr>
        <p:txBody>
          <a:bodyPr wrap="square" lIns="0" tIns="0" rIns="0" bIns="0" rtlCol="0" anchor="ctr"/>
          <a:lstStyle/>
          <a:p>
            <a:pPr marL="0" indent="0" algn="ctr">
              <a:buNone/>
            </a:pPr>
            <a:r>
              <a:rPr lang="en-US" sz="1200" b="1" dirty="0">
                <a:solidFill>
                  <a:srgbClr val="F59E0B"/>
                </a:solidFill>
                <a:latin typeface="Cambria" pitchFamily="34" charset="0"/>
                <a:ea typeface="Cambria" pitchFamily="34" charset="-122"/>
                <a:cs typeface="Cambria" pitchFamily="34" charset="-120"/>
              </a:rPr>
              <a:t>7</a:t>
            </a:r>
            <a:endParaRPr lang="en-US" sz="1200" dirty="0"/>
          </a:p>
        </p:txBody>
      </p:sp>
      <p:sp>
        <p:nvSpPr>
          <p:cNvPr id="37" name="Text 35"/>
          <p:cNvSpPr/>
          <p:nvPr/>
        </p:nvSpPr>
        <p:spPr>
          <a:xfrm>
            <a:off x="5239512" y="3063240"/>
            <a:ext cx="3520440" cy="274320"/>
          </a:xfrm>
          <a:prstGeom prst="rect">
            <a:avLst/>
          </a:prstGeom>
          <a:noFill/>
          <a:ln/>
        </p:spPr>
        <p:txBody>
          <a:bodyPr wrap="square" rtlCol="0" anchor="ctr"/>
          <a:lstStyle/>
          <a:p>
            <a:pPr marL="0" indent="0" algn="l">
              <a:buNone/>
            </a:pPr>
            <a:r>
              <a:rPr lang="en-US" sz="1200" b="1" dirty="0">
                <a:solidFill>
                  <a:srgbClr val="FFFFFF"/>
                </a:solidFill>
                <a:latin typeface="Calibri" pitchFamily="34" charset="0"/>
                <a:ea typeface="Calibri" pitchFamily="34" charset="-122"/>
                <a:cs typeface="Calibri" pitchFamily="34" charset="-120"/>
              </a:rPr>
              <a:t>Examiner Replay</a:t>
            </a:r>
            <a:endParaRPr lang="en-US" sz="1200" dirty="0"/>
          </a:p>
        </p:txBody>
      </p:sp>
      <p:sp>
        <p:nvSpPr>
          <p:cNvPr id="38" name="Text 36"/>
          <p:cNvSpPr/>
          <p:nvPr/>
        </p:nvSpPr>
        <p:spPr>
          <a:xfrm>
            <a:off x="5239512" y="3355848"/>
            <a:ext cx="3520440" cy="384048"/>
          </a:xfrm>
          <a:prstGeom prst="rect">
            <a:avLst/>
          </a:prstGeom>
          <a:noFill/>
          <a:ln/>
        </p:spPr>
        <p:txBody>
          <a:bodyPr wrap="square" rtlCol="0" anchor="ctr"/>
          <a:lstStyle/>
          <a:p>
            <a:pPr marL="0" indent="0" algn="l">
              <a:buNone/>
            </a:pPr>
            <a:r>
              <a:rPr lang="en-US" sz="1050" dirty="0">
                <a:solidFill>
                  <a:srgbClr val="94A3B8"/>
                </a:solidFill>
                <a:latin typeface="Calibri" pitchFamily="34" charset="0"/>
                <a:ea typeface="Calibri" pitchFamily="34" charset="-122"/>
                <a:cs typeface="Calibri" pitchFamily="34" charset="-120"/>
              </a:rPr>
              <a:t>Examiner-reviewable audit trail reconstructs any decision with actor, action, timestamp, and approved event vocabulary.</a:t>
            </a:r>
            <a:endParaRPr lang="en-US" sz="1050" dirty="0"/>
          </a:p>
        </p:txBody>
      </p:sp>
      <p:sp>
        <p:nvSpPr>
          <p:cNvPr id="39" name="Text 37"/>
          <p:cNvSpPr/>
          <p:nvPr/>
        </p:nvSpPr>
        <p:spPr>
          <a:xfrm>
            <a:off x="320040" y="4773168"/>
            <a:ext cx="8503920" cy="256032"/>
          </a:xfrm>
          <a:prstGeom prst="rect">
            <a:avLst/>
          </a:prstGeom>
          <a:noFill/>
          <a:ln/>
        </p:spPr>
        <p:txBody>
          <a:bodyPr wrap="square" rtlCol="0" anchor="ctr"/>
          <a:lstStyle/>
          <a:p>
            <a:pPr marL="0" indent="0" algn="ctr">
              <a:buNone/>
            </a:pPr>
            <a:r>
              <a:rPr lang="en-US" sz="1200" i="1" dirty="0">
                <a:solidFill>
                  <a:srgbClr val="A78BFA"/>
                </a:solidFill>
                <a:latin typeface="Calibri" pitchFamily="34" charset="0"/>
                <a:ea typeface="Calibri" pitchFamily="34" charset="-122"/>
                <a:cs typeface="Calibri" pitchFamily="34" charset="-120"/>
              </a:rPr>
              <a:t>We did not just add AI. We built seven controls around AI.</a:t>
            </a:r>
            <a:endParaRPr lang="en-US" sz="1200" dirty="0"/>
          </a:p>
        </p:txBody>
      </p:sp>
      <p:pic>
        <p:nvPicPr>
          <p:cNvPr id="40" name="Slide 6 - Leishka">
            <a:hlinkClick r:id="" action="ppaction://media"/>
            <a:extLst>
              <a:ext uri="{FF2B5EF4-FFF2-40B4-BE49-F238E27FC236}">
                <a16:creationId xmlns:a16="http://schemas.microsoft.com/office/drawing/2014/main" id="{BAF7364D-57AB-5916-22ED-9BF5D4EA85F8}"/>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7880195" y="4262349"/>
            <a:ext cx="609600" cy="609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6435" fill="hold"/>
                                        <p:tgtEl>
                                          <p:spTgt spid="4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0"/>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D0D14"/>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Hero Moment 1: The AI Gets Caught</a:t>
            </a:r>
            <a:endParaRPr lang="en-US" sz="3400" dirty="0"/>
          </a:p>
        </p:txBody>
      </p:sp>
      <p:sp>
        <p:nvSpPr>
          <p:cNvPr id="3" name="Shape 1"/>
          <p:cNvSpPr/>
          <p:nvPr/>
        </p:nvSpPr>
        <p:spPr>
          <a:xfrm>
            <a:off x="365760" y="1005840"/>
            <a:ext cx="4663440" cy="777240"/>
          </a:xfrm>
          <a:prstGeom prst="roundRect">
            <a:avLst>
              <a:gd name="adj" fmla="val 8235"/>
            </a:avLst>
          </a:prstGeom>
          <a:solidFill>
            <a:srgbClr val="1A1A2E"/>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sp>
        <p:nvSpPr>
          <p:cNvPr id="4" name="Text 2"/>
          <p:cNvSpPr/>
          <p:nvPr/>
        </p:nvSpPr>
        <p:spPr>
          <a:xfrm>
            <a:off x="502920" y="1051560"/>
            <a:ext cx="1097280" cy="228600"/>
          </a:xfrm>
          <a:prstGeom prst="rect">
            <a:avLst/>
          </a:prstGeom>
          <a:noFill/>
          <a:ln/>
        </p:spPr>
        <p:txBody>
          <a:bodyPr wrap="square" rtlCol="0" anchor="ctr"/>
          <a:lstStyle/>
          <a:p>
            <a:pPr marL="0" indent="0">
              <a:buNone/>
            </a:pPr>
            <a:r>
              <a:rPr lang="en-US" sz="800" b="1" kern="0" spc="200" dirty="0">
                <a:solidFill>
                  <a:srgbClr val="94A3B8"/>
                </a:solidFill>
                <a:latin typeface="Calibri" pitchFamily="34" charset="0"/>
                <a:ea typeface="Calibri" pitchFamily="34" charset="-122"/>
                <a:cs typeface="Calibri" pitchFamily="34" charset="-120"/>
              </a:rPr>
              <a:t>AI DRAFT</a:t>
            </a:r>
            <a:endParaRPr lang="en-US" sz="800" dirty="0"/>
          </a:p>
        </p:txBody>
      </p:sp>
      <p:sp>
        <p:nvSpPr>
          <p:cNvPr id="5" name="Text 3"/>
          <p:cNvSpPr/>
          <p:nvPr/>
        </p:nvSpPr>
        <p:spPr>
          <a:xfrm>
            <a:off x="502920" y="1280160"/>
            <a:ext cx="2560320" cy="347472"/>
          </a:xfrm>
          <a:prstGeom prst="rect">
            <a:avLst/>
          </a:prstGeom>
          <a:noFill/>
          <a:ln/>
        </p:spPr>
        <p:txBody>
          <a:bodyPr wrap="square" rtlCol="0" anchor="ctr"/>
          <a:lstStyle/>
          <a:p>
            <a:pPr marL="0" indent="0" algn="l">
              <a:buNone/>
            </a:pPr>
            <a:r>
              <a:rPr lang="en-US" sz="1800" b="1" dirty="0">
                <a:solidFill>
                  <a:srgbClr val="F59E0B"/>
                </a:solidFill>
                <a:latin typeface="Cambria" pitchFamily="34" charset="0"/>
                <a:ea typeface="Cambria" pitchFamily="34" charset="-122"/>
                <a:cs typeface="Cambria" pitchFamily="34" charset="-120"/>
              </a:rPr>
              <a:t>rapid_movement = true</a:t>
            </a:r>
            <a:endParaRPr lang="en-US" sz="1800" dirty="0"/>
          </a:p>
        </p:txBody>
      </p:sp>
      <p:sp>
        <p:nvSpPr>
          <p:cNvPr id="6" name="Text 4"/>
          <p:cNvSpPr/>
          <p:nvPr/>
        </p:nvSpPr>
        <p:spPr>
          <a:xfrm>
            <a:off x="3017520" y="1097280"/>
            <a:ext cx="1920240" cy="594360"/>
          </a:xfrm>
          <a:prstGeom prst="rect">
            <a:avLst/>
          </a:prstGeom>
          <a:noFill/>
          <a:ln/>
        </p:spPr>
        <p:txBody>
          <a:bodyPr wrap="square" rtlCol="0" anchor="ctr"/>
          <a:lstStyle/>
          <a:p>
            <a:pPr marL="0" indent="0" algn="l">
              <a:buNone/>
            </a:pPr>
            <a:r>
              <a:rPr lang="en-US" sz="1000" i="1" dirty="0">
                <a:solidFill>
                  <a:srgbClr val="94A3B8"/>
                </a:solidFill>
                <a:latin typeface="Calibri" pitchFamily="34" charset="0"/>
                <a:ea typeface="Calibri" pitchFamily="34" charset="-122"/>
                <a:cs typeface="Calibri" pitchFamily="34" charset="-120"/>
              </a:rPr>
              <a:t>AI asserts funds moved rapidly through the account</a:t>
            </a:r>
            <a:endParaRPr lang="en-US" sz="1000" dirty="0"/>
          </a:p>
        </p:txBody>
      </p:sp>
      <p:sp>
        <p:nvSpPr>
          <p:cNvPr id="7" name="Shape 5"/>
          <p:cNvSpPr/>
          <p:nvPr/>
        </p:nvSpPr>
        <p:spPr>
          <a:xfrm>
            <a:off x="2286000" y="1801368"/>
            <a:ext cx="0" cy="118872"/>
          </a:xfrm>
          <a:prstGeom prst="line">
            <a:avLst/>
          </a:prstGeom>
          <a:noFill/>
          <a:ln w="12700">
            <a:solidFill>
              <a:srgbClr val="475569"/>
            </a:solidFill>
            <a:prstDash val="solid"/>
          </a:ln>
        </p:spPr>
        <p:txBody>
          <a:bodyPr/>
          <a:lstStyle/>
          <a:p>
            <a:endParaRPr lang="en-US"/>
          </a:p>
        </p:txBody>
      </p:sp>
      <p:sp>
        <p:nvSpPr>
          <p:cNvPr id="8" name="Shape 6"/>
          <p:cNvSpPr/>
          <p:nvPr/>
        </p:nvSpPr>
        <p:spPr>
          <a:xfrm>
            <a:off x="365760" y="1920240"/>
            <a:ext cx="4663440" cy="777240"/>
          </a:xfrm>
          <a:prstGeom prst="roundRect">
            <a:avLst>
              <a:gd name="adj" fmla="val 8235"/>
            </a:avLst>
          </a:prstGeom>
          <a:solidFill>
            <a:srgbClr val="1A1A2E"/>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sp>
        <p:nvSpPr>
          <p:cNvPr id="9" name="Text 7"/>
          <p:cNvSpPr/>
          <p:nvPr/>
        </p:nvSpPr>
        <p:spPr>
          <a:xfrm>
            <a:off x="502920" y="1965960"/>
            <a:ext cx="1097280" cy="228600"/>
          </a:xfrm>
          <a:prstGeom prst="rect">
            <a:avLst/>
          </a:prstGeom>
          <a:noFill/>
          <a:ln/>
        </p:spPr>
        <p:txBody>
          <a:bodyPr wrap="square" rtlCol="0" anchor="ctr"/>
          <a:lstStyle/>
          <a:p>
            <a:pPr marL="0" indent="0">
              <a:buNone/>
            </a:pPr>
            <a:r>
              <a:rPr lang="en-US" sz="800" b="1" kern="0" spc="200" dirty="0">
                <a:solidFill>
                  <a:srgbClr val="94A3B8"/>
                </a:solidFill>
                <a:latin typeface="Calibri" pitchFamily="34" charset="0"/>
                <a:ea typeface="Calibri" pitchFamily="34" charset="-122"/>
                <a:cs typeface="Calibri" pitchFamily="34" charset="-120"/>
              </a:rPr>
              <a:t>SOURCE DATA</a:t>
            </a:r>
            <a:endParaRPr lang="en-US" sz="800" dirty="0"/>
          </a:p>
        </p:txBody>
      </p:sp>
      <p:sp>
        <p:nvSpPr>
          <p:cNvPr id="10" name="Text 8"/>
          <p:cNvSpPr/>
          <p:nvPr/>
        </p:nvSpPr>
        <p:spPr>
          <a:xfrm>
            <a:off x="502920" y="2194560"/>
            <a:ext cx="2560320" cy="347472"/>
          </a:xfrm>
          <a:prstGeom prst="rect">
            <a:avLst/>
          </a:prstGeom>
          <a:noFill/>
          <a:ln/>
        </p:spPr>
        <p:txBody>
          <a:bodyPr wrap="square" rtlCol="0" anchor="ctr"/>
          <a:lstStyle/>
          <a:p>
            <a:pPr marL="0" indent="0" algn="l">
              <a:buNone/>
            </a:pPr>
            <a:r>
              <a:rPr lang="en-US" sz="1800" b="1" dirty="0">
                <a:solidFill>
                  <a:srgbClr val="A78BFA"/>
                </a:solidFill>
                <a:latin typeface="Cambria" pitchFamily="34" charset="0"/>
                <a:ea typeface="Cambria" pitchFamily="34" charset="-122"/>
                <a:cs typeface="Cambria" pitchFamily="34" charset="-120"/>
              </a:rPr>
              <a:t>no qualifying transfer pattern</a:t>
            </a:r>
            <a:endParaRPr lang="en-US" sz="1800" dirty="0"/>
          </a:p>
        </p:txBody>
      </p:sp>
      <p:sp>
        <p:nvSpPr>
          <p:cNvPr id="11" name="Text 9"/>
          <p:cNvSpPr/>
          <p:nvPr/>
        </p:nvSpPr>
        <p:spPr>
          <a:xfrm>
            <a:off x="3017520" y="2011680"/>
            <a:ext cx="1920240" cy="594360"/>
          </a:xfrm>
          <a:prstGeom prst="rect">
            <a:avLst/>
          </a:prstGeom>
          <a:noFill/>
          <a:ln/>
        </p:spPr>
        <p:txBody>
          <a:bodyPr wrap="square" rtlCol="0" anchor="ctr"/>
          <a:lstStyle/>
          <a:p>
            <a:pPr marL="0" indent="0" algn="l">
              <a:buNone/>
            </a:pPr>
            <a:r>
              <a:rPr lang="en-US" sz="1000" i="1" dirty="0">
                <a:solidFill>
                  <a:srgbClr val="94A3B8"/>
                </a:solidFill>
                <a:latin typeface="Calibri" pitchFamily="34" charset="0"/>
                <a:ea typeface="Calibri" pitchFamily="34" charset="-122"/>
                <a:cs typeface="Calibri" pitchFamily="34" charset="-120"/>
              </a:rPr>
              <a:t>transactions table does not support the pattern</a:t>
            </a:r>
            <a:endParaRPr lang="en-US" sz="1000" dirty="0"/>
          </a:p>
        </p:txBody>
      </p:sp>
      <p:sp>
        <p:nvSpPr>
          <p:cNvPr id="12" name="Shape 10"/>
          <p:cNvSpPr/>
          <p:nvPr/>
        </p:nvSpPr>
        <p:spPr>
          <a:xfrm>
            <a:off x="2286000" y="2715768"/>
            <a:ext cx="0" cy="118872"/>
          </a:xfrm>
          <a:prstGeom prst="line">
            <a:avLst/>
          </a:prstGeom>
          <a:noFill/>
          <a:ln w="12700">
            <a:solidFill>
              <a:srgbClr val="475569"/>
            </a:solidFill>
            <a:prstDash val="solid"/>
          </a:ln>
        </p:spPr>
        <p:txBody>
          <a:bodyPr/>
          <a:lstStyle/>
          <a:p>
            <a:endParaRPr lang="en-US"/>
          </a:p>
        </p:txBody>
      </p:sp>
      <p:sp>
        <p:nvSpPr>
          <p:cNvPr id="13" name="Shape 11"/>
          <p:cNvSpPr/>
          <p:nvPr/>
        </p:nvSpPr>
        <p:spPr>
          <a:xfrm>
            <a:off x="365760" y="2834640"/>
            <a:ext cx="4663440" cy="777240"/>
          </a:xfrm>
          <a:prstGeom prst="roundRect">
            <a:avLst>
              <a:gd name="adj" fmla="val 8235"/>
            </a:avLst>
          </a:prstGeom>
          <a:solidFill>
            <a:srgbClr val="1A1A2E"/>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sp>
        <p:nvSpPr>
          <p:cNvPr id="14" name="Text 12"/>
          <p:cNvSpPr/>
          <p:nvPr/>
        </p:nvSpPr>
        <p:spPr>
          <a:xfrm>
            <a:off x="502920" y="2880360"/>
            <a:ext cx="1097280" cy="228600"/>
          </a:xfrm>
          <a:prstGeom prst="rect">
            <a:avLst/>
          </a:prstGeom>
          <a:noFill/>
          <a:ln/>
        </p:spPr>
        <p:txBody>
          <a:bodyPr wrap="square" rtlCol="0" anchor="ctr"/>
          <a:lstStyle/>
          <a:p>
            <a:pPr marL="0" indent="0">
              <a:buNone/>
            </a:pPr>
            <a:r>
              <a:rPr lang="en-US" sz="800" b="1" kern="0" spc="200" dirty="0">
                <a:solidFill>
                  <a:srgbClr val="94A3B8"/>
                </a:solidFill>
                <a:latin typeface="Calibri" pitchFamily="34" charset="0"/>
                <a:ea typeface="Calibri" pitchFamily="34" charset="-122"/>
                <a:cs typeface="Calibri" pitchFamily="34" charset="-120"/>
              </a:rPr>
              <a:t>VERIFIER</a:t>
            </a:r>
            <a:endParaRPr lang="en-US" sz="800" dirty="0"/>
          </a:p>
        </p:txBody>
      </p:sp>
      <p:sp>
        <p:nvSpPr>
          <p:cNvPr id="15" name="Text 13"/>
          <p:cNvSpPr/>
          <p:nvPr/>
        </p:nvSpPr>
        <p:spPr>
          <a:xfrm>
            <a:off x="502920" y="3108960"/>
            <a:ext cx="2560320" cy="347472"/>
          </a:xfrm>
          <a:prstGeom prst="rect">
            <a:avLst/>
          </a:prstGeom>
          <a:noFill/>
          <a:ln/>
        </p:spPr>
        <p:txBody>
          <a:bodyPr wrap="square" rtlCol="0" anchor="ctr"/>
          <a:lstStyle/>
          <a:p>
            <a:pPr marL="0" indent="0" algn="l">
              <a:buNone/>
            </a:pPr>
            <a:r>
              <a:rPr lang="en-US" sz="1800" b="1" dirty="0">
                <a:solidFill>
                  <a:srgbClr val="EF4444"/>
                </a:solidFill>
                <a:latin typeface="Cambria" pitchFamily="34" charset="0"/>
                <a:ea typeface="Cambria" pitchFamily="34" charset="-122"/>
                <a:cs typeface="Cambria" pitchFamily="34" charset="-120"/>
              </a:rPr>
              <a:t>FAIL</a:t>
            </a:r>
            <a:endParaRPr lang="en-US" sz="1800" dirty="0"/>
          </a:p>
        </p:txBody>
      </p:sp>
      <p:sp>
        <p:nvSpPr>
          <p:cNvPr id="16" name="Text 14"/>
          <p:cNvSpPr/>
          <p:nvPr/>
        </p:nvSpPr>
        <p:spPr>
          <a:xfrm>
            <a:off x="3017520" y="2926080"/>
            <a:ext cx="1920240" cy="594360"/>
          </a:xfrm>
          <a:prstGeom prst="rect">
            <a:avLst/>
          </a:prstGeom>
          <a:noFill/>
          <a:ln/>
        </p:spPr>
        <p:txBody>
          <a:bodyPr wrap="square" rtlCol="0" anchor="ctr"/>
          <a:lstStyle/>
          <a:p>
            <a:pPr marL="0" indent="0" algn="l">
              <a:buNone/>
            </a:pPr>
            <a:r>
              <a:rPr lang="en-US" sz="1000" i="1" dirty="0">
                <a:solidFill>
                  <a:srgbClr val="94A3B8"/>
                </a:solidFill>
                <a:latin typeface="Calibri" pitchFamily="34" charset="0"/>
                <a:ea typeface="Calibri" pitchFamily="34" charset="-122"/>
                <a:cs typeface="Calibri" pitchFamily="34" charset="-120"/>
              </a:rPr>
              <a:t>Deterministic Python catches it. The analyst sees CONTRADICTED.</a:t>
            </a:r>
            <a:endParaRPr lang="en-US" sz="1000" dirty="0"/>
          </a:p>
        </p:txBody>
      </p:sp>
      <p:sp>
        <p:nvSpPr>
          <p:cNvPr id="17" name="Shape 15"/>
          <p:cNvSpPr/>
          <p:nvPr/>
        </p:nvSpPr>
        <p:spPr>
          <a:xfrm>
            <a:off x="2286000" y="3630168"/>
            <a:ext cx="0" cy="118872"/>
          </a:xfrm>
          <a:prstGeom prst="line">
            <a:avLst/>
          </a:prstGeom>
          <a:noFill/>
          <a:ln w="12700">
            <a:solidFill>
              <a:srgbClr val="475569"/>
            </a:solidFill>
            <a:prstDash val="solid"/>
          </a:ln>
        </p:spPr>
        <p:txBody>
          <a:bodyPr/>
          <a:lstStyle/>
          <a:p>
            <a:endParaRPr lang="en-US"/>
          </a:p>
        </p:txBody>
      </p:sp>
      <p:sp>
        <p:nvSpPr>
          <p:cNvPr id="18" name="Shape 16"/>
          <p:cNvSpPr/>
          <p:nvPr/>
        </p:nvSpPr>
        <p:spPr>
          <a:xfrm>
            <a:off x="365760" y="3749040"/>
            <a:ext cx="4663440" cy="777240"/>
          </a:xfrm>
          <a:prstGeom prst="roundRect">
            <a:avLst>
              <a:gd name="adj" fmla="val 8235"/>
            </a:avLst>
          </a:prstGeom>
          <a:solidFill>
            <a:srgbClr val="1A1A2E"/>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sp>
        <p:nvSpPr>
          <p:cNvPr id="19" name="Text 17"/>
          <p:cNvSpPr/>
          <p:nvPr/>
        </p:nvSpPr>
        <p:spPr>
          <a:xfrm>
            <a:off x="502920" y="3794760"/>
            <a:ext cx="1097280" cy="228600"/>
          </a:xfrm>
          <a:prstGeom prst="rect">
            <a:avLst/>
          </a:prstGeom>
          <a:noFill/>
          <a:ln/>
        </p:spPr>
        <p:txBody>
          <a:bodyPr wrap="square" rtlCol="0" anchor="ctr"/>
          <a:lstStyle/>
          <a:p>
            <a:pPr marL="0" indent="0">
              <a:buNone/>
            </a:pPr>
            <a:r>
              <a:rPr lang="en-US" sz="800" b="1" kern="0" spc="200" dirty="0">
                <a:solidFill>
                  <a:srgbClr val="94A3B8"/>
                </a:solidFill>
                <a:latin typeface="Calibri" pitchFamily="34" charset="0"/>
                <a:ea typeface="Calibri" pitchFamily="34" charset="-122"/>
                <a:cs typeface="Calibri" pitchFamily="34" charset="-120"/>
              </a:rPr>
              <a:t>RESULT</a:t>
            </a:r>
            <a:endParaRPr lang="en-US" sz="800" dirty="0"/>
          </a:p>
        </p:txBody>
      </p:sp>
      <p:sp>
        <p:nvSpPr>
          <p:cNvPr id="20" name="Text 18"/>
          <p:cNvSpPr/>
          <p:nvPr/>
        </p:nvSpPr>
        <p:spPr>
          <a:xfrm>
            <a:off x="502920" y="4023360"/>
            <a:ext cx="2560320" cy="347472"/>
          </a:xfrm>
          <a:prstGeom prst="rect">
            <a:avLst/>
          </a:prstGeom>
          <a:noFill/>
          <a:ln/>
        </p:spPr>
        <p:txBody>
          <a:bodyPr wrap="square" rtlCol="0" anchor="ctr"/>
          <a:lstStyle/>
          <a:p>
            <a:pPr marL="0" indent="0" algn="l">
              <a:buNone/>
            </a:pPr>
            <a:r>
              <a:rPr lang="en-US" sz="1800" b="1" dirty="0">
                <a:solidFill>
                  <a:srgbClr val="EF4444"/>
                </a:solidFill>
                <a:latin typeface="Cambria" pitchFamily="34" charset="0"/>
                <a:ea typeface="Cambria" pitchFamily="34" charset="-122"/>
                <a:cs typeface="Cambria" pitchFamily="34" charset="-120"/>
              </a:rPr>
              <a:t>UNSUPPORTED</a:t>
            </a:r>
            <a:endParaRPr lang="en-US" sz="1800" dirty="0"/>
          </a:p>
        </p:txBody>
      </p:sp>
      <p:sp>
        <p:nvSpPr>
          <p:cNvPr id="21" name="Text 19"/>
          <p:cNvSpPr/>
          <p:nvPr/>
        </p:nvSpPr>
        <p:spPr>
          <a:xfrm>
            <a:off x="3017520" y="3840480"/>
            <a:ext cx="1920240" cy="594360"/>
          </a:xfrm>
          <a:prstGeom prst="rect">
            <a:avLst/>
          </a:prstGeom>
          <a:noFill/>
          <a:ln/>
        </p:spPr>
        <p:txBody>
          <a:bodyPr wrap="square" rtlCol="0" anchor="ctr"/>
          <a:lstStyle/>
          <a:p>
            <a:pPr marL="0" indent="0" algn="l">
              <a:buNone/>
            </a:pPr>
            <a:r>
              <a:rPr lang="en-US" sz="1000" i="1" dirty="0">
                <a:solidFill>
                  <a:srgbClr val="94A3B8"/>
                </a:solidFill>
                <a:latin typeface="Calibri" pitchFamily="34" charset="0"/>
                <a:ea typeface="Calibri" pitchFamily="34" charset="-122"/>
                <a:cs typeface="Calibri" pitchFamily="34" charset="-120"/>
              </a:rPr>
              <a:t>Second claim fails the same check. Both contradicted.</a:t>
            </a:r>
            <a:endParaRPr lang="en-US" sz="1000" dirty="0"/>
          </a:p>
        </p:txBody>
      </p:sp>
      <p:sp>
        <p:nvSpPr>
          <p:cNvPr id="22" name="Shape 20"/>
          <p:cNvSpPr/>
          <p:nvPr/>
        </p:nvSpPr>
        <p:spPr>
          <a:xfrm>
            <a:off x="5303520" y="960120"/>
            <a:ext cx="3474720" cy="3749040"/>
          </a:xfrm>
          <a:prstGeom prst="roundRect">
            <a:avLst>
              <a:gd name="adj" fmla="val 2632"/>
            </a:avLst>
          </a:prstGeom>
          <a:solidFill>
            <a:srgbClr val="13131F"/>
          </a:solidFill>
          <a:ln w="12700">
            <a:solidFill>
              <a:srgbClr val="7C3AED"/>
            </a:solidFill>
            <a:prstDash val="solid"/>
          </a:ln>
          <a:effectLst>
            <a:outerShdw blurRad="177800" dist="50800" dir="8100000" algn="bl" rotWithShape="0">
              <a:srgbClr val="000000">
                <a:alpha val="35000"/>
              </a:srgbClr>
            </a:outerShdw>
          </a:effectLst>
        </p:spPr>
        <p:txBody>
          <a:bodyPr/>
          <a:lstStyle/>
          <a:p>
            <a:endParaRPr lang="en-US"/>
          </a:p>
        </p:txBody>
      </p:sp>
      <p:sp>
        <p:nvSpPr>
          <p:cNvPr id="23" name="Text 21"/>
          <p:cNvSpPr/>
          <p:nvPr/>
        </p:nvSpPr>
        <p:spPr>
          <a:xfrm>
            <a:off x="5440680" y="1078992"/>
            <a:ext cx="3200400" cy="320040"/>
          </a:xfrm>
          <a:prstGeom prst="rect">
            <a:avLst/>
          </a:prstGeom>
          <a:noFill/>
          <a:ln/>
        </p:spPr>
        <p:txBody>
          <a:bodyPr wrap="square" rtlCol="0" anchor="ctr"/>
          <a:lstStyle/>
          <a:p>
            <a:pPr marL="0" indent="0" algn="l">
              <a:buNone/>
            </a:pPr>
            <a:r>
              <a:rPr lang="en-US" sz="1300" b="1" dirty="0">
                <a:solidFill>
                  <a:srgbClr val="A78BFA"/>
                </a:solidFill>
                <a:latin typeface="Calibri" pitchFamily="34" charset="0"/>
                <a:ea typeface="Calibri" pitchFamily="34" charset="-122"/>
                <a:cs typeface="Calibri" pitchFamily="34" charset="-120"/>
              </a:rPr>
              <a:t>Why This Wins</a:t>
            </a:r>
            <a:endParaRPr lang="en-US" sz="1300" dirty="0"/>
          </a:p>
        </p:txBody>
      </p:sp>
      <p:sp>
        <p:nvSpPr>
          <p:cNvPr id="24" name="Text 22"/>
          <p:cNvSpPr/>
          <p:nvPr/>
        </p:nvSpPr>
        <p:spPr>
          <a:xfrm>
            <a:off x="5440680" y="1508760"/>
            <a:ext cx="3200400" cy="502920"/>
          </a:xfrm>
          <a:prstGeom prst="rect">
            <a:avLst/>
          </a:prstGeom>
          <a:noFill/>
          <a:ln/>
        </p:spPr>
        <p:txBody>
          <a:bodyPr wrap="square" rtlCol="0" anchor="ctr"/>
          <a:lstStyle/>
          <a:p>
            <a:pPr marL="342900" indent="-342900" algn="l">
              <a:buSzPct val="100000"/>
              <a:buChar char="•"/>
            </a:pPr>
            <a:r>
              <a:rPr lang="en-US" sz="1100" dirty="0">
                <a:solidFill>
                  <a:srgbClr val="F8FAFC"/>
                </a:solidFill>
                <a:latin typeface="Calibri" pitchFamily="34" charset="0"/>
                <a:ea typeface="Calibri" pitchFamily="34" charset="-122"/>
                <a:cs typeface="Calibri" pitchFamily="34" charset="-120"/>
              </a:rPr>
              <a:t>The AI asserted two findings the source data does not support</a:t>
            </a:r>
            <a:endParaRPr lang="en-US" sz="1100" dirty="0"/>
          </a:p>
        </p:txBody>
      </p:sp>
      <p:sp>
        <p:nvSpPr>
          <p:cNvPr id="25" name="Text 23"/>
          <p:cNvSpPr/>
          <p:nvPr/>
        </p:nvSpPr>
        <p:spPr>
          <a:xfrm>
            <a:off x="5440680" y="2075688"/>
            <a:ext cx="3200400" cy="502920"/>
          </a:xfrm>
          <a:prstGeom prst="rect">
            <a:avLst/>
          </a:prstGeom>
          <a:noFill/>
          <a:ln/>
        </p:spPr>
        <p:txBody>
          <a:bodyPr wrap="square" rtlCol="0" anchor="ctr"/>
          <a:lstStyle/>
          <a:p>
            <a:pPr marL="342900" indent="-342900" algn="l">
              <a:buSzPct val="100000"/>
              <a:buChar char="•"/>
            </a:pPr>
            <a:r>
              <a:rPr lang="en-US" sz="1100" dirty="0">
                <a:solidFill>
                  <a:srgbClr val="F8FAFC"/>
                </a:solidFill>
                <a:latin typeface="Calibri" pitchFamily="34" charset="0"/>
                <a:ea typeface="Calibri" pitchFamily="34" charset="-122"/>
                <a:cs typeface="Calibri" pitchFamily="34" charset="-120"/>
              </a:rPr>
              <a:t>Deterministic Python caught it before the analyst ever saw it</a:t>
            </a:r>
            <a:endParaRPr lang="en-US" sz="1100" dirty="0"/>
          </a:p>
        </p:txBody>
      </p:sp>
      <p:sp>
        <p:nvSpPr>
          <p:cNvPr id="26" name="Text 24"/>
          <p:cNvSpPr/>
          <p:nvPr/>
        </p:nvSpPr>
        <p:spPr>
          <a:xfrm>
            <a:off x="5440680" y="2642616"/>
            <a:ext cx="3200400" cy="502920"/>
          </a:xfrm>
          <a:prstGeom prst="rect">
            <a:avLst/>
          </a:prstGeom>
          <a:noFill/>
          <a:ln/>
        </p:spPr>
        <p:txBody>
          <a:bodyPr wrap="square" rtlCol="0" anchor="ctr"/>
          <a:lstStyle/>
          <a:p>
            <a:pPr marL="342900" indent="-342900" algn="l">
              <a:buSzPct val="100000"/>
              <a:buChar char="•"/>
            </a:pPr>
            <a:r>
              <a:rPr lang="en-US" sz="1100" dirty="0">
                <a:solidFill>
                  <a:srgbClr val="F8FAFC"/>
                </a:solidFill>
                <a:latin typeface="Calibri" pitchFamily="34" charset="0"/>
                <a:ea typeface="Calibri" pitchFamily="34" charset="-122"/>
                <a:cs typeface="Calibri" pitchFamily="34" charset="-120"/>
              </a:rPr>
              <a:t>Verifier returns FAIL, not a warning, not a suggestion</a:t>
            </a:r>
            <a:endParaRPr lang="en-US" sz="1100" dirty="0"/>
          </a:p>
        </p:txBody>
      </p:sp>
      <p:sp>
        <p:nvSpPr>
          <p:cNvPr id="27" name="Text 25"/>
          <p:cNvSpPr/>
          <p:nvPr/>
        </p:nvSpPr>
        <p:spPr>
          <a:xfrm>
            <a:off x="5440680" y="3209544"/>
            <a:ext cx="3200400" cy="502920"/>
          </a:xfrm>
          <a:prstGeom prst="rect">
            <a:avLst/>
          </a:prstGeom>
          <a:noFill/>
          <a:ln/>
        </p:spPr>
        <p:txBody>
          <a:bodyPr wrap="square" rtlCol="0" anchor="ctr"/>
          <a:lstStyle/>
          <a:p>
            <a:pPr marL="342900" indent="-342900" algn="l">
              <a:buSzPct val="100000"/>
              <a:buChar char="•"/>
            </a:pPr>
            <a:r>
              <a:rPr lang="en-US" sz="1100" dirty="0">
                <a:solidFill>
                  <a:srgbClr val="F8FAFC"/>
                </a:solidFill>
                <a:latin typeface="Calibri" pitchFamily="34" charset="0"/>
                <a:ea typeface="Calibri" pitchFamily="34" charset="-122"/>
                <a:cs typeface="Calibri" pitchFamily="34" charset="-120"/>
              </a:rPr>
              <a:t>32 of 93 AI claims across the dataset were contradicted by source evidence</a:t>
            </a:r>
            <a:endParaRPr lang="en-US" sz="1100" dirty="0"/>
          </a:p>
        </p:txBody>
      </p:sp>
      <p:sp>
        <p:nvSpPr>
          <p:cNvPr id="28" name="Text 26"/>
          <p:cNvSpPr/>
          <p:nvPr/>
        </p:nvSpPr>
        <p:spPr>
          <a:xfrm>
            <a:off x="5440680" y="3776472"/>
            <a:ext cx="3200400" cy="502920"/>
          </a:xfrm>
          <a:prstGeom prst="rect">
            <a:avLst/>
          </a:prstGeom>
          <a:noFill/>
          <a:ln/>
        </p:spPr>
        <p:txBody>
          <a:bodyPr wrap="square" rtlCol="0" anchor="ctr"/>
          <a:lstStyle/>
          <a:p>
            <a:pPr marL="342900" indent="-342900" algn="l">
              <a:buSzPct val="100000"/>
              <a:buChar char="•"/>
            </a:pPr>
            <a:r>
              <a:rPr lang="en-US" sz="1100" dirty="0">
                <a:solidFill>
                  <a:srgbClr val="F8FAFC"/>
                </a:solidFill>
                <a:latin typeface="Calibri" pitchFamily="34" charset="0"/>
                <a:ea typeface="Calibri" pitchFamily="34" charset="-122"/>
                <a:cs typeface="Calibri" pitchFamily="34" charset="-120"/>
              </a:rPr>
              <a:t>Every step is logged with actor and timestamp</a:t>
            </a:r>
            <a:endParaRPr lang="en-US" sz="1100" dirty="0"/>
          </a:p>
        </p:txBody>
      </p:sp>
      <p:pic>
        <p:nvPicPr>
          <p:cNvPr id="32" name="Picture 31">
            <a:extLst>
              <a:ext uri="{FF2B5EF4-FFF2-40B4-BE49-F238E27FC236}">
                <a16:creationId xmlns:a16="http://schemas.microsoft.com/office/drawing/2014/main" id="{45F5F6CB-1909-5788-FE60-69C7A2E63E53}"/>
              </a:ext>
            </a:extLst>
          </p:cNvPr>
          <p:cNvPicPr>
            <a:picLocks noChangeAspect="1"/>
          </p:cNvPicPr>
          <p:nvPr/>
        </p:nvPicPr>
        <p:blipFill>
          <a:blip r:embed="rId5"/>
          <a:stretch>
            <a:fillRect/>
          </a:stretch>
        </p:blipFill>
        <p:spPr>
          <a:xfrm>
            <a:off x="365760" y="708660"/>
            <a:ext cx="4663440" cy="4075821"/>
          </a:xfrm>
          <a:prstGeom prst="rect">
            <a:avLst/>
          </a:prstGeom>
        </p:spPr>
      </p:pic>
      <p:pic>
        <p:nvPicPr>
          <p:cNvPr id="29" name="Slide 7 - Leishka">
            <a:hlinkClick r:id="" action="ppaction://media"/>
            <a:extLst>
              <a:ext uri="{FF2B5EF4-FFF2-40B4-BE49-F238E27FC236}">
                <a16:creationId xmlns:a16="http://schemas.microsoft.com/office/drawing/2014/main" id="{AD96D1DD-E46E-100B-1409-6F27A4EA1FAA}"/>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237220" y="4279392"/>
            <a:ext cx="609600" cy="609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9867"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9"/>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0D0D14"/>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Hero Moment 2: No Rubber-Stamping</a:t>
            </a:r>
            <a:endParaRPr lang="en-US" sz="3400" dirty="0"/>
          </a:p>
        </p:txBody>
      </p:sp>
      <p:sp>
        <p:nvSpPr>
          <p:cNvPr id="3" name="Text 1"/>
          <p:cNvSpPr/>
          <p:nvPr/>
        </p:nvSpPr>
        <p:spPr>
          <a:xfrm>
            <a:off x="457200" y="914400"/>
            <a:ext cx="4572000" cy="292608"/>
          </a:xfrm>
          <a:prstGeom prst="rect">
            <a:avLst/>
          </a:prstGeom>
          <a:noFill/>
          <a:ln/>
        </p:spPr>
        <p:txBody>
          <a:bodyPr wrap="square" rtlCol="0" anchor="ctr"/>
          <a:lstStyle/>
          <a:p>
            <a:pPr marL="0" indent="0" algn="l">
              <a:buNone/>
            </a:pPr>
            <a:r>
              <a:rPr lang="en-US" sz="1300" b="1" dirty="0">
                <a:solidFill>
                  <a:srgbClr val="F59E0B"/>
                </a:solidFill>
                <a:latin typeface="Calibri" pitchFamily="34" charset="0"/>
                <a:ea typeface="Calibri" pitchFamily="34" charset="-122"/>
                <a:cs typeface="Calibri" pitchFamily="34" charset="-120"/>
              </a:rPr>
              <a:t>Required before a review counts as complete:</a:t>
            </a:r>
            <a:endParaRPr lang="en-US" sz="1300" dirty="0"/>
          </a:p>
        </p:txBody>
      </p:sp>
      <p:sp>
        <p:nvSpPr>
          <p:cNvPr id="4" name="Shape 2"/>
          <p:cNvSpPr/>
          <p:nvPr/>
        </p:nvSpPr>
        <p:spPr>
          <a:xfrm>
            <a:off x="457200" y="1335024"/>
            <a:ext cx="274320" cy="274320"/>
          </a:xfrm>
          <a:prstGeom prst="roundRect">
            <a:avLst>
              <a:gd name="adj" fmla="val 13333"/>
            </a:avLst>
          </a:prstGeom>
          <a:solidFill>
            <a:srgbClr val="13131F"/>
          </a:solidFill>
          <a:ln w="19050">
            <a:solidFill>
              <a:srgbClr val="F59E0B"/>
            </a:solidFill>
            <a:prstDash val="solid"/>
          </a:ln>
        </p:spPr>
        <p:txBody>
          <a:bodyPr/>
          <a:lstStyle/>
          <a:p>
            <a:endParaRPr lang="en-US"/>
          </a:p>
        </p:txBody>
      </p:sp>
      <p:sp>
        <p:nvSpPr>
          <p:cNvPr id="5" name="Text 3"/>
          <p:cNvSpPr/>
          <p:nvPr/>
        </p:nvSpPr>
        <p:spPr>
          <a:xfrm>
            <a:off x="841248" y="1298448"/>
            <a:ext cx="4114800" cy="384048"/>
          </a:xfrm>
          <a:prstGeom prst="rect">
            <a:avLst/>
          </a:prstGeom>
          <a:noFill/>
          <a:ln/>
        </p:spPr>
        <p:txBody>
          <a:bodyPr wrap="square" rtlCol="0" anchor="ctr"/>
          <a:lstStyle/>
          <a:p>
            <a:pPr marL="0" indent="0" algn="l">
              <a:buNone/>
            </a:pPr>
            <a:r>
              <a:rPr lang="en-US" sz="1300" dirty="0">
                <a:solidFill>
                  <a:srgbClr val="F8FAFC"/>
                </a:solidFill>
                <a:latin typeface="Calibri" pitchFamily="34" charset="0"/>
                <a:ea typeface="Calibri" pitchFamily="34" charset="-122"/>
                <a:cs typeface="Calibri" pitchFamily="34" charset="-120"/>
              </a:rPr>
              <a:t>Evidence reviewed by analyst</a:t>
            </a:r>
            <a:endParaRPr lang="en-US" sz="1300" dirty="0"/>
          </a:p>
        </p:txBody>
      </p:sp>
      <p:sp>
        <p:nvSpPr>
          <p:cNvPr id="6" name="Shape 4"/>
          <p:cNvSpPr/>
          <p:nvPr/>
        </p:nvSpPr>
        <p:spPr>
          <a:xfrm>
            <a:off x="457200" y="1865376"/>
            <a:ext cx="274320" cy="274320"/>
          </a:xfrm>
          <a:prstGeom prst="roundRect">
            <a:avLst>
              <a:gd name="adj" fmla="val 13333"/>
            </a:avLst>
          </a:prstGeom>
          <a:solidFill>
            <a:srgbClr val="13131F"/>
          </a:solidFill>
          <a:ln w="19050">
            <a:solidFill>
              <a:srgbClr val="F59E0B"/>
            </a:solidFill>
            <a:prstDash val="solid"/>
          </a:ln>
        </p:spPr>
        <p:txBody>
          <a:bodyPr/>
          <a:lstStyle/>
          <a:p>
            <a:endParaRPr lang="en-US"/>
          </a:p>
        </p:txBody>
      </p:sp>
      <p:sp>
        <p:nvSpPr>
          <p:cNvPr id="7" name="Text 5"/>
          <p:cNvSpPr/>
          <p:nvPr/>
        </p:nvSpPr>
        <p:spPr>
          <a:xfrm>
            <a:off x="841248" y="1828800"/>
            <a:ext cx="4114800" cy="384048"/>
          </a:xfrm>
          <a:prstGeom prst="rect">
            <a:avLst/>
          </a:prstGeom>
          <a:noFill/>
          <a:ln/>
        </p:spPr>
        <p:txBody>
          <a:bodyPr wrap="square" rtlCol="0" anchor="ctr"/>
          <a:lstStyle/>
          <a:p>
            <a:pPr marL="0" indent="0" algn="l">
              <a:buNone/>
            </a:pPr>
            <a:r>
              <a:rPr lang="en-US" sz="1300" dirty="0">
                <a:solidFill>
                  <a:srgbClr val="F8FAFC"/>
                </a:solidFill>
                <a:latin typeface="Calibri" pitchFamily="34" charset="0"/>
                <a:ea typeface="Calibri" pitchFamily="34" charset="-122"/>
                <a:cs typeface="Calibri" pitchFamily="34" charset="-120"/>
              </a:rPr>
              <a:t>AI draft accepted, edited, or rejected</a:t>
            </a:r>
            <a:endParaRPr lang="en-US" sz="1300" dirty="0"/>
          </a:p>
        </p:txBody>
      </p:sp>
      <p:sp>
        <p:nvSpPr>
          <p:cNvPr id="8" name="Shape 6"/>
          <p:cNvSpPr/>
          <p:nvPr/>
        </p:nvSpPr>
        <p:spPr>
          <a:xfrm>
            <a:off x="457200" y="2395728"/>
            <a:ext cx="274320" cy="274320"/>
          </a:xfrm>
          <a:prstGeom prst="roundRect">
            <a:avLst>
              <a:gd name="adj" fmla="val 13333"/>
            </a:avLst>
          </a:prstGeom>
          <a:solidFill>
            <a:srgbClr val="13131F"/>
          </a:solidFill>
          <a:ln w="19050">
            <a:solidFill>
              <a:srgbClr val="F59E0B"/>
            </a:solidFill>
            <a:prstDash val="solid"/>
          </a:ln>
        </p:spPr>
        <p:txBody>
          <a:bodyPr/>
          <a:lstStyle/>
          <a:p>
            <a:endParaRPr lang="en-US"/>
          </a:p>
        </p:txBody>
      </p:sp>
      <p:sp>
        <p:nvSpPr>
          <p:cNvPr id="9" name="Text 7"/>
          <p:cNvSpPr/>
          <p:nvPr/>
        </p:nvSpPr>
        <p:spPr>
          <a:xfrm>
            <a:off x="841248" y="2359152"/>
            <a:ext cx="4114800" cy="384048"/>
          </a:xfrm>
          <a:prstGeom prst="rect">
            <a:avLst/>
          </a:prstGeom>
          <a:noFill/>
          <a:ln/>
        </p:spPr>
        <p:txBody>
          <a:bodyPr wrap="square" rtlCol="0" anchor="ctr"/>
          <a:lstStyle/>
          <a:p>
            <a:pPr marL="0" indent="0" algn="l">
              <a:buNone/>
            </a:pPr>
            <a:r>
              <a:rPr lang="en-US" sz="1300" dirty="0">
                <a:solidFill>
                  <a:srgbClr val="F8FAFC"/>
                </a:solidFill>
                <a:latin typeface="Calibri" pitchFamily="34" charset="0"/>
                <a:ea typeface="Calibri" pitchFamily="34" charset="-122"/>
                <a:cs typeface="Calibri" pitchFamily="34" charset="-120"/>
              </a:rPr>
              <a:t>Decision reason written (minimum one sentence)</a:t>
            </a:r>
            <a:endParaRPr lang="en-US" sz="1300" dirty="0"/>
          </a:p>
        </p:txBody>
      </p:sp>
      <p:sp>
        <p:nvSpPr>
          <p:cNvPr id="10" name="Shape 8"/>
          <p:cNvSpPr/>
          <p:nvPr/>
        </p:nvSpPr>
        <p:spPr>
          <a:xfrm>
            <a:off x="457200" y="2926080"/>
            <a:ext cx="274320" cy="274320"/>
          </a:xfrm>
          <a:prstGeom prst="roundRect">
            <a:avLst>
              <a:gd name="adj" fmla="val 13333"/>
            </a:avLst>
          </a:prstGeom>
          <a:solidFill>
            <a:srgbClr val="13131F"/>
          </a:solidFill>
          <a:ln w="19050">
            <a:solidFill>
              <a:srgbClr val="F59E0B"/>
            </a:solidFill>
            <a:prstDash val="solid"/>
          </a:ln>
        </p:spPr>
        <p:txBody>
          <a:bodyPr/>
          <a:lstStyle/>
          <a:p>
            <a:endParaRPr lang="en-US"/>
          </a:p>
        </p:txBody>
      </p:sp>
      <p:sp>
        <p:nvSpPr>
          <p:cNvPr id="11" name="Text 9"/>
          <p:cNvSpPr/>
          <p:nvPr/>
        </p:nvSpPr>
        <p:spPr>
          <a:xfrm>
            <a:off x="841248" y="2889504"/>
            <a:ext cx="4114800" cy="384048"/>
          </a:xfrm>
          <a:prstGeom prst="rect">
            <a:avLst/>
          </a:prstGeom>
          <a:noFill/>
          <a:ln/>
        </p:spPr>
        <p:txBody>
          <a:bodyPr wrap="square" rtlCol="0" anchor="ctr"/>
          <a:lstStyle/>
          <a:p>
            <a:pPr marL="0" indent="0" algn="l">
              <a:buNone/>
            </a:pPr>
            <a:r>
              <a:rPr lang="en-US" sz="1300" dirty="0">
                <a:solidFill>
                  <a:srgbClr val="F8FAFC"/>
                </a:solidFill>
                <a:latin typeface="Calibri" pitchFamily="34" charset="0"/>
                <a:ea typeface="Calibri" pitchFamily="34" charset="-122"/>
                <a:cs typeface="Calibri" pitchFamily="34" charset="-120"/>
              </a:rPr>
              <a:t>Final analyst note written</a:t>
            </a:r>
            <a:endParaRPr lang="en-US" sz="1300" dirty="0"/>
          </a:p>
        </p:txBody>
      </p:sp>
      <p:sp>
        <p:nvSpPr>
          <p:cNvPr id="12" name="Shape 10"/>
          <p:cNvSpPr/>
          <p:nvPr/>
        </p:nvSpPr>
        <p:spPr>
          <a:xfrm>
            <a:off x="457200" y="3456432"/>
            <a:ext cx="274320" cy="274320"/>
          </a:xfrm>
          <a:prstGeom prst="roundRect">
            <a:avLst>
              <a:gd name="adj" fmla="val 13333"/>
            </a:avLst>
          </a:prstGeom>
          <a:solidFill>
            <a:srgbClr val="13131F"/>
          </a:solidFill>
          <a:ln w="19050">
            <a:solidFill>
              <a:srgbClr val="F59E0B"/>
            </a:solidFill>
            <a:prstDash val="solid"/>
          </a:ln>
        </p:spPr>
        <p:txBody>
          <a:bodyPr/>
          <a:lstStyle/>
          <a:p>
            <a:endParaRPr lang="en-US"/>
          </a:p>
        </p:txBody>
      </p:sp>
      <p:sp>
        <p:nvSpPr>
          <p:cNvPr id="13" name="Text 11"/>
          <p:cNvSpPr/>
          <p:nvPr/>
        </p:nvSpPr>
        <p:spPr>
          <a:xfrm>
            <a:off x="841248" y="3419856"/>
            <a:ext cx="4114800" cy="384048"/>
          </a:xfrm>
          <a:prstGeom prst="rect">
            <a:avLst/>
          </a:prstGeom>
          <a:noFill/>
          <a:ln/>
        </p:spPr>
        <p:txBody>
          <a:bodyPr wrap="square" rtlCol="0" anchor="ctr"/>
          <a:lstStyle/>
          <a:p>
            <a:pPr marL="0" indent="0" algn="l">
              <a:buNone/>
            </a:pPr>
            <a:r>
              <a:rPr lang="en-US" sz="1300" dirty="0">
                <a:solidFill>
                  <a:srgbClr val="F8FAFC"/>
                </a:solidFill>
                <a:latin typeface="Calibri" pitchFamily="34" charset="0"/>
                <a:ea typeface="Calibri" pitchFamily="34" charset="-122"/>
                <a:cs typeface="Calibri" pitchFamily="34" charset="-120"/>
              </a:rPr>
              <a:t>Final action selected</a:t>
            </a:r>
            <a:endParaRPr lang="en-US" sz="1300" dirty="0"/>
          </a:p>
        </p:txBody>
      </p:sp>
      <p:sp>
        <p:nvSpPr>
          <p:cNvPr id="14" name="Shape 12"/>
          <p:cNvSpPr/>
          <p:nvPr/>
        </p:nvSpPr>
        <p:spPr>
          <a:xfrm>
            <a:off x="457200" y="4114800"/>
            <a:ext cx="2103120" cy="530352"/>
          </a:xfrm>
          <a:prstGeom prst="roundRect">
            <a:avLst>
              <a:gd name="adj" fmla="val 13793"/>
            </a:avLst>
          </a:prstGeom>
          <a:solidFill>
            <a:srgbClr val="EF4444">
              <a:alpha val="20000"/>
            </a:srgbClr>
          </a:solidFill>
          <a:ln w="12700">
            <a:solidFill>
              <a:srgbClr val="EF4444"/>
            </a:solidFill>
            <a:prstDash val="solid"/>
          </a:ln>
        </p:spPr>
        <p:txBody>
          <a:bodyPr/>
          <a:lstStyle/>
          <a:p>
            <a:endParaRPr lang="en-US"/>
          </a:p>
        </p:txBody>
      </p:sp>
      <p:sp>
        <p:nvSpPr>
          <p:cNvPr id="15" name="Text 13"/>
          <p:cNvSpPr/>
          <p:nvPr/>
        </p:nvSpPr>
        <p:spPr>
          <a:xfrm>
            <a:off x="457200" y="4114800"/>
            <a:ext cx="2103120" cy="530352"/>
          </a:xfrm>
          <a:prstGeom prst="rect">
            <a:avLst/>
          </a:prstGeom>
          <a:noFill/>
          <a:ln/>
        </p:spPr>
        <p:txBody>
          <a:bodyPr wrap="square" lIns="0" tIns="0" rIns="0" bIns="0" rtlCol="0" anchor="ctr"/>
          <a:lstStyle/>
          <a:p>
            <a:pPr marL="0" indent="0" algn="ctr">
              <a:buNone/>
            </a:pPr>
            <a:r>
              <a:rPr lang="en-US" sz="1200" b="1" dirty="0">
                <a:solidFill>
                  <a:srgbClr val="FCA5A5"/>
                </a:solidFill>
                <a:latin typeface="Calibri" pitchFamily="34" charset="0"/>
                <a:ea typeface="Calibri" pitchFamily="34" charset="-122"/>
                <a:cs typeface="Calibri" pitchFamily="34" charset="-120"/>
              </a:rPr>
              <a:t>REVIEW BLOCKED</a:t>
            </a:r>
            <a:endParaRPr lang="en-US" sz="1200" dirty="0"/>
          </a:p>
        </p:txBody>
      </p:sp>
      <p:sp>
        <p:nvSpPr>
          <p:cNvPr id="16" name="Shape 14"/>
          <p:cNvSpPr/>
          <p:nvPr/>
        </p:nvSpPr>
        <p:spPr>
          <a:xfrm>
            <a:off x="5303520" y="804672"/>
            <a:ext cx="3474720" cy="3749040"/>
          </a:xfrm>
          <a:prstGeom prst="roundRect">
            <a:avLst>
              <a:gd name="adj" fmla="val 2632"/>
            </a:avLst>
          </a:prstGeom>
          <a:solidFill>
            <a:srgbClr val="13131F"/>
          </a:solidFill>
          <a:ln w="12700">
            <a:solidFill>
              <a:srgbClr val="F59E0B"/>
            </a:solidFill>
            <a:prstDash val="solid"/>
          </a:ln>
          <a:effectLst>
            <a:outerShdw blurRad="177800" dist="50800" dir="8100000" algn="bl" rotWithShape="0">
              <a:srgbClr val="000000">
                <a:alpha val="35000"/>
              </a:srgbClr>
            </a:outerShdw>
          </a:effectLst>
        </p:spPr>
        <p:txBody>
          <a:bodyPr/>
          <a:lstStyle/>
          <a:p>
            <a:endParaRPr lang="en-US"/>
          </a:p>
        </p:txBody>
      </p:sp>
      <p:sp>
        <p:nvSpPr>
          <p:cNvPr id="17" name="Text 15"/>
          <p:cNvSpPr/>
          <p:nvPr/>
        </p:nvSpPr>
        <p:spPr>
          <a:xfrm>
            <a:off x="5440680" y="1078992"/>
            <a:ext cx="3200400" cy="292608"/>
          </a:xfrm>
          <a:prstGeom prst="rect">
            <a:avLst/>
          </a:prstGeom>
          <a:noFill/>
          <a:ln/>
        </p:spPr>
        <p:txBody>
          <a:bodyPr wrap="square" rtlCol="0" anchor="ctr"/>
          <a:lstStyle/>
          <a:p>
            <a:pPr marL="0" indent="0" algn="l">
              <a:buNone/>
            </a:pPr>
            <a:r>
              <a:rPr lang="en-US" sz="1300" b="1" dirty="0">
                <a:solidFill>
                  <a:srgbClr val="FCD34D"/>
                </a:solidFill>
                <a:latin typeface="Calibri" pitchFamily="34" charset="0"/>
                <a:ea typeface="Calibri" pitchFamily="34" charset="-122"/>
                <a:cs typeface="Calibri" pitchFamily="34" charset="-120"/>
              </a:rPr>
              <a:t>Seeded Demo Case: ALERT007, AI draft VERIFIED</a:t>
            </a:r>
            <a:endParaRPr lang="en-US" sz="1300" dirty="0"/>
          </a:p>
        </p:txBody>
      </p:sp>
      <p:sp>
        <p:nvSpPr>
          <p:cNvPr id="18" name="Text 16"/>
          <p:cNvSpPr/>
          <p:nvPr/>
        </p:nvSpPr>
        <p:spPr>
          <a:xfrm>
            <a:off x="5440680" y="1444752"/>
            <a:ext cx="3200400" cy="822960"/>
          </a:xfrm>
          <a:prstGeom prst="rect">
            <a:avLst/>
          </a:prstGeom>
          <a:noFill/>
          <a:ln/>
        </p:spPr>
        <p:txBody>
          <a:bodyPr wrap="square" rtlCol="0" anchor="ctr"/>
          <a:lstStyle/>
          <a:p>
            <a:pPr marL="0" indent="0" algn="l">
              <a:buNone/>
            </a:pPr>
            <a:r>
              <a:rPr lang="en-US" sz="1100" dirty="0">
                <a:solidFill>
                  <a:srgbClr val="94A3B8"/>
                </a:solidFill>
                <a:latin typeface="Calibri" pitchFamily="34" charset="0"/>
                <a:ea typeface="Calibri" pitchFamily="34" charset="-122"/>
                <a:cs typeface="Calibri" pitchFamily="34" charset="-120"/>
              </a:rPr>
              <a:t>REV001 (ALERT007) in human_reviews.csv has draft_disposition = accepted but decision_reason and final_note are empty and evidence_reviewed = false.</a:t>
            </a:r>
            <a:endParaRPr lang="en-US" sz="1100" dirty="0"/>
          </a:p>
        </p:txBody>
      </p:sp>
      <p:sp>
        <p:nvSpPr>
          <p:cNvPr id="19" name="Text 17"/>
          <p:cNvSpPr/>
          <p:nvPr/>
        </p:nvSpPr>
        <p:spPr>
          <a:xfrm>
            <a:off x="5440680" y="2212848"/>
            <a:ext cx="3200400" cy="292608"/>
          </a:xfrm>
          <a:prstGeom prst="rect">
            <a:avLst/>
          </a:prstGeom>
          <a:noFill/>
          <a:ln/>
        </p:spPr>
        <p:txBody>
          <a:bodyPr wrap="square" rtlCol="0" anchor="ctr"/>
          <a:lstStyle/>
          <a:p>
            <a:pPr marL="0" indent="0" algn="l">
              <a:buNone/>
            </a:pPr>
            <a:r>
              <a:rPr lang="en-US" sz="1200" b="1" dirty="0">
                <a:solidFill>
                  <a:srgbClr val="F59E0B"/>
                </a:solidFill>
                <a:latin typeface="Calibri" pitchFamily="34" charset="0"/>
                <a:ea typeface="Calibri" pitchFamily="34" charset="-122"/>
                <a:cs typeface="Calibri" pitchFamily="34" charset="-120"/>
              </a:rPr>
              <a:t>The gate detects this and blocks.</a:t>
            </a:r>
            <a:endParaRPr lang="en-US" sz="1200" dirty="0"/>
          </a:p>
        </p:txBody>
      </p:sp>
      <p:sp>
        <p:nvSpPr>
          <p:cNvPr id="20" name="Text 18"/>
          <p:cNvSpPr/>
          <p:nvPr/>
        </p:nvSpPr>
        <p:spPr>
          <a:xfrm>
            <a:off x="5440680" y="2578609"/>
            <a:ext cx="3200400" cy="841248"/>
          </a:xfrm>
          <a:prstGeom prst="rect">
            <a:avLst/>
          </a:prstGeom>
          <a:noFill/>
          <a:ln/>
        </p:spPr>
        <p:txBody>
          <a:bodyPr wrap="square" rtlCol="0" anchor="ctr"/>
          <a:lstStyle/>
          <a:p>
            <a:pPr marL="0" indent="0" algn="l">
              <a:buNone/>
            </a:pPr>
            <a:r>
              <a:rPr lang="en-US" sz="1100" dirty="0">
                <a:solidFill>
                  <a:srgbClr val="94A3B8"/>
                </a:solidFill>
                <a:latin typeface="Calibri" pitchFamily="34" charset="0"/>
                <a:ea typeface="Calibri" pitchFamily="34" charset="-122"/>
                <a:cs typeface="Calibri" pitchFamily="34" charset="-120"/>
              </a:rPr>
              <a:t>Current model-risk guidance reinforces the need for documented oversight, validation, and controls. This gate turns human accountability into a technical requirement, not a policy suggestion.</a:t>
            </a:r>
            <a:endParaRPr lang="en-US" sz="1100" dirty="0"/>
          </a:p>
        </p:txBody>
      </p:sp>
      <p:pic>
        <p:nvPicPr>
          <p:cNvPr id="22" name="Picture 21">
            <a:extLst>
              <a:ext uri="{FF2B5EF4-FFF2-40B4-BE49-F238E27FC236}">
                <a16:creationId xmlns:a16="http://schemas.microsoft.com/office/drawing/2014/main" id="{C1B14B89-2687-5C50-23CE-1A7FCF8A6417}"/>
              </a:ext>
            </a:extLst>
          </p:cNvPr>
          <p:cNvPicPr>
            <a:picLocks noChangeAspect="1"/>
          </p:cNvPicPr>
          <p:nvPr/>
        </p:nvPicPr>
        <p:blipFill>
          <a:blip r:embed="rId5"/>
          <a:stretch>
            <a:fillRect/>
          </a:stretch>
        </p:blipFill>
        <p:spPr>
          <a:xfrm>
            <a:off x="374904" y="804672"/>
            <a:ext cx="4572000" cy="3984054"/>
          </a:xfrm>
          <a:prstGeom prst="rect">
            <a:avLst/>
          </a:prstGeom>
        </p:spPr>
      </p:pic>
      <p:pic>
        <p:nvPicPr>
          <p:cNvPr id="24" name="Picture 23">
            <a:extLst>
              <a:ext uri="{FF2B5EF4-FFF2-40B4-BE49-F238E27FC236}">
                <a16:creationId xmlns:a16="http://schemas.microsoft.com/office/drawing/2014/main" id="{FBF874B4-E23B-AE35-8BB7-E0AB3B75E9BA}"/>
              </a:ext>
            </a:extLst>
          </p:cNvPr>
          <p:cNvPicPr>
            <a:picLocks noChangeAspect="1"/>
          </p:cNvPicPr>
          <p:nvPr/>
        </p:nvPicPr>
        <p:blipFill>
          <a:blip r:embed="rId6"/>
          <a:stretch>
            <a:fillRect/>
          </a:stretch>
        </p:blipFill>
        <p:spPr>
          <a:xfrm>
            <a:off x="4876565" y="3456433"/>
            <a:ext cx="4169516" cy="1332294"/>
          </a:xfrm>
          <a:prstGeom prst="rect">
            <a:avLst/>
          </a:prstGeom>
        </p:spPr>
      </p:pic>
      <p:pic>
        <p:nvPicPr>
          <p:cNvPr id="21" name="Slide 8 - Leishka">
            <a:hlinkClick r:id="" action="ppaction://media"/>
            <a:extLst>
              <a:ext uri="{FF2B5EF4-FFF2-40B4-BE49-F238E27FC236}">
                <a16:creationId xmlns:a16="http://schemas.microsoft.com/office/drawing/2014/main" id="{01F92C20-D8E8-97C2-894D-DA81912EC525}"/>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8265602" y="4316712"/>
            <a:ext cx="609600" cy="609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4162"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1"/>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D0D14"/>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Hero Moment 3: The Happy Path</a:t>
            </a:r>
            <a:endParaRPr lang="en-US" sz="3400" dirty="0"/>
          </a:p>
        </p:txBody>
      </p:sp>
      <p:sp>
        <p:nvSpPr>
          <p:cNvPr id="3" name="Text 1"/>
          <p:cNvSpPr/>
          <p:nvPr/>
        </p:nvSpPr>
        <p:spPr>
          <a:xfrm>
            <a:off x="457200" y="822960"/>
            <a:ext cx="8229600" cy="292608"/>
          </a:xfrm>
          <a:prstGeom prst="rect">
            <a:avLst/>
          </a:prstGeom>
          <a:noFill/>
          <a:ln/>
        </p:spPr>
        <p:txBody>
          <a:bodyPr wrap="square" rtlCol="0" anchor="ctr"/>
          <a:lstStyle/>
          <a:p>
            <a:pPr marL="0" indent="0" algn="l">
              <a:buNone/>
            </a:pPr>
            <a:r>
              <a:rPr lang="en-US" sz="1300" i="1" dirty="0">
                <a:solidFill>
                  <a:srgbClr val="94A3B8"/>
                </a:solidFill>
                <a:latin typeface="Calibri" pitchFamily="34" charset="0"/>
                <a:ea typeface="Calibri" pitchFamily="34" charset="-122"/>
                <a:cs typeface="Calibri" pitchFamily="34" charset="-120"/>
              </a:rPr>
              <a:t>Structuring Alert. CUST0004. Two supported claims. Complete review, 100% evidence completeness.</a:t>
            </a:r>
            <a:endParaRPr lang="en-US" sz="1300" dirty="0"/>
          </a:p>
        </p:txBody>
      </p:sp>
      <p:sp>
        <p:nvSpPr>
          <p:cNvPr id="4" name="Shape 2"/>
          <p:cNvSpPr/>
          <p:nvPr/>
        </p:nvSpPr>
        <p:spPr>
          <a:xfrm>
            <a:off x="365760" y="1234440"/>
            <a:ext cx="2651760" cy="2194560"/>
          </a:xfrm>
          <a:prstGeom prst="roundRect">
            <a:avLst>
              <a:gd name="adj" fmla="val 4167"/>
            </a:avLst>
          </a:prstGeom>
          <a:solidFill>
            <a:srgbClr val="1A1A2E"/>
          </a:solidFill>
          <a:ln w="6350">
            <a:solidFill>
              <a:srgbClr val="475569"/>
            </a:solidFill>
            <a:prstDash val="solid"/>
          </a:ln>
          <a:effectLst>
            <a:outerShdw blurRad="177800" dist="50800" dir="8100000" algn="bl" rotWithShape="0">
              <a:srgbClr val="000000">
                <a:alpha val="35000"/>
              </a:srgbClr>
            </a:outerShdw>
          </a:effectLst>
        </p:spPr>
        <p:txBody>
          <a:bodyPr/>
          <a:lstStyle/>
          <a:p>
            <a:endParaRPr lang="en-US"/>
          </a:p>
        </p:txBody>
      </p:sp>
      <p:sp>
        <p:nvSpPr>
          <p:cNvPr id="5" name="Shape 3"/>
          <p:cNvSpPr/>
          <p:nvPr/>
        </p:nvSpPr>
        <p:spPr>
          <a:xfrm>
            <a:off x="502920" y="1371600"/>
            <a:ext cx="438912" cy="438912"/>
          </a:xfrm>
          <a:prstGeom prst="ellipse">
            <a:avLst/>
          </a:prstGeom>
          <a:solidFill>
            <a:srgbClr val="7C3AED">
              <a:alpha val="25000"/>
            </a:srgbClr>
          </a:solidFill>
          <a:ln w="12700">
            <a:solidFill>
              <a:srgbClr val="7C3AED"/>
            </a:solidFill>
            <a:prstDash val="solid"/>
          </a:ln>
        </p:spPr>
        <p:txBody>
          <a:bodyPr/>
          <a:lstStyle/>
          <a:p>
            <a:endParaRPr lang="en-US"/>
          </a:p>
        </p:txBody>
      </p:sp>
      <p:sp>
        <p:nvSpPr>
          <p:cNvPr id="6" name="Text 4"/>
          <p:cNvSpPr/>
          <p:nvPr/>
        </p:nvSpPr>
        <p:spPr>
          <a:xfrm>
            <a:off x="502920" y="1371600"/>
            <a:ext cx="438912" cy="438912"/>
          </a:xfrm>
          <a:prstGeom prst="rect">
            <a:avLst/>
          </a:prstGeom>
          <a:noFill/>
          <a:ln/>
        </p:spPr>
        <p:txBody>
          <a:bodyPr wrap="square" lIns="0" tIns="0" rIns="0" bIns="0" rtlCol="0" anchor="ctr"/>
          <a:lstStyle/>
          <a:p>
            <a:pPr marL="0" indent="0" algn="ctr">
              <a:buNone/>
            </a:pPr>
            <a:r>
              <a:rPr lang="en-US" sz="1400" b="1" dirty="0">
                <a:solidFill>
                  <a:srgbClr val="7C3AED"/>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502920" y="1920240"/>
            <a:ext cx="2377440" cy="347472"/>
          </a:xfrm>
          <a:prstGeom prst="rect">
            <a:avLst/>
          </a:prstGeom>
          <a:noFill/>
          <a:ln/>
        </p:spPr>
        <p:txBody>
          <a:bodyPr wrap="square"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AI Drafts</a:t>
            </a:r>
            <a:endParaRPr lang="en-US" sz="1300" dirty="0"/>
          </a:p>
        </p:txBody>
      </p:sp>
      <p:sp>
        <p:nvSpPr>
          <p:cNvPr id="8" name="Text 6"/>
          <p:cNvSpPr/>
          <p:nvPr/>
        </p:nvSpPr>
        <p:spPr>
          <a:xfrm>
            <a:off x="502920" y="2331720"/>
            <a:ext cx="2377440" cy="914400"/>
          </a:xfrm>
          <a:prstGeom prst="rect">
            <a:avLst/>
          </a:prstGeom>
          <a:noFill/>
          <a:ln/>
        </p:spPr>
        <p:txBody>
          <a:bodyPr wrap="square" rtlCol="0" anchor="ctr"/>
          <a:lstStyle/>
          <a:p>
            <a:pPr marL="0" indent="0" algn="l">
              <a:buNone/>
            </a:pPr>
            <a:r>
              <a:rPr lang="en-US" sz="1100" dirty="0">
                <a:solidFill>
                  <a:srgbClr val="94A3B8"/>
                </a:solidFill>
                <a:latin typeface="Calibri" pitchFamily="34" charset="0"/>
                <a:ea typeface="Calibri" pitchFamily="34" charset="-122"/>
                <a:cs typeface="Calibri" pitchFamily="34" charset="-120"/>
              </a:rPr>
              <a:t>llm_drafter pulls transaction history and KYC profile. Emits structuring claim via JSON schema.</a:t>
            </a:r>
            <a:endParaRPr lang="en-US" sz="1100" dirty="0"/>
          </a:p>
        </p:txBody>
      </p:sp>
      <p:sp>
        <p:nvSpPr>
          <p:cNvPr id="9" name="Shape 7"/>
          <p:cNvSpPr/>
          <p:nvPr/>
        </p:nvSpPr>
        <p:spPr>
          <a:xfrm>
            <a:off x="3044952" y="2331720"/>
            <a:ext cx="155448" cy="0"/>
          </a:xfrm>
          <a:prstGeom prst="line">
            <a:avLst/>
          </a:prstGeom>
          <a:noFill/>
          <a:ln w="19050">
            <a:solidFill>
              <a:srgbClr val="475569"/>
            </a:solidFill>
            <a:prstDash val="solid"/>
          </a:ln>
        </p:spPr>
        <p:txBody>
          <a:bodyPr/>
          <a:lstStyle/>
          <a:p>
            <a:endParaRPr lang="en-US"/>
          </a:p>
        </p:txBody>
      </p:sp>
      <p:sp>
        <p:nvSpPr>
          <p:cNvPr id="10" name="Shape 8"/>
          <p:cNvSpPr/>
          <p:nvPr/>
        </p:nvSpPr>
        <p:spPr>
          <a:xfrm>
            <a:off x="3200400" y="1234440"/>
            <a:ext cx="2651760" cy="2194560"/>
          </a:xfrm>
          <a:prstGeom prst="roundRect">
            <a:avLst>
              <a:gd name="adj" fmla="val 4167"/>
            </a:avLst>
          </a:prstGeom>
          <a:solidFill>
            <a:srgbClr val="1A1A2E"/>
          </a:solidFill>
          <a:ln w="6350">
            <a:solidFill>
              <a:srgbClr val="475569"/>
            </a:solidFill>
            <a:prstDash val="solid"/>
          </a:ln>
          <a:effectLst>
            <a:outerShdw blurRad="177800" dist="50800" dir="8100000" algn="bl" rotWithShape="0">
              <a:srgbClr val="000000">
                <a:alpha val="35000"/>
              </a:srgbClr>
            </a:outerShdw>
          </a:effectLst>
        </p:spPr>
        <p:txBody>
          <a:bodyPr/>
          <a:lstStyle/>
          <a:p>
            <a:endParaRPr lang="en-US"/>
          </a:p>
        </p:txBody>
      </p:sp>
      <p:sp>
        <p:nvSpPr>
          <p:cNvPr id="11" name="Shape 9"/>
          <p:cNvSpPr/>
          <p:nvPr/>
        </p:nvSpPr>
        <p:spPr>
          <a:xfrm>
            <a:off x="3337560" y="1371600"/>
            <a:ext cx="438912" cy="438912"/>
          </a:xfrm>
          <a:prstGeom prst="ellipse">
            <a:avLst/>
          </a:prstGeom>
          <a:solidFill>
            <a:srgbClr val="84CC16">
              <a:alpha val="25000"/>
            </a:srgbClr>
          </a:solidFill>
          <a:ln w="12700">
            <a:solidFill>
              <a:srgbClr val="84CC16"/>
            </a:solidFill>
            <a:prstDash val="solid"/>
          </a:ln>
        </p:spPr>
        <p:txBody>
          <a:bodyPr/>
          <a:lstStyle/>
          <a:p>
            <a:endParaRPr lang="en-US"/>
          </a:p>
        </p:txBody>
      </p:sp>
      <p:sp>
        <p:nvSpPr>
          <p:cNvPr id="12" name="Text 10"/>
          <p:cNvSpPr/>
          <p:nvPr/>
        </p:nvSpPr>
        <p:spPr>
          <a:xfrm>
            <a:off x="3337560" y="1371600"/>
            <a:ext cx="438912" cy="438912"/>
          </a:xfrm>
          <a:prstGeom prst="rect">
            <a:avLst/>
          </a:prstGeom>
          <a:noFill/>
          <a:ln/>
        </p:spPr>
        <p:txBody>
          <a:bodyPr wrap="square" lIns="0" tIns="0" rIns="0" bIns="0" rtlCol="0" anchor="ctr"/>
          <a:lstStyle/>
          <a:p>
            <a:pPr marL="0" indent="0" algn="ctr">
              <a:buNone/>
            </a:pPr>
            <a:r>
              <a:rPr lang="en-US" sz="1400" b="1" dirty="0">
                <a:solidFill>
                  <a:srgbClr val="84CC16"/>
                </a:solidFill>
                <a:latin typeface="Cambria" pitchFamily="34" charset="0"/>
                <a:ea typeface="Cambria" pitchFamily="34" charset="-122"/>
                <a:cs typeface="Cambria" pitchFamily="34" charset="-120"/>
              </a:rPr>
              <a:t>2</a:t>
            </a:r>
            <a:endParaRPr lang="en-US" sz="1400" dirty="0"/>
          </a:p>
        </p:txBody>
      </p:sp>
      <p:sp>
        <p:nvSpPr>
          <p:cNvPr id="13" name="Text 11"/>
          <p:cNvSpPr/>
          <p:nvPr/>
        </p:nvSpPr>
        <p:spPr>
          <a:xfrm>
            <a:off x="3337560" y="1920240"/>
            <a:ext cx="2377440" cy="347472"/>
          </a:xfrm>
          <a:prstGeom prst="rect">
            <a:avLst/>
          </a:prstGeom>
          <a:noFill/>
          <a:ln/>
        </p:spPr>
        <p:txBody>
          <a:bodyPr wrap="square"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Verifier Confirms</a:t>
            </a:r>
            <a:endParaRPr lang="en-US" sz="1300" dirty="0"/>
          </a:p>
        </p:txBody>
      </p:sp>
      <p:sp>
        <p:nvSpPr>
          <p:cNvPr id="14" name="Text 12"/>
          <p:cNvSpPr/>
          <p:nvPr/>
        </p:nvSpPr>
        <p:spPr>
          <a:xfrm>
            <a:off x="3337560" y="2331720"/>
            <a:ext cx="2377440" cy="914400"/>
          </a:xfrm>
          <a:prstGeom prst="rect">
            <a:avLst/>
          </a:prstGeom>
          <a:noFill/>
          <a:ln/>
        </p:spPr>
        <p:txBody>
          <a:bodyPr wrap="square" rtlCol="0" anchor="ctr"/>
          <a:lstStyle/>
          <a:p>
            <a:pPr marL="0" indent="0" algn="l">
              <a:buNone/>
            </a:pPr>
            <a:r>
              <a:rPr lang="en-US" sz="1100" dirty="0">
                <a:solidFill>
                  <a:srgbClr val="94A3B8"/>
                </a:solidFill>
                <a:latin typeface="Calibri" pitchFamily="34" charset="0"/>
                <a:ea typeface="Calibri" pitchFamily="34" charset="-122"/>
                <a:cs typeface="Calibri" pitchFamily="34" charset="-120"/>
              </a:rPr>
              <a:t>Python checks: 2+ deposits in 72 hours, each between $9,000 and $9,999. Returns PASS.</a:t>
            </a:r>
            <a:endParaRPr lang="en-US" sz="1100" dirty="0"/>
          </a:p>
        </p:txBody>
      </p:sp>
      <p:sp>
        <p:nvSpPr>
          <p:cNvPr id="15" name="Shape 13"/>
          <p:cNvSpPr/>
          <p:nvPr/>
        </p:nvSpPr>
        <p:spPr>
          <a:xfrm>
            <a:off x="5879592" y="2331720"/>
            <a:ext cx="155448" cy="0"/>
          </a:xfrm>
          <a:prstGeom prst="line">
            <a:avLst/>
          </a:prstGeom>
          <a:noFill/>
          <a:ln w="19050">
            <a:solidFill>
              <a:srgbClr val="475569"/>
            </a:solidFill>
            <a:prstDash val="solid"/>
          </a:ln>
        </p:spPr>
        <p:txBody>
          <a:bodyPr/>
          <a:lstStyle/>
          <a:p>
            <a:endParaRPr lang="en-US"/>
          </a:p>
        </p:txBody>
      </p:sp>
      <p:sp>
        <p:nvSpPr>
          <p:cNvPr id="16" name="Shape 14"/>
          <p:cNvSpPr/>
          <p:nvPr/>
        </p:nvSpPr>
        <p:spPr>
          <a:xfrm>
            <a:off x="6035040" y="1234440"/>
            <a:ext cx="2651760" cy="2194560"/>
          </a:xfrm>
          <a:prstGeom prst="roundRect">
            <a:avLst>
              <a:gd name="adj" fmla="val 4167"/>
            </a:avLst>
          </a:prstGeom>
          <a:solidFill>
            <a:srgbClr val="1A1A2E"/>
          </a:solidFill>
          <a:ln w="6350">
            <a:solidFill>
              <a:srgbClr val="475569"/>
            </a:solidFill>
            <a:prstDash val="solid"/>
          </a:ln>
          <a:effectLst>
            <a:outerShdw blurRad="177800" dist="50800" dir="8100000" algn="bl" rotWithShape="0">
              <a:srgbClr val="000000">
                <a:alpha val="35000"/>
              </a:srgbClr>
            </a:outerShdw>
          </a:effectLst>
        </p:spPr>
        <p:txBody>
          <a:bodyPr/>
          <a:lstStyle/>
          <a:p>
            <a:endParaRPr lang="en-US"/>
          </a:p>
        </p:txBody>
      </p:sp>
      <p:sp>
        <p:nvSpPr>
          <p:cNvPr id="17" name="Shape 15"/>
          <p:cNvSpPr/>
          <p:nvPr/>
        </p:nvSpPr>
        <p:spPr>
          <a:xfrm>
            <a:off x="6172200" y="1371600"/>
            <a:ext cx="438912" cy="438912"/>
          </a:xfrm>
          <a:prstGeom prst="ellipse">
            <a:avLst/>
          </a:prstGeom>
          <a:solidFill>
            <a:srgbClr val="22C55E">
              <a:alpha val="25000"/>
            </a:srgbClr>
          </a:solidFill>
          <a:ln w="12700">
            <a:solidFill>
              <a:srgbClr val="22C55E"/>
            </a:solidFill>
            <a:prstDash val="solid"/>
          </a:ln>
        </p:spPr>
        <p:txBody>
          <a:bodyPr/>
          <a:lstStyle/>
          <a:p>
            <a:endParaRPr lang="en-US"/>
          </a:p>
        </p:txBody>
      </p:sp>
      <p:sp>
        <p:nvSpPr>
          <p:cNvPr id="18" name="Text 16"/>
          <p:cNvSpPr/>
          <p:nvPr/>
        </p:nvSpPr>
        <p:spPr>
          <a:xfrm>
            <a:off x="6172200" y="1371600"/>
            <a:ext cx="438912" cy="438912"/>
          </a:xfrm>
          <a:prstGeom prst="rect">
            <a:avLst/>
          </a:prstGeom>
          <a:noFill/>
          <a:ln/>
        </p:spPr>
        <p:txBody>
          <a:bodyPr wrap="square" lIns="0" tIns="0" rIns="0" bIns="0" rtlCol="0" anchor="ctr"/>
          <a:lstStyle/>
          <a:p>
            <a:pPr marL="0" indent="0" algn="ctr">
              <a:buNone/>
            </a:pPr>
            <a:r>
              <a:rPr lang="en-US" sz="1400" b="1" dirty="0">
                <a:solidFill>
                  <a:srgbClr val="22C55E"/>
                </a:solidFill>
                <a:latin typeface="Cambria" pitchFamily="34" charset="0"/>
                <a:ea typeface="Cambria" pitchFamily="34" charset="-122"/>
                <a:cs typeface="Cambria" pitchFamily="34" charset="-120"/>
              </a:rPr>
              <a:t>3</a:t>
            </a:r>
            <a:endParaRPr lang="en-US" sz="1400" dirty="0"/>
          </a:p>
        </p:txBody>
      </p:sp>
      <p:sp>
        <p:nvSpPr>
          <p:cNvPr id="19" name="Text 17"/>
          <p:cNvSpPr/>
          <p:nvPr/>
        </p:nvSpPr>
        <p:spPr>
          <a:xfrm>
            <a:off x="6172200" y="1920240"/>
            <a:ext cx="2377440" cy="347472"/>
          </a:xfrm>
          <a:prstGeom prst="rect">
            <a:avLst/>
          </a:prstGeom>
          <a:noFill/>
          <a:ln/>
        </p:spPr>
        <p:txBody>
          <a:bodyPr wrap="square"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Analyst Decides</a:t>
            </a:r>
            <a:endParaRPr lang="en-US" sz="1300" dirty="0"/>
          </a:p>
        </p:txBody>
      </p:sp>
      <p:sp>
        <p:nvSpPr>
          <p:cNvPr id="20" name="Text 18"/>
          <p:cNvSpPr/>
          <p:nvPr/>
        </p:nvSpPr>
        <p:spPr>
          <a:xfrm>
            <a:off x="6172200" y="2331720"/>
            <a:ext cx="2377440" cy="914400"/>
          </a:xfrm>
          <a:prstGeom prst="rect">
            <a:avLst/>
          </a:prstGeom>
          <a:noFill/>
          <a:ln/>
        </p:spPr>
        <p:txBody>
          <a:bodyPr wrap="square" rtlCol="0" anchor="ctr"/>
          <a:lstStyle/>
          <a:p>
            <a:pPr marL="0" indent="0" algn="l">
              <a:buNone/>
            </a:pPr>
            <a:r>
              <a:rPr lang="en-US" sz="1100" dirty="0">
                <a:solidFill>
                  <a:srgbClr val="94A3B8"/>
                </a:solidFill>
                <a:latin typeface="Calibri" pitchFamily="34" charset="0"/>
                <a:ea typeface="Calibri" pitchFamily="34" charset="-122"/>
                <a:cs typeface="Calibri" pitchFamily="34" charset="-120"/>
              </a:rPr>
              <a:t>Pre-assembled verified summary. SUPPORTED badges. Analyst reviews, writes justification, records the disposition.</a:t>
            </a:r>
            <a:endParaRPr lang="en-US" sz="1100" dirty="0"/>
          </a:p>
        </p:txBody>
      </p:sp>
      <p:sp>
        <p:nvSpPr>
          <p:cNvPr id="21" name="Shape 19"/>
          <p:cNvSpPr/>
          <p:nvPr/>
        </p:nvSpPr>
        <p:spPr>
          <a:xfrm>
            <a:off x="365760" y="3584448"/>
            <a:ext cx="8412480" cy="1005840"/>
          </a:xfrm>
          <a:prstGeom prst="roundRect">
            <a:avLst>
              <a:gd name="adj" fmla="val 9091"/>
            </a:avLst>
          </a:prstGeom>
          <a:solidFill>
            <a:srgbClr val="13131F"/>
          </a:solidFill>
          <a:ln w="12700">
            <a:solidFill>
              <a:srgbClr val="84CC16"/>
            </a:solidFill>
            <a:prstDash val="solid"/>
          </a:ln>
          <a:effectLst>
            <a:outerShdw blurRad="76200" dist="25400" dir="8100000" algn="bl" rotWithShape="0">
              <a:srgbClr val="000000">
                <a:alpha val="20000"/>
              </a:srgbClr>
            </a:outerShdw>
          </a:effectLst>
        </p:spPr>
        <p:txBody>
          <a:bodyPr/>
          <a:lstStyle/>
          <a:p>
            <a:endParaRPr lang="en-US"/>
          </a:p>
        </p:txBody>
      </p:sp>
      <p:sp>
        <p:nvSpPr>
          <p:cNvPr id="22" name="Text 20"/>
          <p:cNvSpPr/>
          <p:nvPr/>
        </p:nvSpPr>
        <p:spPr>
          <a:xfrm>
            <a:off x="640080" y="3639312"/>
            <a:ext cx="1737360" cy="438912"/>
          </a:xfrm>
          <a:prstGeom prst="rect">
            <a:avLst/>
          </a:prstGeom>
          <a:noFill/>
          <a:ln/>
        </p:spPr>
        <p:txBody>
          <a:bodyPr wrap="square" rtlCol="0" anchor="ctr"/>
          <a:lstStyle/>
          <a:p>
            <a:pPr marL="0" indent="0" algn="ctr">
              <a:buNone/>
            </a:pPr>
            <a:r>
              <a:rPr lang="en-US" sz="2600" b="1" dirty="0">
                <a:solidFill>
                  <a:srgbClr val="EF4444"/>
                </a:solidFill>
                <a:latin typeface="Cambria" pitchFamily="34" charset="0"/>
                <a:ea typeface="Cambria" pitchFamily="34" charset="-122"/>
                <a:cs typeface="Cambria" pitchFamily="34" charset="-120"/>
              </a:rPr>
              <a:t>45 min</a:t>
            </a:r>
            <a:endParaRPr lang="en-US" sz="2600" dirty="0"/>
          </a:p>
        </p:txBody>
      </p:sp>
      <p:sp>
        <p:nvSpPr>
          <p:cNvPr id="23" name="Text 21"/>
          <p:cNvSpPr/>
          <p:nvPr/>
        </p:nvSpPr>
        <p:spPr>
          <a:xfrm>
            <a:off x="640080" y="4078224"/>
            <a:ext cx="1737360" cy="274320"/>
          </a:xfrm>
          <a:prstGeom prst="rect">
            <a:avLst/>
          </a:prstGeom>
          <a:noFill/>
          <a:ln/>
        </p:spPr>
        <p:txBody>
          <a:bodyPr wrap="square"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Manual prep (ACAMS)</a:t>
            </a:r>
            <a:endParaRPr lang="en-US" sz="1000" dirty="0"/>
          </a:p>
        </p:txBody>
      </p:sp>
      <p:sp>
        <p:nvSpPr>
          <p:cNvPr id="24" name="Text 22"/>
          <p:cNvSpPr/>
          <p:nvPr/>
        </p:nvSpPr>
        <p:spPr>
          <a:xfrm>
            <a:off x="2743200" y="3639312"/>
            <a:ext cx="1737360" cy="438912"/>
          </a:xfrm>
          <a:prstGeom prst="rect">
            <a:avLst/>
          </a:prstGeom>
          <a:noFill/>
          <a:ln/>
        </p:spPr>
        <p:txBody>
          <a:bodyPr wrap="square" rtlCol="0" anchor="ctr"/>
          <a:lstStyle/>
          <a:p>
            <a:pPr marL="0" indent="0" algn="ctr">
              <a:buNone/>
            </a:pPr>
            <a:r>
              <a:rPr lang="en-US" sz="2600" b="1" dirty="0">
                <a:solidFill>
                  <a:srgbClr val="84CC16"/>
                </a:solidFill>
                <a:latin typeface="Cambria" pitchFamily="34" charset="0"/>
                <a:ea typeface="Cambria" pitchFamily="34" charset="-122"/>
                <a:cs typeface="Cambria" pitchFamily="34" charset="-120"/>
              </a:rPr>
              <a:t>10 min</a:t>
            </a:r>
            <a:endParaRPr lang="en-US" sz="2600" dirty="0"/>
          </a:p>
        </p:txBody>
      </p:sp>
      <p:sp>
        <p:nvSpPr>
          <p:cNvPr id="25" name="Text 23"/>
          <p:cNvSpPr/>
          <p:nvPr/>
        </p:nvSpPr>
        <p:spPr>
          <a:xfrm>
            <a:off x="2743200" y="4078224"/>
            <a:ext cx="1737360" cy="274320"/>
          </a:xfrm>
          <a:prstGeom prst="rect">
            <a:avLst/>
          </a:prstGeom>
          <a:noFill/>
          <a:ln/>
        </p:spPr>
        <p:txBody>
          <a:bodyPr wrap="square"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Lumen review (est.)</a:t>
            </a:r>
            <a:endParaRPr lang="en-US" sz="1000" dirty="0"/>
          </a:p>
        </p:txBody>
      </p:sp>
      <p:sp>
        <p:nvSpPr>
          <p:cNvPr id="26" name="Text 24"/>
          <p:cNvSpPr/>
          <p:nvPr/>
        </p:nvSpPr>
        <p:spPr>
          <a:xfrm>
            <a:off x="4846320" y="3639312"/>
            <a:ext cx="1737360" cy="438912"/>
          </a:xfrm>
          <a:prstGeom prst="rect">
            <a:avLst/>
          </a:prstGeom>
          <a:noFill/>
          <a:ln/>
        </p:spPr>
        <p:txBody>
          <a:bodyPr wrap="square" rtlCol="0" anchor="ctr"/>
          <a:lstStyle/>
          <a:p>
            <a:pPr marL="0" indent="0" algn="ctr">
              <a:buNone/>
            </a:pPr>
            <a:r>
              <a:rPr lang="en-US" sz="2600" b="1" dirty="0">
                <a:solidFill>
                  <a:srgbClr val="22C55E"/>
                </a:solidFill>
                <a:latin typeface="Cambria" pitchFamily="34" charset="0"/>
                <a:ea typeface="Cambria" pitchFamily="34" charset="-122"/>
                <a:cs typeface="Cambria" pitchFamily="34" charset="-120"/>
              </a:rPr>
              <a:t>35 min</a:t>
            </a:r>
            <a:endParaRPr lang="en-US" sz="2600" dirty="0"/>
          </a:p>
        </p:txBody>
      </p:sp>
      <p:sp>
        <p:nvSpPr>
          <p:cNvPr id="27" name="Text 25"/>
          <p:cNvSpPr/>
          <p:nvPr/>
        </p:nvSpPr>
        <p:spPr>
          <a:xfrm>
            <a:off x="4846320" y="4078224"/>
            <a:ext cx="1737360" cy="274320"/>
          </a:xfrm>
          <a:prstGeom prst="rect">
            <a:avLst/>
          </a:prstGeom>
          <a:noFill/>
          <a:ln/>
        </p:spPr>
        <p:txBody>
          <a:bodyPr wrap="square"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Time saved (est.)</a:t>
            </a:r>
            <a:endParaRPr lang="en-US" sz="1000" dirty="0"/>
          </a:p>
        </p:txBody>
      </p:sp>
      <p:sp>
        <p:nvSpPr>
          <p:cNvPr id="28" name="Text 26"/>
          <p:cNvSpPr/>
          <p:nvPr/>
        </p:nvSpPr>
        <p:spPr>
          <a:xfrm>
            <a:off x="6949440" y="3639312"/>
            <a:ext cx="1737360" cy="438912"/>
          </a:xfrm>
          <a:prstGeom prst="rect">
            <a:avLst/>
          </a:prstGeom>
          <a:noFill/>
          <a:ln/>
        </p:spPr>
        <p:txBody>
          <a:bodyPr wrap="square" rtlCol="0" anchor="ctr"/>
          <a:lstStyle/>
          <a:p>
            <a:pPr marL="0" indent="0" algn="ctr">
              <a:buNone/>
            </a:pPr>
            <a:r>
              <a:rPr lang="en-US" sz="2600" b="1" dirty="0">
                <a:solidFill>
                  <a:srgbClr val="A78BFA"/>
                </a:solidFill>
                <a:latin typeface="Cambria" pitchFamily="34" charset="0"/>
                <a:ea typeface="Cambria" pitchFamily="34" charset="-122"/>
                <a:cs typeface="Cambria" pitchFamily="34" charset="-120"/>
              </a:rPr>
              <a:t>3x</a:t>
            </a:r>
            <a:endParaRPr lang="en-US" sz="2600" dirty="0"/>
          </a:p>
        </p:txBody>
      </p:sp>
      <p:sp>
        <p:nvSpPr>
          <p:cNvPr id="29" name="Text 27"/>
          <p:cNvSpPr/>
          <p:nvPr/>
        </p:nvSpPr>
        <p:spPr>
          <a:xfrm>
            <a:off x="6949440" y="4078224"/>
            <a:ext cx="1737360" cy="274320"/>
          </a:xfrm>
          <a:prstGeom prst="rect">
            <a:avLst/>
          </a:prstGeom>
          <a:noFill/>
          <a:ln/>
        </p:spPr>
        <p:txBody>
          <a:bodyPr wrap="square"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Throughput (est.)</a:t>
            </a:r>
            <a:endParaRPr lang="en-US" sz="1000" dirty="0"/>
          </a:p>
        </p:txBody>
      </p:sp>
      <p:pic>
        <p:nvPicPr>
          <p:cNvPr id="30" name="Slide_9_Ryan">
            <a:hlinkClick r:id="" action="ppaction://media"/>
            <a:extLst>
              <a:ext uri="{FF2B5EF4-FFF2-40B4-BE49-F238E27FC236}">
                <a16:creationId xmlns:a16="http://schemas.microsoft.com/office/drawing/2014/main" id="{F3AAD6FC-5414-D36F-781C-B7D9ED053D4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382000" y="4376927"/>
            <a:ext cx="609600" cy="609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4968" fill="hold"/>
                                        <p:tgtEl>
                                          <p:spTgt spid="30"/>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0"/>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0D14"/>
        </a:solidFill>
        <a:effectLst/>
      </p:bgPr>
    </p:bg>
    <p:spTree>
      <p:nvGrpSpPr>
        <p:cNvPr id="1" name="">
          <a:extLst>
            <a:ext uri="{FF2B5EF4-FFF2-40B4-BE49-F238E27FC236}">
              <a16:creationId xmlns:a16="http://schemas.microsoft.com/office/drawing/2014/main" id="{0DFD6A2B-C4FA-0E8D-81E8-B6C008AF3DB4}"/>
            </a:ext>
          </a:extLst>
        </p:cNvPr>
        <p:cNvGrpSpPr/>
        <p:nvPr/>
      </p:nvGrpSpPr>
      <p:grpSpPr>
        <a:xfrm>
          <a:off x="0" y="0"/>
          <a:ext cx="0" cy="0"/>
          <a:chOff x="0" y="0"/>
          <a:chExt cx="0" cy="0"/>
        </a:xfrm>
      </p:grpSpPr>
      <p:pic>
        <p:nvPicPr>
          <p:cNvPr id="23" name="Picture 22">
            <a:extLst>
              <a:ext uri="{FF2B5EF4-FFF2-40B4-BE49-F238E27FC236}">
                <a16:creationId xmlns:a16="http://schemas.microsoft.com/office/drawing/2014/main" id="{F7B312EB-018E-48F7-C518-8E43612DD16C}"/>
              </a:ext>
            </a:extLst>
          </p:cNvPr>
          <p:cNvPicPr>
            <a:picLocks noChangeAspect="1"/>
          </p:cNvPicPr>
          <p:nvPr/>
        </p:nvPicPr>
        <p:blipFill>
          <a:blip r:embed="rId3"/>
          <a:stretch>
            <a:fillRect/>
          </a:stretch>
        </p:blipFill>
        <p:spPr>
          <a:xfrm>
            <a:off x="407964" y="182880"/>
            <a:ext cx="5130837" cy="4461798"/>
          </a:xfrm>
          <a:prstGeom prst="rect">
            <a:avLst/>
          </a:prstGeom>
        </p:spPr>
      </p:pic>
      <p:pic>
        <p:nvPicPr>
          <p:cNvPr id="27" name="Picture 26">
            <a:extLst>
              <a:ext uri="{FF2B5EF4-FFF2-40B4-BE49-F238E27FC236}">
                <a16:creationId xmlns:a16="http://schemas.microsoft.com/office/drawing/2014/main" id="{CFCD3FB7-D2B1-5120-C63F-41DA61798576}"/>
              </a:ext>
            </a:extLst>
          </p:cNvPr>
          <p:cNvPicPr>
            <a:picLocks noChangeAspect="1"/>
          </p:cNvPicPr>
          <p:nvPr/>
        </p:nvPicPr>
        <p:blipFill>
          <a:blip r:embed="rId4"/>
          <a:stretch>
            <a:fillRect/>
          </a:stretch>
        </p:blipFill>
        <p:spPr>
          <a:xfrm>
            <a:off x="407964" y="4428250"/>
            <a:ext cx="5130837" cy="619238"/>
          </a:xfrm>
          <a:prstGeom prst="rect">
            <a:avLst/>
          </a:prstGeom>
        </p:spPr>
      </p:pic>
      <p:sp>
        <p:nvSpPr>
          <p:cNvPr id="900" name="RightCallouts"/>
          <p:cNvSpPr>
            <a:spLocks noGrp="1"/>
          </p:cNvSpPr>
          <p:nvPr/>
        </p:nvSpPr>
        <p:spPr>
          <a:xfrm>
            <a:off x="6057840" y="182880"/>
            <a:ext cx="1966080" cy="4864608"/>
          </a:xfrm>
          <a:prstGeom prst="roundRect">
            <a:avLst>
              <a:gd name="adj" fmla="val 4500"/>
            </a:avLst>
          </a:prstGeom>
          <a:solidFill>
            <a:srgbClr val="1A1A2E"/>
          </a:solidFill>
          <a:ln w="6350">
            <a:solidFill>
              <a:srgbClr val="26263D"/>
            </a:solidFill>
          </a:ln>
        </p:spPr>
        <p:txBody>
          <a:bodyPr wrap="square" lIns="140000" tIns="180000" rIns="140000" bIns="180000" anchor="t"/>
          <a:lstStyle/>
          <a:p>
            <a:pPr algn="l"/>
            <a:r>
              <a:rPr lang="en-US" sz="1600" b="1" dirty="0">
                <a:solidFill>
                  <a:srgbClr val="FFFFFF"/>
                </a:solidFill>
                <a:latin typeface="Calibri"/>
              </a:rPr>
              <a:t>The Same Story,</a:t>
            </a:r>
          </a:p>
          <a:p>
            <a:pPr algn="l"/>
            <a:r>
              <a:rPr lang="en-US" sz="1600" b="1" dirty="0">
                <a:solidFill>
                  <a:srgbClr val="FFFFFF"/>
                </a:solidFill>
                <a:latin typeface="Calibri"/>
              </a:rPr>
              <a:t>In the App</a:t>
            </a:r>
          </a:p>
          <a:p>
            <a:pPr algn="l">
              <a:spcBef>
                <a:spcPts val="200"/>
              </a:spcBef>
            </a:pPr>
            <a:r>
              <a:rPr lang="en-US" sz="1000" b="0" dirty="0">
                <a:solidFill>
                  <a:srgbClr val="94A3B8"/>
                </a:solidFill>
                <a:latin typeface="Calibri"/>
              </a:rPr>
              <a:t>Hero Moment 3 in the actual Case File</a:t>
            </a:r>
          </a:p>
          <a:p>
            <a:pPr algn="l">
              <a:spcBef>
                <a:spcPts val="700"/>
              </a:spcBef>
            </a:pPr>
            <a:r>
              <a:rPr lang="en-US" sz="1100" b="1" dirty="0">
                <a:solidFill>
                  <a:srgbClr val="84CC16"/>
                </a:solidFill>
                <a:latin typeface="Calibri"/>
              </a:rPr>
              <a:t>Two SUPPORTED verdicts</a:t>
            </a:r>
          </a:p>
          <a:p>
            <a:pPr algn="l">
              <a:spcBef>
                <a:spcPts val="100"/>
              </a:spcBef>
            </a:pPr>
            <a:r>
              <a:rPr lang="en-US" sz="1000" b="0" dirty="0">
                <a:solidFill>
                  <a:srgbClr val="CBD5E1"/>
                </a:solidFill>
                <a:latin typeface="Calibri"/>
              </a:rPr>
              <a:t>AI Draft Evidence Check panel</a:t>
            </a:r>
          </a:p>
          <a:p>
            <a:pPr algn="l">
              <a:spcBef>
                <a:spcPts val="700"/>
              </a:spcBef>
            </a:pPr>
            <a:r>
              <a:rPr lang="en-US" sz="1100" b="1" dirty="0">
                <a:solidFill>
                  <a:srgbClr val="84CC16"/>
                </a:solidFill>
                <a:latin typeface="Calibri"/>
              </a:rPr>
              <a:t>100% Evidence Completeness</a:t>
            </a:r>
          </a:p>
          <a:p>
            <a:pPr algn="l">
              <a:spcBef>
                <a:spcPts val="100"/>
              </a:spcBef>
            </a:pPr>
            <a:r>
              <a:rPr lang="en-US" sz="1000" b="0" dirty="0">
                <a:solidFill>
                  <a:srgbClr val="CBD5E1"/>
                </a:solidFill>
                <a:latin typeface="Calibri"/>
              </a:rPr>
              <a:t>Customer Profile block</a:t>
            </a:r>
          </a:p>
          <a:p>
            <a:pPr algn="l">
              <a:spcBef>
                <a:spcPts val="700"/>
              </a:spcBef>
            </a:pPr>
            <a:r>
              <a:rPr lang="en-US" sz="1100" b="1" dirty="0">
                <a:solidFill>
                  <a:srgbClr val="84CC16"/>
                </a:solidFill>
                <a:latin typeface="Calibri"/>
              </a:rPr>
              <a:t>Complete human review</a:t>
            </a:r>
          </a:p>
          <a:p>
            <a:pPr algn="l">
              <a:spcBef>
                <a:spcPts val="100"/>
              </a:spcBef>
            </a:pPr>
            <a:r>
              <a:rPr lang="en-US" sz="1000" b="0" dirty="0">
                <a:solidFill>
                  <a:srgbClr val="CBD5E1"/>
                </a:solidFill>
                <a:latin typeface="Calibri"/>
              </a:rPr>
              <a:t>Rationale, evidence, and action</a:t>
            </a:r>
          </a:p>
          <a:p>
            <a:pPr algn="l">
              <a:spcBef>
                <a:spcPts val="700"/>
              </a:spcBef>
            </a:pPr>
            <a:r>
              <a:rPr lang="en-US" sz="1100" b="1" dirty="0">
                <a:solidFill>
                  <a:srgbClr val="84CC16"/>
                </a:solidFill>
                <a:latin typeface="Calibri"/>
              </a:rPr>
              <a:t>Gate opens</a:t>
            </a:r>
          </a:p>
          <a:p>
            <a:pPr algn="l">
              <a:spcBef>
                <a:spcPts val="100"/>
              </a:spcBef>
            </a:pPr>
            <a:r>
              <a:rPr lang="en-US" sz="1000" b="0" dirty="0">
                <a:solidFill>
                  <a:srgbClr val="CBD5E1"/>
                </a:solidFill>
                <a:latin typeface="Calibri"/>
              </a:rPr>
              <a:t>REVIEW REQUIREMENTS: COMPLETE</a:t>
            </a:r>
          </a:p>
        </p:txBody>
      </p:sp>
    </p:spTree>
    <p:extLst>
      <p:ext uri="{BB962C8B-B14F-4D97-AF65-F5344CB8AC3E}">
        <p14:creationId xmlns:p14="http://schemas.microsoft.com/office/powerpoint/2010/main" val="493558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0D0D14"/>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System Architecture</a:t>
            </a:r>
            <a:endParaRPr lang="en-US" sz="3400" dirty="0"/>
          </a:p>
        </p:txBody>
      </p:sp>
      <p:sp>
        <p:nvSpPr>
          <p:cNvPr id="3" name="Text 1"/>
          <p:cNvSpPr/>
          <p:nvPr/>
        </p:nvSpPr>
        <p:spPr>
          <a:xfrm>
            <a:off x="420624" y="731520"/>
            <a:ext cx="8229600" cy="292608"/>
          </a:xfrm>
          <a:prstGeom prst="rect">
            <a:avLst/>
          </a:prstGeom>
          <a:noFill/>
          <a:ln/>
        </p:spPr>
        <p:txBody>
          <a:bodyPr wrap="square" rtlCol="0" anchor="ctr"/>
          <a:lstStyle/>
          <a:p>
            <a:pPr marL="0" indent="0" algn="l">
              <a:buNone/>
            </a:pPr>
            <a:r>
              <a:rPr lang="en-US" sz="1300" i="1" dirty="0">
                <a:solidFill>
                  <a:srgbClr val="94A3B8"/>
                </a:solidFill>
                <a:latin typeface="Calibri" pitchFamily="34" charset="0"/>
                <a:ea typeface="Calibri" pitchFamily="34" charset="-122"/>
                <a:cs typeface="Calibri" pitchFamily="34" charset="-120"/>
              </a:rPr>
              <a:t>Six architecture layers. Five run in the demo path. AI drafting is captured live and replayed deterministically.</a:t>
            </a:r>
            <a:endParaRPr lang="en-US" sz="1300" dirty="0"/>
          </a:p>
        </p:txBody>
      </p:sp>
      <p:sp>
        <p:nvSpPr>
          <p:cNvPr id="4" name="Shape 2"/>
          <p:cNvSpPr/>
          <p:nvPr/>
        </p:nvSpPr>
        <p:spPr>
          <a:xfrm>
            <a:off x="320040" y="1005840"/>
            <a:ext cx="1298448" cy="3200400"/>
          </a:xfrm>
          <a:prstGeom prst="roundRect">
            <a:avLst>
              <a:gd name="adj" fmla="val 5634"/>
            </a:avLst>
          </a:prstGeom>
          <a:solidFill>
            <a:srgbClr val="1A1A2E"/>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sp>
        <p:nvSpPr>
          <p:cNvPr id="5" name="Shape 3"/>
          <p:cNvSpPr/>
          <p:nvPr/>
        </p:nvSpPr>
        <p:spPr>
          <a:xfrm>
            <a:off x="320040" y="1005840"/>
            <a:ext cx="1298448" cy="384048"/>
          </a:xfrm>
          <a:prstGeom prst="roundRect">
            <a:avLst>
              <a:gd name="adj" fmla="val 19048"/>
            </a:avLst>
          </a:prstGeom>
          <a:solidFill>
            <a:srgbClr val="84CC16">
              <a:alpha val="28000"/>
            </a:srgbClr>
          </a:solidFill>
          <a:ln w="6350">
            <a:solidFill>
              <a:srgbClr val="84CC16"/>
            </a:solidFill>
            <a:prstDash val="solid"/>
          </a:ln>
        </p:spPr>
        <p:txBody>
          <a:bodyPr/>
          <a:lstStyle/>
          <a:p>
            <a:endParaRPr lang="en-US"/>
          </a:p>
        </p:txBody>
      </p:sp>
      <p:sp>
        <p:nvSpPr>
          <p:cNvPr id="6" name="Text 4"/>
          <p:cNvSpPr/>
          <p:nvPr/>
        </p:nvSpPr>
        <p:spPr>
          <a:xfrm>
            <a:off x="320040" y="1005840"/>
            <a:ext cx="1298448" cy="384048"/>
          </a:xfrm>
          <a:prstGeom prst="rect">
            <a:avLst/>
          </a:prstGeom>
          <a:noFill/>
          <a:ln/>
        </p:spPr>
        <p:txBody>
          <a:bodyPr wrap="square" lIns="0" tIns="0" rIns="0" bIns="0" rtlCol="0" anchor="ctr"/>
          <a:lstStyle/>
          <a:p>
            <a:pPr marL="0" indent="0" algn="ctr">
              <a:buNone/>
            </a:pPr>
            <a:r>
              <a:rPr lang="en-US" sz="1800" b="1" dirty="0">
                <a:solidFill>
                  <a:srgbClr val="84CC16"/>
                </a:solidFill>
                <a:latin typeface="Cambria" pitchFamily="34" charset="0"/>
                <a:ea typeface="Cambria" pitchFamily="34" charset="-122"/>
                <a:cs typeface="Cambria" pitchFamily="34" charset="-120"/>
              </a:rPr>
              <a:t>0</a:t>
            </a:r>
            <a:endParaRPr lang="en-US" sz="1800" dirty="0"/>
          </a:p>
        </p:txBody>
      </p:sp>
      <p:sp>
        <p:nvSpPr>
          <p:cNvPr id="7" name="Text 5"/>
          <p:cNvSpPr/>
          <p:nvPr/>
        </p:nvSpPr>
        <p:spPr>
          <a:xfrm>
            <a:off x="365760" y="1463040"/>
            <a:ext cx="1207008" cy="5029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Data Layer</a:t>
            </a:r>
            <a:endParaRPr lang="en-US" sz="1100" dirty="0"/>
          </a:p>
        </p:txBody>
      </p:sp>
      <p:sp>
        <p:nvSpPr>
          <p:cNvPr id="8" name="Text 6"/>
          <p:cNvSpPr/>
          <p:nvPr/>
        </p:nvSpPr>
        <p:spPr>
          <a:xfrm>
            <a:off x="365760" y="2011680"/>
            <a:ext cx="1207008" cy="347472"/>
          </a:xfrm>
          <a:prstGeom prst="rect">
            <a:avLst/>
          </a:prstGeom>
          <a:noFill/>
          <a:ln/>
        </p:spPr>
        <p:txBody>
          <a:bodyPr wrap="square" rtlCol="0" anchor="ctr"/>
          <a:lstStyle/>
          <a:p>
            <a:pPr marL="0" indent="0" algn="ctr">
              <a:buNone/>
            </a:pPr>
            <a:r>
              <a:rPr lang="en-US" sz="950" i="1" dirty="0">
                <a:solidFill>
                  <a:srgbClr val="94A3B8"/>
                </a:solidFill>
                <a:latin typeface="Calibri" pitchFamily="34" charset="0"/>
                <a:ea typeface="Calibri" pitchFamily="34" charset="-122"/>
                <a:cs typeface="Calibri" pitchFamily="34" charset="-120"/>
              </a:rPr>
              <a:t>9 synthetic CSVs</a:t>
            </a:r>
            <a:endParaRPr lang="en-US" sz="950" dirty="0"/>
          </a:p>
        </p:txBody>
      </p:sp>
      <p:sp>
        <p:nvSpPr>
          <p:cNvPr id="9" name="Shape 7"/>
          <p:cNvSpPr/>
          <p:nvPr/>
        </p:nvSpPr>
        <p:spPr>
          <a:xfrm>
            <a:off x="466344" y="2450592"/>
            <a:ext cx="1005840" cy="256032"/>
          </a:xfrm>
          <a:prstGeom prst="roundRect">
            <a:avLst>
              <a:gd name="adj" fmla="val 17857"/>
            </a:avLst>
          </a:prstGeom>
          <a:solidFill>
            <a:srgbClr val="84CC16">
              <a:alpha val="25000"/>
            </a:srgbClr>
          </a:solidFill>
          <a:ln w="6350">
            <a:solidFill>
              <a:srgbClr val="84CC16"/>
            </a:solidFill>
            <a:prstDash val="solid"/>
          </a:ln>
        </p:spPr>
        <p:txBody>
          <a:bodyPr/>
          <a:lstStyle/>
          <a:p>
            <a:endParaRPr lang="en-US"/>
          </a:p>
        </p:txBody>
      </p:sp>
      <p:sp>
        <p:nvSpPr>
          <p:cNvPr id="10" name="Text 8"/>
          <p:cNvSpPr/>
          <p:nvPr/>
        </p:nvSpPr>
        <p:spPr>
          <a:xfrm>
            <a:off x="466344" y="2450592"/>
            <a:ext cx="1005840" cy="256032"/>
          </a:xfrm>
          <a:prstGeom prst="rect">
            <a:avLst/>
          </a:prstGeom>
          <a:noFill/>
          <a:ln/>
        </p:spPr>
        <p:txBody>
          <a:bodyPr wrap="square" lIns="0" tIns="0" rIns="0" bIns="0" rtlCol="0" anchor="ctr"/>
          <a:lstStyle/>
          <a:p>
            <a:pPr marL="0" indent="0" algn="ctr">
              <a:buNone/>
            </a:pPr>
            <a:r>
              <a:rPr lang="en-US" sz="800" b="1" dirty="0">
                <a:solidFill>
                  <a:srgbClr val="BEF264"/>
                </a:solidFill>
                <a:latin typeface="Calibri" pitchFamily="34" charset="0"/>
                <a:ea typeface="Calibri" pitchFamily="34" charset="-122"/>
                <a:cs typeface="Calibri" pitchFamily="34" charset="-120"/>
              </a:rPr>
              <a:t>LIVE</a:t>
            </a:r>
            <a:endParaRPr lang="en-US" sz="800" dirty="0"/>
          </a:p>
        </p:txBody>
      </p:sp>
      <p:sp>
        <p:nvSpPr>
          <p:cNvPr id="11" name="Shape 9"/>
          <p:cNvSpPr/>
          <p:nvPr/>
        </p:nvSpPr>
        <p:spPr>
          <a:xfrm>
            <a:off x="1627632" y="2578608"/>
            <a:ext cx="128016" cy="0"/>
          </a:xfrm>
          <a:prstGeom prst="line">
            <a:avLst/>
          </a:prstGeom>
          <a:noFill/>
          <a:ln w="12700">
            <a:solidFill>
              <a:srgbClr val="475569"/>
            </a:solidFill>
            <a:prstDash val="solid"/>
          </a:ln>
        </p:spPr>
        <p:txBody>
          <a:bodyPr/>
          <a:lstStyle/>
          <a:p>
            <a:endParaRPr lang="en-US"/>
          </a:p>
        </p:txBody>
      </p:sp>
      <p:sp>
        <p:nvSpPr>
          <p:cNvPr id="12" name="Shape 10"/>
          <p:cNvSpPr/>
          <p:nvPr/>
        </p:nvSpPr>
        <p:spPr>
          <a:xfrm>
            <a:off x="1755648" y="1005840"/>
            <a:ext cx="1298448" cy="3200400"/>
          </a:xfrm>
          <a:prstGeom prst="roundRect">
            <a:avLst>
              <a:gd name="adj" fmla="val 5634"/>
            </a:avLst>
          </a:prstGeom>
          <a:solidFill>
            <a:srgbClr val="1A1A2E"/>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sp>
        <p:nvSpPr>
          <p:cNvPr id="13" name="Shape 11"/>
          <p:cNvSpPr/>
          <p:nvPr/>
        </p:nvSpPr>
        <p:spPr>
          <a:xfrm>
            <a:off x="1755648" y="1005840"/>
            <a:ext cx="1298448" cy="384048"/>
          </a:xfrm>
          <a:prstGeom prst="roundRect">
            <a:avLst>
              <a:gd name="adj" fmla="val 19048"/>
            </a:avLst>
          </a:prstGeom>
          <a:solidFill>
            <a:srgbClr val="84CC16">
              <a:alpha val="28000"/>
            </a:srgbClr>
          </a:solidFill>
          <a:ln w="6350">
            <a:solidFill>
              <a:srgbClr val="84CC16"/>
            </a:solidFill>
            <a:prstDash val="solid"/>
          </a:ln>
        </p:spPr>
        <p:txBody>
          <a:bodyPr/>
          <a:lstStyle/>
          <a:p>
            <a:endParaRPr lang="en-US"/>
          </a:p>
        </p:txBody>
      </p:sp>
      <p:sp>
        <p:nvSpPr>
          <p:cNvPr id="14" name="Text 12"/>
          <p:cNvSpPr/>
          <p:nvPr/>
        </p:nvSpPr>
        <p:spPr>
          <a:xfrm>
            <a:off x="1755648" y="1005840"/>
            <a:ext cx="1298448" cy="384048"/>
          </a:xfrm>
          <a:prstGeom prst="rect">
            <a:avLst/>
          </a:prstGeom>
          <a:noFill/>
          <a:ln/>
        </p:spPr>
        <p:txBody>
          <a:bodyPr wrap="square" lIns="0" tIns="0" rIns="0" bIns="0" rtlCol="0" anchor="ctr"/>
          <a:lstStyle/>
          <a:p>
            <a:pPr marL="0" indent="0" algn="ctr">
              <a:buNone/>
            </a:pPr>
            <a:r>
              <a:rPr lang="en-US" sz="1800" b="1" dirty="0">
                <a:solidFill>
                  <a:srgbClr val="84CC16"/>
                </a:solidFill>
                <a:latin typeface="Cambria" pitchFamily="34" charset="0"/>
                <a:ea typeface="Cambria" pitchFamily="34" charset="-122"/>
                <a:cs typeface="Cambria" pitchFamily="34" charset="-120"/>
              </a:rPr>
              <a:t>1</a:t>
            </a:r>
            <a:endParaRPr lang="en-US" sz="1800" dirty="0"/>
          </a:p>
        </p:txBody>
      </p:sp>
      <p:sp>
        <p:nvSpPr>
          <p:cNvPr id="15" name="Text 13"/>
          <p:cNvSpPr/>
          <p:nvPr/>
        </p:nvSpPr>
        <p:spPr>
          <a:xfrm>
            <a:off x="1801368" y="1463040"/>
            <a:ext cx="1207008" cy="5029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Triage + Readiness</a:t>
            </a:r>
            <a:endParaRPr lang="en-US" sz="1100" dirty="0"/>
          </a:p>
        </p:txBody>
      </p:sp>
      <p:sp>
        <p:nvSpPr>
          <p:cNvPr id="16" name="Text 14"/>
          <p:cNvSpPr/>
          <p:nvPr/>
        </p:nvSpPr>
        <p:spPr>
          <a:xfrm>
            <a:off x="1801368" y="2011680"/>
            <a:ext cx="1207008" cy="347472"/>
          </a:xfrm>
          <a:prstGeom prst="rect">
            <a:avLst/>
          </a:prstGeom>
          <a:noFill/>
          <a:ln/>
        </p:spPr>
        <p:txBody>
          <a:bodyPr wrap="square" rtlCol="0" anchor="ctr"/>
          <a:lstStyle/>
          <a:p>
            <a:pPr marL="0" indent="0" algn="ctr">
              <a:buNone/>
            </a:pPr>
            <a:r>
              <a:rPr lang="en-US" sz="950" i="1" dirty="0">
                <a:solidFill>
                  <a:srgbClr val="94A3B8"/>
                </a:solidFill>
                <a:latin typeface="Calibri" pitchFamily="34" charset="0"/>
                <a:ea typeface="Calibri" pitchFamily="34" charset="-122"/>
                <a:cs typeface="Calibri" pitchFamily="34" charset="-120"/>
              </a:rPr>
              <a:t>Severity matrix</a:t>
            </a:r>
            <a:endParaRPr lang="en-US" sz="950" dirty="0"/>
          </a:p>
        </p:txBody>
      </p:sp>
      <p:sp>
        <p:nvSpPr>
          <p:cNvPr id="17" name="Shape 15"/>
          <p:cNvSpPr/>
          <p:nvPr/>
        </p:nvSpPr>
        <p:spPr>
          <a:xfrm>
            <a:off x="1901952" y="2450592"/>
            <a:ext cx="1005840" cy="256032"/>
          </a:xfrm>
          <a:prstGeom prst="roundRect">
            <a:avLst>
              <a:gd name="adj" fmla="val 17857"/>
            </a:avLst>
          </a:prstGeom>
          <a:solidFill>
            <a:srgbClr val="84CC16">
              <a:alpha val="25000"/>
            </a:srgbClr>
          </a:solidFill>
          <a:ln w="6350">
            <a:solidFill>
              <a:srgbClr val="84CC16"/>
            </a:solidFill>
            <a:prstDash val="solid"/>
          </a:ln>
        </p:spPr>
        <p:txBody>
          <a:bodyPr/>
          <a:lstStyle/>
          <a:p>
            <a:endParaRPr lang="en-US"/>
          </a:p>
        </p:txBody>
      </p:sp>
      <p:sp>
        <p:nvSpPr>
          <p:cNvPr id="18" name="Text 16"/>
          <p:cNvSpPr/>
          <p:nvPr/>
        </p:nvSpPr>
        <p:spPr>
          <a:xfrm>
            <a:off x="1901952" y="2450592"/>
            <a:ext cx="1005840" cy="256032"/>
          </a:xfrm>
          <a:prstGeom prst="rect">
            <a:avLst/>
          </a:prstGeom>
          <a:noFill/>
          <a:ln/>
        </p:spPr>
        <p:txBody>
          <a:bodyPr wrap="square" lIns="0" tIns="0" rIns="0" bIns="0" rtlCol="0" anchor="ctr"/>
          <a:lstStyle/>
          <a:p>
            <a:pPr marL="0" indent="0" algn="ctr">
              <a:buNone/>
            </a:pPr>
            <a:r>
              <a:rPr lang="en-US" sz="800" b="1" dirty="0">
                <a:solidFill>
                  <a:srgbClr val="BEF264"/>
                </a:solidFill>
                <a:latin typeface="Calibri" pitchFamily="34" charset="0"/>
                <a:ea typeface="Calibri" pitchFamily="34" charset="-122"/>
                <a:cs typeface="Calibri" pitchFamily="34" charset="-120"/>
              </a:rPr>
              <a:t>LIVE</a:t>
            </a:r>
            <a:endParaRPr lang="en-US" sz="800" dirty="0"/>
          </a:p>
        </p:txBody>
      </p:sp>
      <p:sp>
        <p:nvSpPr>
          <p:cNvPr id="19" name="Shape 17"/>
          <p:cNvSpPr/>
          <p:nvPr/>
        </p:nvSpPr>
        <p:spPr>
          <a:xfrm>
            <a:off x="3063240" y="2578608"/>
            <a:ext cx="128016" cy="0"/>
          </a:xfrm>
          <a:prstGeom prst="line">
            <a:avLst/>
          </a:prstGeom>
          <a:noFill/>
          <a:ln w="12700">
            <a:solidFill>
              <a:srgbClr val="475569"/>
            </a:solidFill>
            <a:prstDash val="solid"/>
          </a:ln>
        </p:spPr>
        <p:txBody>
          <a:bodyPr/>
          <a:lstStyle/>
          <a:p>
            <a:endParaRPr lang="en-US"/>
          </a:p>
        </p:txBody>
      </p:sp>
      <p:sp>
        <p:nvSpPr>
          <p:cNvPr id="20" name="Shape 18"/>
          <p:cNvSpPr/>
          <p:nvPr/>
        </p:nvSpPr>
        <p:spPr>
          <a:xfrm>
            <a:off x="3191256" y="1005840"/>
            <a:ext cx="1298448" cy="3200400"/>
          </a:xfrm>
          <a:prstGeom prst="roundRect">
            <a:avLst>
              <a:gd name="adj" fmla="val 5634"/>
            </a:avLst>
          </a:prstGeom>
          <a:solidFill>
            <a:srgbClr val="1A1A2E"/>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sp>
        <p:nvSpPr>
          <p:cNvPr id="21" name="Shape 19"/>
          <p:cNvSpPr/>
          <p:nvPr/>
        </p:nvSpPr>
        <p:spPr>
          <a:xfrm>
            <a:off x="3191256" y="1005840"/>
            <a:ext cx="1298448" cy="384048"/>
          </a:xfrm>
          <a:prstGeom prst="roundRect">
            <a:avLst>
              <a:gd name="adj" fmla="val 19048"/>
            </a:avLst>
          </a:prstGeom>
          <a:solidFill>
            <a:srgbClr val="7C3AED">
              <a:alpha val="28000"/>
            </a:srgbClr>
          </a:solidFill>
          <a:ln w="6350">
            <a:solidFill>
              <a:srgbClr val="7C3AED"/>
            </a:solidFill>
            <a:prstDash val="solid"/>
          </a:ln>
        </p:spPr>
        <p:txBody>
          <a:bodyPr/>
          <a:lstStyle/>
          <a:p>
            <a:endParaRPr lang="en-US"/>
          </a:p>
        </p:txBody>
      </p:sp>
      <p:sp>
        <p:nvSpPr>
          <p:cNvPr id="22" name="Text 20"/>
          <p:cNvSpPr/>
          <p:nvPr/>
        </p:nvSpPr>
        <p:spPr>
          <a:xfrm>
            <a:off x="3191256" y="1005840"/>
            <a:ext cx="1298448" cy="384048"/>
          </a:xfrm>
          <a:prstGeom prst="rect">
            <a:avLst/>
          </a:prstGeom>
          <a:noFill/>
          <a:ln/>
        </p:spPr>
        <p:txBody>
          <a:bodyPr wrap="square" lIns="0" tIns="0" rIns="0" bIns="0" rtlCol="0" anchor="ctr"/>
          <a:lstStyle/>
          <a:p>
            <a:pPr marL="0" indent="0" algn="ctr">
              <a:buNone/>
            </a:pPr>
            <a:r>
              <a:rPr lang="en-US" sz="1800" b="1" dirty="0">
                <a:solidFill>
                  <a:srgbClr val="7C3AED"/>
                </a:solidFill>
                <a:latin typeface="Cambria" pitchFamily="34" charset="0"/>
                <a:ea typeface="Cambria" pitchFamily="34" charset="-122"/>
                <a:cs typeface="Cambria" pitchFamily="34" charset="-120"/>
              </a:rPr>
              <a:t>2</a:t>
            </a:r>
            <a:endParaRPr lang="en-US" sz="1800" dirty="0"/>
          </a:p>
        </p:txBody>
      </p:sp>
      <p:sp>
        <p:nvSpPr>
          <p:cNvPr id="23" name="Text 21"/>
          <p:cNvSpPr/>
          <p:nvPr/>
        </p:nvSpPr>
        <p:spPr>
          <a:xfrm>
            <a:off x="3236976" y="1463040"/>
            <a:ext cx="1207008" cy="5029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AI Draft</a:t>
            </a:r>
            <a:endParaRPr lang="en-US" sz="1100" dirty="0"/>
          </a:p>
        </p:txBody>
      </p:sp>
      <p:sp>
        <p:nvSpPr>
          <p:cNvPr id="24" name="Text 22"/>
          <p:cNvSpPr/>
          <p:nvPr/>
        </p:nvSpPr>
        <p:spPr>
          <a:xfrm>
            <a:off x="3236976" y="2011680"/>
            <a:ext cx="1207008" cy="347472"/>
          </a:xfrm>
          <a:prstGeom prst="rect">
            <a:avLst/>
          </a:prstGeom>
          <a:noFill/>
          <a:ln/>
        </p:spPr>
        <p:txBody>
          <a:bodyPr wrap="square" rtlCol="0" anchor="ctr"/>
          <a:lstStyle/>
          <a:p>
            <a:pPr marL="0" indent="0" algn="ctr">
              <a:buNone/>
            </a:pPr>
            <a:r>
              <a:rPr lang="en-US" sz="950" i="1" dirty="0">
                <a:solidFill>
                  <a:srgbClr val="94A3B8"/>
                </a:solidFill>
                <a:latin typeface="Calibri" pitchFamily="34" charset="0"/>
                <a:ea typeface="Calibri" pitchFamily="34" charset="-122"/>
                <a:cs typeface="Calibri" pitchFamily="34" charset="-120"/>
              </a:rPr>
              <a:t>llm_drafter.py</a:t>
            </a:r>
            <a:endParaRPr lang="en-US" sz="950" dirty="0"/>
          </a:p>
        </p:txBody>
      </p:sp>
      <p:sp>
        <p:nvSpPr>
          <p:cNvPr id="25" name="Shape 23"/>
          <p:cNvSpPr/>
          <p:nvPr/>
        </p:nvSpPr>
        <p:spPr>
          <a:xfrm>
            <a:off x="3337560" y="2450592"/>
            <a:ext cx="1005840" cy="256032"/>
          </a:xfrm>
          <a:prstGeom prst="roundRect">
            <a:avLst>
              <a:gd name="adj" fmla="val 17857"/>
            </a:avLst>
          </a:prstGeom>
          <a:solidFill>
            <a:srgbClr val="84CC16">
              <a:alpha val="25000"/>
            </a:srgbClr>
          </a:solidFill>
          <a:ln w="6350">
            <a:solidFill>
              <a:srgbClr val="84CC16"/>
            </a:solidFill>
            <a:prstDash val="solid"/>
          </a:ln>
        </p:spPr>
        <p:txBody>
          <a:bodyPr/>
          <a:lstStyle/>
          <a:p>
            <a:endParaRPr lang="en-US"/>
          </a:p>
        </p:txBody>
      </p:sp>
      <p:sp>
        <p:nvSpPr>
          <p:cNvPr id="26" name="Text 24"/>
          <p:cNvSpPr/>
          <p:nvPr/>
        </p:nvSpPr>
        <p:spPr>
          <a:xfrm>
            <a:off x="3337560" y="2450592"/>
            <a:ext cx="1005840" cy="256032"/>
          </a:xfrm>
          <a:prstGeom prst="rect">
            <a:avLst/>
          </a:prstGeom>
          <a:noFill/>
          <a:ln/>
        </p:spPr>
        <p:txBody>
          <a:bodyPr wrap="square" lIns="0" tIns="0" rIns="0" bIns="0" rtlCol="0" anchor="ctr"/>
          <a:lstStyle/>
          <a:p>
            <a:pPr marL="0" indent="0" algn="ctr">
              <a:buNone/>
            </a:pPr>
            <a:r>
              <a:rPr lang="en-US" sz="800" b="1" dirty="0">
                <a:solidFill>
                  <a:srgbClr val="BEF264"/>
                </a:solidFill>
                <a:latin typeface="Calibri" pitchFamily="34" charset="0"/>
                <a:ea typeface="Calibri" pitchFamily="34" charset="-122"/>
                <a:cs typeface="Calibri" pitchFamily="34" charset="-120"/>
              </a:rPr>
              <a:t>REPLAYED</a:t>
            </a:r>
            <a:endParaRPr lang="en-US" sz="800" dirty="0"/>
          </a:p>
        </p:txBody>
      </p:sp>
      <p:sp>
        <p:nvSpPr>
          <p:cNvPr id="27" name="Shape 25"/>
          <p:cNvSpPr/>
          <p:nvPr/>
        </p:nvSpPr>
        <p:spPr>
          <a:xfrm>
            <a:off x="4498848" y="2578608"/>
            <a:ext cx="128016" cy="0"/>
          </a:xfrm>
          <a:prstGeom prst="line">
            <a:avLst/>
          </a:prstGeom>
          <a:noFill/>
          <a:ln w="12700">
            <a:solidFill>
              <a:srgbClr val="475569"/>
            </a:solidFill>
            <a:prstDash val="solid"/>
          </a:ln>
        </p:spPr>
        <p:txBody>
          <a:bodyPr/>
          <a:lstStyle/>
          <a:p>
            <a:endParaRPr lang="en-US"/>
          </a:p>
        </p:txBody>
      </p:sp>
      <p:sp>
        <p:nvSpPr>
          <p:cNvPr id="28" name="Shape 26"/>
          <p:cNvSpPr/>
          <p:nvPr/>
        </p:nvSpPr>
        <p:spPr>
          <a:xfrm>
            <a:off x="4626864" y="1005840"/>
            <a:ext cx="1298448" cy="3200400"/>
          </a:xfrm>
          <a:prstGeom prst="roundRect">
            <a:avLst>
              <a:gd name="adj" fmla="val 5634"/>
            </a:avLst>
          </a:prstGeom>
          <a:solidFill>
            <a:srgbClr val="1A1A2E"/>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sp>
        <p:nvSpPr>
          <p:cNvPr id="29" name="Shape 27"/>
          <p:cNvSpPr/>
          <p:nvPr/>
        </p:nvSpPr>
        <p:spPr>
          <a:xfrm>
            <a:off x="4626864" y="1005840"/>
            <a:ext cx="1298448" cy="384048"/>
          </a:xfrm>
          <a:prstGeom prst="roundRect">
            <a:avLst>
              <a:gd name="adj" fmla="val 19048"/>
            </a:avLst>
          </a:prstGeom>
          <a:solidFill>
            <a:srgbClr val="7C3AED">
              <a:alpha val="28000"/>
            </a:srgbClr>
          </a:solidFill>
          <a:ln w="6350">
            <a:solidFill>
              <a:srgbClr val="7C3AED"/>
            </a:solidFill>
            <a:prstDash val="solid"/>
          </a:ln>
        </p:spPr>
        <p:txBody>
          <a:bodyPr/>
          <a:lstStyle/>
          <a:p>
            <a:endParaRPr lang="en-US"/>
          </a:p>
        </p:txBody>
      </p:sp>
      <p:sp>
        <p:nvSpPr>
          <p:cNvPr id="30" name="Text 28"/>
          <p:cNvSpPr/>
          <p:nvPr/>
        </p:nvSpPr>
        <p:spPr>
          <a:xfrm>
            <a:off x="4626864" y="1005840"/>
            <a:ext cx="1298448" cy="384048"/>
          </a:xfrm>
          <a:prstGeom prst="rect">
            <a:avLst/>
          </a:prstGeom>
          <a:noFill/>
          <a:ln/>
        </p:spPr>
        <p:txBody>
          <a:bodyPr wrap="square" lIns="0" tIns="0" rIns="0" bIns="0" rtlCol="0" anchor="ctr"/>
          <a:lstStyle/>
          <a:p>
            <a:pPr marL="0" indent="0" algn="ctr">
              <a:buNone/>
            </a:pPr>
            <a:r>
              <a:rPr lang="en-US" sz="1800" b="1" dirty="0">
                <a:solidFill>
                  <a:srgbClr val="7C3AED"/>
                </a:solidFill>
                <a:latin typeface="Cambria" pitchFamily="34" charset="0"/>
                <a:ea typeface="Cambria" pitchFamily="34" charset="-122"/>
                <a:cs typeface="Cambria" pitchFamily="34" charset="-120"/>
              </a:rPr>
              <a:t>3</a:t>
            </a:r>
            <a:endParaRPr lang="en-US" sz="1800" dirty="0"/>
          </a:p>
        </p:txBody>
      </p:sp>
      <p:sp>
        <p:nvSpPr>
          <p:cNvPr id="31" name="Text 29"/>
          <p:cNvSpPr/>
          <p:nvPr/>
        </p:nvSpPr>
        <p:spPr>
          <a:xfrm>
            <a:off x="4672584" y="1463040"/>
            <a:ext cx="1207008" cy="5029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Verification</a:t>
            </a:r>
            <a:endParaRPr lang="en-US" sz="1100" dirty="0"/>
          </a:p>
        </p:txBody>
      </p:sp>
      <p:sp>
        <p:nvSpPr>
          <p:cNvPr id="32" name="Text 30"/>
          <p:cNvSpPr/>
          <p:nvPr/>
        </p:nvSpPr>
        <p:spPr>
          <a:xfrm>
            <a:off x="4672584" y="2011680"/>
            <a:ext cx="1207008" cy="347472"/>
          </a:xfrm>
          <a:prstGeom prst="rect">
            <a:avLst/>
          </a:prstGeom>
          <a:noFill/>
          <a:ln/>
        </p:spPr>
        <p:txBody>
          <a:bodyPr wrap="square" rtlCol="0" anchor="ctr"/>
          <a:lstStyle/>
          <a:p>
            <a:pPr marL="0" indent="0" algn="ctr">
              <a:buNone/>
            </a:pPr>
            <a:r>
              <a:rPr lang="en-US" sz="950" i="1" dirty="0">
                <a:solidFill>
                  <a:srgbClr val="94A3B8"/>
                </a:solidFill>
                <a:latin typeface="Calibri" pitchFamily="34" charset="0"/>
                <a:ea typeface="Calibri" pitchFamily="34" charset="-122"/>
                <a:cs typeface="Calibri" pitchFamily="34" charset="-120"/>
              </a:rPr>
              <a:t>verifier.py</a:t>
            </a:r>
            <a:endParaRPr lang="en-US" sz="950" dirty="0"/>
          </a:p>
        </p:txBody>
      </p:sp>
      <p:sp>
        <p:nvSpPr>
          <p:cNvPr id="33" name="Shape 31"/>
          <p:cNvSpPr/>
          <p:nvPr/>
        </p:nvSpPr>
        <p:spPr>
          <a:xfrm>
            <a:off x="4773168" y="2450592"/>
            <a:ext cx="1005840" cy="256032"/>
          </a:xfrm>
          <a:prstGeom prst="roundRect">
            <a:avLst>
              <a:gd name="adj" fmla="val 17857"/>
            </a:avLst>
          </a:prstGeom>
          <a:solidFill>
            <a:srgbClr val="84CC16">
              <a:alpha val="25000"/>
            </a:srgbClr>
          </a:solidFill>
          <a:ln w="6350">
            <a:solidFill>
              <a:srgbClr val="84CC16"/>
            </a:solidFill>
            <a:prstDash val="solid"/>
          </a:ln>
        </p:spPr>
        <p:txBody>
          <a:bodyPr/>
          <a:lstStyle/>
          <a:p>
            <a:endParaRPr lang="en-US"/>
          </a:p>
        </p:txBody>
      </p:sp>
      <p:sp>
        <p:nvSpPr>
          <p:cNvPr id="34" name="Text 32"/>
          <p:cNvSpPr/>
          <p:nvPr/>
        </p:nvSpPr>
        <p:spPr>
          <a:xfrm>
            <a:off x="4773168" y="2450592"/>
            <a:ext cx="1005840" cy="256032"/>
          </a:xfrm>
          <a:prstGeom prst="rect">
            <a:avLst/>
          </a:prstGeom>
          <a:noFill/>
          <a:ln/>
        </p:spPr>
        <p:txBody>
          <a:bodyPr wrap="square" lIns="0" tIns="0" rIns="0" bIns="0" rtlCol="0" anchor="ctr"/>
          <a:lstStyle/>
          <a:p>
            <a:pPr marL="0" indent="0" algn="ctr">
              <a:buNone/>
            </a:pPr>
            <a:r>
              <a:rPr lang="en-US" sz="800" b="1" dirty="0">
                <a:solidFill>
                  <a:srgbClr val="BEF264"/>
                </a:solidFill>
                <a:latin typeface="Calibri" pitchFamily="34" charset="0"/>
                <a:ea typeface="Calibri" pitchFamily="34" charset="-122"/>
                <a:cs typeface="Calibri" pitchFamily="34" charset="-120"/>
              </a:rPr>
              <a:t>LIVE</a:t>
            </a:r>
            <a:endParaRPr lang="en-US" sz="800" dirty="0"/>
          </a:p>
        </p:txBody>
      </p:sp>
      <p:sp>
        <p:nvSpPr>
          <p:cNvPr id="35" name="Shape 33"/>
          <p:cNvSpPr/>
          <p:nvPr/>
        </p:nvSpPr>
        <p:spPr>
          <a:xfrm>
            <a:off x="5934456" y="2578608"/>
            <a:ext cx="128016" cy="0"/>
          </a:xfrm>
          <a:prstGeom prst="line">
            <a:avLst/>
          </a:prstGeom>
          <a:noFill/>
          <a:ln w="12700">
            <a:solidFill>
              <a:srgbClr val="475569"/>
            </a:solidFill>
            <a:prstDash val="solid"/>
          </a:ln>
        </p:spPr>
        <p:txBody>
          <a:bodyPr/>
          <a:lstStyle/>
          <a:p>
            <a:endParaRPr lang="en-US"/>
          </a:p>
        </p:txBody>
      </p:sp>
      <p:sp>
        <p:nvSpPr>
          <p:cNvPr id="36" name="Shape 34"/>
          <p:cNvSpPr/>
          <p:nvPr/>
        </p:nvSpPr>
        <p:spPr>
          <a:xfrm>
            <a:off x="6062472" y="1005840"/>
            <a:ext cx="1298448" cy="3200400"/>
          </a:xfrm>
          <a:prstGeom prst="roundRect">
            <a:avLst>
              <a:gd name="adj" fmla="val 5634"/>
            </a:avLst>
          </a:prstGeom>
          <a:solidFill>
            <a:srgbClr val="1A1A2E"/>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sp>
        <p:nvSpPr>
          <p:cNvPr id="37" name="Shape 35"/>
          <p:cNvSpPr/>
          <p:nvPr/>
        </p:nvSpPr>
        <p:spPr>
          <a:xfrm>
            <a:off x="6062472" y="1005840"/>
            <a:ext cx="1298448" cy="384048"/>
          </a:xfrm>
          <a:prstGeom prst="roundRect">
            <a:avLst>
              <a:gd name="adj" fmla="val 19048"/>
            </a:avLst>
          </a:prstGeom>
          <a:solidFill>
            <a:srgbClr val="22C55E">
              <a:alpha val="28000"/>
            </a:srgbClr>
          </a:solidFill>
          <a:ln w="6350">
            <a:solidFill>
              <a:srgbClr val="22C55E"/>
            </a:solidFill>
            <a:prstDash val="solid"/>
          </a:ln>
        </p:spPr>
        <p:txBody>
          <a:bodyPr/>
          <a:lstStyle/>
          <a:p>
            <a:endParaRPr lang="en-US"/>
          </a:p>
        </p:txBody>
      </p:sp>
      <p:sp>
        <p:nvSpPr>
          <p:cNvPr id="38" name="Text 36"/>
          <p:cNvSpPr/>
          <p:nvPr/>
        </p:nvSpPr>
        <p:spPr>
          <a:xfrm>
            <a:off x="6062472" y="1005840"/>
            <a:ext cx="1298448" cy="384048"/>
          </a:xfrm>
          <a:prstGeom prst="rect">
            <a:avLst/>
          </a:prstGeom>
          <a:noFill/>
          <a:ln/>
        </p:spPr>
        <p:txBody>
          <a:bodyPr wrap="square" lIns="0" tIns="0" rIns="0" bIns="0" rtlCol="0" anchor="ctr"/>
          <a:lstStyle/>
          <a:p>
            <a:pPr marL="0" indent="0" algn="ctr">
              <a:buNone/>
            </a:pPr>
            <a:r>
              <a:rPr lang="en-US" sz="1800" b="1" dirty="0">
                <a:solidFill>
                  <a:srgbClr val="22C55E"/>
                </a:solidFill>
                <a:latin typeface="Cambria" pitchFamily="34" charset="0"/>
                <a:ea typeface="Cambria" pitchFamily="34" charset="-122"/>
                <a:cs typeface="Cambria" pitchFamily="34" charset="-120"/>
              </a:rPr>
              <a:t>4</a:t>
            </a:r>
            <a:endParaRPr lang="en-US" sz="1800" dirty="0"/>
          </a:p>
        </p:txBody>
      </p:sp>
      <p:sp>
        <p:nvSpPr>
          <p:cNvPr id="39" name="Text 37"/>
          <p:cNvSpPr/>
          <p:nvPr/>
        </p:nvSpPr>
        <p:spPr>
          <a:xfrm>
            <a:off x="6108192" y="1463040"/>
            <a:ext cx="1207008" cy="5029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Human Gate</a:t>
            </a:r>
            <a:endParaRPr lang="en-US" sz="1100" dirty="0"/>
          </a:p>
        </p:txBody>
      </p:sp>
      <p:sp>
        <p:nvSpPr>
          <p:cNvPr id="40" name="Text 38"/>
          <p:cNvSpPr/>
          <p:nvPr/>
        </p:nvSpPr>
        <p:spPr>
          <a:xfrm>
            <a:off x="6108192" y="2011680"/>
            <a:ext cx="1207008" cy="347472"/>
          </a:xfrm>
          <a:prstGeom prst="rect">
            <a:avLst/>
          </a:prstGeom>
          <a:noFill/>
          <a:ln/>
        </p:spPr>
        <p:txBody>
          <a:bodyPr wrap="square" rtlCol="0" anchor="ctr"/>
          <a:lstStyle/>
          <a:p>
            <a:pPr marL="0" indent="0" algn="ctr">
              <a:buNone/>
            </a:pPr>
            <a:r>
              <a:rPr lang="en-US" sz="950" i="1" dirty="0">
                <a:solidFill>
                  <a:srgbClr val="94A3B8"/>
                </a:solidFill>
                <a:latin typeface="Calibri" pitchFamily="34" charset="0"/>
                <a:ea typeface="Calibri" pitchFamily="34" charset="-122"/>
                <a:cs typeface="Calibri" pitchFamily="34" charset="-120"/>
              </a:rPr>
              <a:t>Anti-rubber-stamp</a:t>
            </a:r>
            <a:endParaRPr lang="en-US" sz="950" dirty="0"/>
          </a:p>
        </p:txBody>
      </p:sp>
      <p:sp>
        <p:nvSpPr>
          <p:cNvPr id="41" name="Shape 39"/>
          <p:cNvSpPr/>
          <p:nvPr/>
        </p:nvSpPr>
        <p:spPr>
          <a:xfrm>
            <a:off x="6208776" y="2450592"/>
            <a:ext cx="1005840" cy="256032"/>
          </a:xfrm>
          <a:prstGeom prst="roundRect">
            <a:avLst>
              <a:gd name="adj" fmla="val 17857"/>
            </a:avLst>
          </a:prstGeom>
          <a:solidFill>
            <a:srgbClr val="84CC16">
              <a:alpha val="25000"/>
            </a:srgbClr>
          </a:solidFill>
          <a:ln w="6350">
            <a:solidFill>
              <a:srgbClr val="84CC16"/>
            </a:solidFill>
            <a:prstDash val="solid"/>
          </a:ln>
        </p:spPr>
        <p:txBody>
          <a:bodyPr/>
          <a:lstStyle/>
          <a:p>
            <a:endParaRPr lang="en-US"/>
          </a:p>
        </p:txBody>
      </p:sp>
      <p:sp>
        <p:nvSpPr>
          <p:cNvPr id="42" name="Text 40"/>
          <p:cNvSpPr/>
          <p:nvPr/>
        </p:nvSpPr>
        <p:spPr>
          <a:xfrm>
            <a:off x="6208776" y="2450592"/>
            <a:ext cx="1005840" cy="256032"/>
          </a:xfrm>
          <a:prstGeom prst="rect">
            <a:avLst/>
          </a:prstGeom>
          <a:noFill/>
          <a:ln/>
        </p:spPr>
        <p:txBody>
          <a:bodyPr wrap="square" lIns="0" tIns="0" rIns="0" bIns="0" rtlCol="0" anchor="ctr"/>
          <a:lstStyle/>
          <a:p>
            <a:pPr marL="0" indent="0" algn="ctr">
              <a:buNone/>
            </a:pPr>
            <a:r>
              <a:rPr lang="en-US" sz="800" b="1" dirty="0">
                <a:solidFill>
                  <a:srgbClr val="BEF264"/>
                </a:solidFill>
                <a:latin typeface="Calibri" pitchFamily="34" charset="0"/>
                <a:ea typeface="Calibri" pitchFamily="34" charset="-122"/>
                <a:cs typeface="Calibri" pitchFamily="34" charset="-120"/>
              </a:rPr>
              <a:t>LIVE</a:t>
            </a:r>
            <a:endParaRPr lang="en-US" sz="800" dirty="0"/>
          </a:p>
        </p:txBody>
      </p:sp>
      <p:sp>
        <p:nvSpPr>
          <p:cNvPr id="43" name="Shape 41"/>
          <p:cNvSpPr/>
          <p:nvPr/>
        </p:nvSpPr>
        <p:spPr>
          <a:xfrm>
            <a:off x="7370064" y="2578608"/>
            <a:ext cx="128016" cy="0"/>
          </a:xfrm>
          <a:prstGeom prst="line">
            <a:avLst/>
          </a:prstGeom>
          <a:noFill/>
          <a:ln w="12700">
            <a:solidFill>
              <a:srgbClr val="475569"/>
            </a:solidFill>
            <a:prstDash val="solid"/>
          </a:ln>
        </p:spPr>
        <p:txBody>
          <a:bodyPr/>
          <a:lstStyle/>
          <a:p>
            <a:endParaRPr lang="en-US"/>
          </a:p>
        </p:txBody>
      </p:sp>
      <p:sp>
        <p:nvSpPr>
          <p:cNvPr id="44" name="Shape 42"/>
          <p:cNvSpPr/>
          <p:nvPr/>
        </p:nvSpPr>
        <p:spPr>
          <a:xfrm>
            <a:off x="7498080" y="1005840"/>
            <a:ext cx="1298448" cy="3200400"/>
          </a:xfrm>
          <a:prstGeom prst="roundRect">
            <a:avLst>
              <a:gd name="adj" fmla="val 5634"/>
            </a:avLst>
          </a:prstGeom>
          <a:solidFill>
            <a:srgbClr val="1A1A2E"/>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sp>
        <p:nvSpPr>
          <p:cNvPr id="45" name="Shape 43"/>
          <p:cNvSpPr/>
          <p:nvPr/>
        </p:nvSpPr>
        <p:spPr>
          <a:xfrm>
            <a:off x="7498080" y="1005840"/>
            <a:ext cx="1298448" cy="384048"/>
          </a:xfrm>
          <a:prstGeom prst="roundRect">
            <a:avLst>
              <a:gd name="adj" fmla="val 19048"/>
            </a:avLst>
          </a:prstGeom>
          <a:solidFill>
            <a:srgbClr val="22C55E">
              <a:alpha val="28000"/>
            </a:srgbClr>
          </a:solidFill>
          <a:ln w="6350">
            <a:solidFill>
              <a:srgbClr val="22C55E"/>
            </a:solidFill>
            <a:prstDash val="solid"/>
          </a:ln>
        </p:spPr>
        <p:txBody>
          <a:bodyPr/>
          <a:lstStyle/>
          <a:p>
            <a:endParaRPr lang="en-US"/>
          </a:p>
        </p:txBody>
      </p:sp>
      <p:sp>
        <p:nvSpPr>
          <p:cNvPr id="46" name="Text 44"/>
          <p:cNvSpPr/>
          <p:nvPr/>
        </p:nvSpPr>
        <p:spPr>
          <a:xfrm>
            <a:off x="7498080" y="1005840"/>
            <a:ext cx="1298448" cy="384048"/>
          </a:xfrm>
          <a:prstGeom prst="rect">
            <a:avLst/>
          </a:prstGeom>
          <a:noFill/>
          <a:ln/>
        </p:spPr>
        <p:txBody>
          <a:bodyPr wrap="square" lIns="0" tIns="0" rIns="0" bIns="0" rtlCol="0" anchor="ctr"/>
          <a:lstStyle/>
          <a:p>
            <a:pPr marL="0" indent="0" algn="ctr">
              <a:buNone/>
            </a:pPr>
            <a:r>
              <a:rPr lang="en-US" sz="1800" b="1" dirty="0">
                <a:solidFill>
                  <a:srgbClr val="22C55E"/>
                </a:solidFill>
                <a:latin typeface="Cambria" pitchFamily="34" charset="0"/>
                <a:ea typeface="Cambria" pitchFamily="34" charset="-122"/>
                <a:cs typeface="Cambria" pitchFamily="34" charset="-120"/>
              </a:rPr>
              <a:t>5</a:t>
            </a:r>
            <a:endParaRPr lang="en-US" sz="1800" dirty="0"/>
          </a:p>
        </p:txBody>
      </p:sp>
      <p:sp>
        <p:nvSpPr>
          <p:cNvPr id="47" name="Text 45"/>
          <p:cNvSpPr/>
          <p:nvPr/>
        </p:nvSpPr>
        <p:spPr>
          <a:xfrm>
            <a:off x="7543800" y="1463040"/>
            <a:ext cx="1207008" cy="5029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Audit Trail</a:t>
            </a:r>
            <a:endParaRPr lang="en-US" sz="1100" dirty="0"/>
          </a:p>
        </p:txBody>
      </p:sp>
      <p:sp>
        <p:nvSpPr>
          <p:cNvPr id="48" name="Text 46"/>
          <p:cNvSpPr/>
          <p:nvPr/>
        </p:nvSpPr>
        <p:spPr>
          <a:xfrm>
            <a:off x="7543800" y="2011680"/>
            <a:ext cx="1207008" cy="347472"/>
          </a:xfrm>
          <a:prstGeom prst="rect">
            <a:avLst/>
          </a:prstGeom>
          <a:noFill/>
          <a:ln/>
        </p:spPr>
        <p:txBody>
          <a:bodyPr wrap="square" rtlCol="0" anchor="ctr"/>
          <a:lstStyle/>
          <a:p>
            <a:pPr marL="0" indent="0" algn="ctr">
              <a:buNone/>
            </a:pPr>
            <a:r>
              <a:rPr lang="en-US" sz="950" i="1" dirty="0">
                <a:solidFill>
                  <a:srgbClr val="94A3B8"/>
                </a:solidFill>
                <a:latin typeface="Calibri" pitchFamily="34" charset="0"/>
                <a:ea typeface="Calibri" pitchFamily="34" charset="-122"/>
                <a:cs typeface="Calibri" pitchFamily="34" charset="-120"/>
              </a:rPr>
              <a:t>audit.py</a:t>
            </a:r>
            <a:endParaRPr lang="en-US" sz="950" dirty="0"/>
          </a:p>
        </p:txBody>
      </p:sp>
      <p:sp>
        <p:nvSpPr>
          <p:cNvPr id="49" name="Shape 47"/>
          <p:cNvSpPr/>
          <p:nvPr/>
        </p:nvSpPr>
        <p:spPr>
          <a:xfrm>
            <a:off x="7644384" y="2450592"/>
            <a:ext cx="1005840" cy="256032"/>
          </a:xfrm>
          <a:prstGeom prst="roundRect">
            <a:avLst>
              <a:gd name="adj" fmla="val 17857"/>
            </a:avLst>
          </a:prstGeom>
          <a:solidFill>
            <a:srgbClr val="84CC16">
              <a:alpha val="25000"/>
            </a:srgbClr>
          </a:solidFill>
          <a:ln w="6350">
            <a:solidFill>
              <a:srgbClr val="84CC16"/>
            </a:solidFill>
            <a:prstDash val="solid"/>
          </a:ln>
        </p:spPr>
        <p:txBody>
          <a:bodyPr/>
          <a:lstStyle/>
          <a:p>
            <a:endParaRPr lang="en-US"/>
          </a:p>
        </p:txBody>
      </p:sp>
      <p:sp>
        <p:nvSpPr>
          <p:cNvPr id="50" name="Text 48"/>
          <p:cNvSpPr/>
          <p:nvPr/>
        </p:nvSpPr>
        <p:spPr>
          <a:xfrm>
            <a:off x="7644384" y="2450592"/>
            <a:ext cx="1005840" cy="256032"/>
          </a:xfrm>
          <a:prstGeom prst="rect">
            <a:avLst/>
          </a:prstGeom>
          <a:noFill/>
          <a:ln/>
        </p:spPr>
        <p:txBody>
          <a:bodyPr wrap="square" lIns="0" tIns="0" rIns="0" bIns="0" rtlCol="0" anchor="ctr"/>
          <a:lstStyle/>
          <a:p>
            <a:pPr marL="0" indent="0" algn="ctr">
              <a:buNone/>
            </a:pPr>
            <a:r>
              <a:rPr lang="en-US" sz="800" b="1" dirty="0">
                <a:solidFill>
                  <a:srgbClr val="BEF264"/>
                </a:solidFill>
                <a:latin typeface="Calibri" pitchFamily="34" charset="0"/>
                <a:ea typeface="Calibri" pitchFamily="34" charset="-122"/>
                <a:cs typeface="Calibri" pitchFamily="34" charset="-120"/>
              </a:rPr>
              <a:t>LIVE</a:t>
            </a:r>
            <a:endParaRPr lang="en-US" sz="800" dirty="0"/>
          </a:p>
        </p:txBody>
      </p:sp>
      <p:sp>
        <p:nvSpPr>
          <p:cNvPr id="51" name="Shape 49"/>
          <p:cNvSpPr/>
          <p:nvPr/>
        </p:nvSpPr>
        <p:spPr>
          <a:xfrm>
            <a:off x="320040" y="4535424"/>
            <a:ext cx="8503920" cy="475488"/>
          </a:xfrm>
          <a:prstGeom prst="roundRect">
            <a:avLst>
              <a:gd name="adj" fmla="val 15385"/>
            </a:avLst>
          </a:prstGeom>
          <a:solidFill>
            <a:srgbClr val="13131F"/>
          </a:solidFill>
          <a:ln w="12700">
            <a:solidFill>
              <a:srgbClr val="7C3AED"/>
            </a:solidFill>
            <a:prstDash val="solid"/>
          </a:ln>
          <a:effectLst>
            <a:outerShdw blurRad="76200" dist="25400" dir="8100000" algn="bl" rotWithShape="0">
              <a:srgbClr val="000000">
                <a:alpha val="20000"/>
              </a:srgbClr>
            </a:outerShdw>
          </a:effectLst>
        </p:spPr>
        <p:txBody>
          <a:bodyPr/>
          <a:lstStyle/>
          <a:p>
            <a:endParaRPr lang="en-US"/>
          </a:p>
        </p:txBody>
      </p:sp>
      <p:sp>
        <p:nvSpPr>
          <p:cNvPr id="52" name="Text 50"/>
          <p:cNvSpPr/>
          <p:nvPr/>
        </p:nvSpPr>
        <p:spPr>
          <a:xfrm>
            <a:off x="320040" y="4535424"/>
            <a:ext cx="8503920" cy="475488"/>
          </a:xfrm>
          <a:prstGeom prst="rect">
            <a:avLst/>
          </a:prstGeom>
          <a:noFill/>
          <a:ln/>
        </p:spPr>
        <p:txBody>
          <a:bodyPr wrap="square" lIns="0" tIns="0" rIns="0" bIns="0" rtlCol="0" anchor="ctr"/>
          <a:lstStyle/>
          <a:p>
            <a:pPr marL="0" indent="0" algn="ctr">
              <a:buNone/>
            </a:pPr>
            <a:r>
              <a:rPr lang="en-US" sz="1200" i="1" dirty="0">
                <a:solidFill>
                  <a:srgbClr val="A78BFA"/>
                </a:solidFill>
                <a:latin typeface="Calibri" pitchFamily="34" charset="0"/>
                <a:ea typeface="Calibri" pitchFamily="34" charset="-122"/>
                <a:cs typeface="Calibri" pitchFamily="34" charset="-120"/>
              </a:rPr>
              <a:t>Streamlit UI  ·  Surfaces all 6 layers to the analyst in a single workbench view</a:t>
            </a:r>
            <a:endParaRPr lang="en-US" sz="1200" dirty="0"/>
          </a:p>
        </p:txBody>
      </p:sp>
      <p:pic>
        <p:nvPicPr>
          <p:cNvPr id="54" name="AuditTrailScreenshot" descr="Audit trail with actor, action, alert, and timestamp">
            <a:extLst>
              <a:ext uri="{FF2B5EF4-FFF2-40B4-BE49-F238E27FC236}">
                <a16:creationId xmlns:a16="http://schemas.microsoft.com/office/drawing/2014/main" id="{AF970705-D74B-1378-33C9-CA644E002077}"/>
              </a:ext>
            </a:extLst>
          </p:cNvPr>
          <p:cNvPicPr>
            <a:picLocks noChangeAspect="1"/>
          </p:cNvPicPr>
          <p:nvPr/>
        </p:nvPicPr>
        <p:blipFill>
          <a:blip r:embed="rId5"/>
          <a:stretch>
            <a:fillRect/>
          </a:stretch>
        </p:blipFill>
        <p:spPr>
          <a:xfrm>
            <a:off x="1589780" y="2297154"/>
            <a:ext cx="5954020" cy="2217834"/>
          </a:xfrm>
          <a:prstGeom prst="rect">
            <a:avLst/>
          </a:prstGeom>
          <a:ln w="6350">
            <a:solidFill>
              <a:srgbClr val="26263D"/>
            </a:solidFill>
          </a:ln>
        </p:spPr>
      </p:pic>
      <p:pic>
        <p:nvPicPr>
          <p:cNvPr id="53" name="Slide 11 - Leishka">
            <a:hlinkClick r:id="" action="ppaction://media"/>
            <a:extLst>
              <a:ext uri="{FF2B5EF4-FFF2-40B4-BE49-F238E27FC236}">
                <a16:creationId xmlns:a16="http://schemas.microsoft.com/office/drawing/2014/main" id="{308C1A95-81AF-E517-B9D6-0ADD7C717D3B}"/>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446008" y="4455953"/>
            <a:ext cx="609600" cy="609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4494" fill="hold"/>
                                        <p:tgtEl>
                                          <p:spTgt spid="5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53"/>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0D0D14"/>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Evidence Completeness Engine</a:t>
            </a:r>
            <a:endParaRPr lang="en-US" sz="3400" dirty="0"/>
          </a:p>
        </p:txBody>
      </p:sp>
      <p:sp>
        <p:nvSpPr>
          <p:cNvPr id="3" name="Text 1"/>
          <p:cNvSpPr/>
          <p:nvPr/>
        </p:nvSpPr>
        <p:spPr>
          <a:xfrm>
            <a:off x="457200" y="804672"/>
            <a:ext cx="8229600" cy="256032"/>
          </a:xfrm>
          <a:prstGeom prst="rect">
            <a:avLst/>
          </a:prstGeom>
          <a:noFill/>
          <a:ln/>
        </p:spPr>
        <p:txBody>
          <a:bodyPr wrap="square" rtlCol="0" anchor="ctr"/>
          <a:lstStyle/>
          <a:p>
            <a:pPr marL="0" indent="0" algn="l">
              <a:buNone/>
            </a:pPr>
            <a:r>
              <a:rPr lang="en-US" sz="1100" i="1" dirty="0">
                <a:solidFill>
                  <a:srgbClr val="94A3B8"/>
                </a:solidFill>
                <a:latin typeface="Calibri" pitchFamily="34" charset="0"/>
                <a:ea typeface="Calibri" pitchFamily="34" charset="-122"/>
                <a:cs typeface="Calibri" pitchFamily="34" charset="-120"/>
              </a:rPr>
              <a:t>91.1% is not hardcoded. It is computed from source evidence.</a:t>
            </a:r>
            <a:endParaRPr lang="en-US" sz="1100" dirty="0"/>
          </a:p>
        </p:txBody>
      </p:sp>
      <p:sp>
        <p:nvSpPr>
          <p:cNvPr id="4" name="Shape 2"/>
          <p:cNvSpPr/>
          <p:nvPr/>
        </p:nvSpPr>
        <p:spPr>
          <a:xfrm>
            <a:off x="365760" y="1143000"/>
            <a:ext cx="8412480" cy="566928"/>
          </a:xfrm>
          <a:prstGeom prst="roundRect">
            <a:avLst>
              <a:gd name="adj" fmla="val 14516"/>
            </a:avLst>
          </a:prstGeom>
          <a:solidFill>
            <a:srgbClr val="1A1A2E"/>
          </a:solidFill>
          <a:ln w="12700">
            <a:solidFill>
              <a:srgbClr val="7C3AED"/>
            </a:solidFill>
            <a:prstDash val="solid"/>
          </a:ln>
          <a:effectLst>
            <a:outerShdw blurRad="76200" dist="25400" dir="8100000" algn="bl" rotWithShape="0">
              <a:srgbClr val="000000">
                <a:alpha val="20000"/>
              </a:srgbClr>
            </a:outerShdw>
          </a:effectLst>
        </p:spPr>
        <p:txBody>
          <a:bodyPr/>
          <a:lstStyle/>
          <a:p>
            <a:endParaRPr lang="en-US"/>
          </a:p>
        </p:txBody>
      </p:sp>
      <p:sp>
        <p:nvSpPr>
          <p:cNvPr id="5" name="Text 3"/>
          <p:cNvSpPr/>
          <p:nvPr/>
        </p:nvSpPr>
        <p:spPr>
          <a:xfrm>
            <a:off x="365760" y="1143000"/>
            <a:ext cx="8412480" cy="566928"/>
          </a:xfrm>
          <a:prstGeom prst="rect">
            <a:avLst/>
          </a:prstGeom>
          <a:noFill/>
          <a:ln/>
        </p:spPr>
        <p:txBody>
          <a:bodyPr wrap="square" lIns="0" tIns="0" rIns="0" bIns="0" rtlCol="0" anchor="ctr"/>
          <a:lstStyle/>
          <a:p>
            <a:pPr marL="0" indent="0" algn="ctr">
              <a:buNone/>
            </a:pPr>
            <a:r>
              <a:rPr lang="en-US" sz="1400" b="1" dirty="0">
                <a:solidFill>
                  <a:srgbClr val="A78BFA"/>
                </a:solidFill>
                <a:latin typeface="Calibri" pitchFamily="34" charset="0"/>
                <a:ea typeface="Calibri" pitchFamily="34" charset="-122"/>
                <a:cs typeface="Calibri" pitchFamily="34" charset="-120"/>
              </a:rPr>
              <a:t>Evidence Completeness  =  available evidence items  /  total required evidence items</a:t>
            </a:r>
            <a:endParaRPr lang="en-US" sz="1400" dirty="0"/>
          </a:p>
        </p:txBody>
      </p:sp>
      <p:graphicFrame>
        <p:nvGraphicFramePr>
          <p:cNvPr id="6" name="Chart 0"/>
          <p:cNvGraphicFramePr/>
          <p:nvPr/>
        </p:nvGraphicFramePr>
        <p:xfrm>
          <a:off x="365760" y="1828800"/>
          <a:ext cx="5120640" cy="3017520"/>
        </p:xfrm>
        <a:graphic>
          <a:graphicData uri="http://schemas.openxmlformats.org/drawingml/2006/chart">
            <c:chart xmlns:c="http://schemas.openxmlformats.org/drawingml/2006/chart" xmlns:r="http://schemas.openxmlformats.org/officeDocument/2006/relationships" r:id="rId5"/>
          </a:graphicData>
        </a:graphic>
      </p:graphicFrame>
      <p:sp>
        <p:nvSpPr>
          <p:cNvPr id="7" name="Shape 4"/>
          <p:cNvSpPr/>
          <p:nvPr/>
        </p:nvSpPr>
        <p:spPr>
          <a:xfrm>
            <a:off x="5623560" y="1828800"/>
            <a:ext cx="3154680" cy="658368"/>
          </a:xfrm>
          <a:prstGeom prst="roundRect">
            <a:avLst>
              <a:gd name="adj" fmla="val 9722"/>
            </a:avLst>
          </a:prstGeom>
          <a:solidFill>
            <a:srgbClr val="13131F"/>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sp>
        <p:nvSpPr>
          <p:cNvPr id="8" name="Text 5"/>
          <p:cNvSpPr/>
          <p:nvPr/>
        </p:nvSpPr>
        <p:spPr>
          <a:xfrm>
            <a:off x="5650992" y="1901952"/>
            <a:ext cx="804672" cy="502920"/>
          </a:xfrm>
          <a:prstGeom prst="rect">
            <a:avLst/>
          </a:prstGeom>
          <a:noFill/>
          <a:ln/>
        </p:spPr>
        <p:txBody>
          <a:bodyPr wrap="square" rtlCol="0" anchor="ctr"/>
          <a:lstStyle/>
          <a:p>
            <a:pPr marL="0" indent="0" algn="ctr">
              <a:buNone/>
            </a:pPr>
            <a:r>
              <a:rPr lang="en-US" sz="1800" b="1" dirty="0">
                <a:solidFill>
                  <a:srgbClr val="EF4444"/>
                </a:solidFill>
                <a:latin typeface="Calibri" pitchFamily="34" charset="0"/>
                <a:ea typeface="Calibri" pitchFamily="34" charset="-122"/>
                <a:cs typeface="Calibri" pitchFamily="34" charset="-120"/>
              </a:rPr>
              <a:t>50%</a:t>
            </a:r>
            <a:endParaRPr lang="en-US" sz="1800" dirty="0"/>
          </a:p>
        </p:txBody>
      </p:sp>
      <p:sp>
        <p:nvSpPr>
          <p:cNvPr id="9" name="Text 6"/>
          <p:cNvSpPr/>
          <p:nvPr/>
        </p:nvSpPr>
        <p:spPr>
          <a:xfrm>
            <a:off x="6492240" y="1883664"/>
            <a:ext cx="2194560" cy="237744"/>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1 Blocked Case</a:t>
            </a:r>
            <a:endParaRPr lang="en-US" sz="1100" dirty="0"/>
          </a:p>
        </p:txBody>
      </p:sp>
      <p:sp>
        <p:nvSpPr>
          <p:cNvPr id="10" name="Text 7"/>
          <p:cNvSpPr/>
          <p:nvPr/>
        </p:nvSpPr>
        <p:spPr>
          <a:xfrm>
            <a:off x="6492240" y="2139696"/>
            <a:ext cx="2194560" cy="274320"/>
          </a:xfrm>
          <a:prstGeom prst="rect">
            <a:avLst/>
          </a:prstGeom>
          <a:noFill/>
          <a:ln/>
        </p:spPr>
        <p:txBody>
          <a:bodyPr wrap="square" rtlCol="0" anchor="ctr"/>
          <a:lstStyle/>
          <a:p>
            <a:pPr marL="0" indent="0" algn="l">
              <a:buNone/>
            </a:pPr>
            <a:r>
              <a:rPr lang="en-US" sz="950" dirty="0">
                <a:solidFill>
                  <a:srgbClr val="94A3B8"/>
                </a:solidFill>
                <a:latin typeface="Calibri" pitchFamily="34" charset="0"/>
                <a:ea typeface="Calibri" pitchFamily="34" charset="-122"/>
                <a:cs typeface="Calibri" pitchFamily="34" charset="-120"/>
              </a:rPr>
              <a:t>ALERT006 only. Review gate blocks completion.</a:t>
            </a:r>
            <a:endParaRPr lang="en-US" sz="950" dirty="0"/>
          </a:p>
        </p:txBody>
      </p:sp>
      <p:sp>
        <p:nvSpPr>
          <p:cNvPr id="11" name="Shape 8"/>
          <p:cNvSpPr/>
          <p:nvPr/>
        </p:nvSpPr>
        <p:spPr>
          <a:xfrm>
            <a:off x="5623560" y="2596896"/>
            <a:ext cx="3154680" cy="658368"/>
          </a:xfrm>
          <a:prstGeom prst="roundRect">
            <a:avLst>
              <a:gd name="adj" fmla="val 9722"/>
            </a:avLst>
          </a:prstGeom>
          <a:solidFill>
            <a:srgbClr val="13131F"/>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sp>
        <p:nvSpPr>
          <p:cNvPr id="12" name="Text 9"/>
          <p:cNvSpPr/>
          <p:nvPr/>
        </p:nvSpPr>
        <p:spPr>
          <a:xfrm>
            <a:off x="5650992" y="2670048"/>
            <a:ext cx="804672" cy="502920"/>
          </a:xfrm>
          <a:prstGeom prst="rect">
            <a:avLst/>
          </a:prstGeom>
          <a:noFill/>
          <a:ln/>
        </p:spPr>
        <p:txBody>
          <a:bodyPr wrap="square" rtlCol="0" anchor="ctr"/>
          <a:lstStyle/>
          <a:p>
            <a:pPr marL="0" indent="0" algn="ctr">
              <a:buNone/>
            </a:pPr>
            <a:r>
              <a:rPr lang="en-US" sz="1800" b="1" dirty="0">
                <a:solidFill>
                  <a:srgbClr val="F59E0B"/>
                </a:solidFill>
                <a:latin typeface="Calibri" pitchFamily="34" charset="0"/>
                <a:ea typeface="Calibri" pitchFamily="34" charset="-122"/>
                <a:cs typeface="Calibri" pitchFamily="34" charset="-120"/>
              </a:rPr>
              <a:t>60-70%</a:t>
            </a:r>
            <a:endParaRPr lang="en-US" sz="1800" dirty="0"/>
          </a:p>
        </p:txBody>
      </p:sp>
      <p:sp>
        <p:nvSpPr>
          <p:cNvPr id="13" name="Text 10"/>
          <p:cNvSpPr/>
          <p:nvPr/>
        </p:nvSpPr>
        <p:spPr>
          <a:xfrm>
            <a:off x="6492240" y="2651760"/>
            <a:ext cx="2194560" cy="237744"/>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2 Below Threshold</a:t>
            </a:r>
            <a:endParaRPr lang="en-US" sz="1100" dirty="0"/>
          </a:p>
        </p:txBody>
      </p:sp>
      <p:sp>
        <p:nvSpPr>
          <p:cNvPr id="14" name="Text 11"/>
          <p:cNvSpPr/>
          <p:nvPr/>
        </p:nvSpPr>
        <p:spPr>
          <a:xfrm>
            <a:off x="6492240" y="2907792"/>
            <a:ext cx="2194560" cy="274320"/>
          </a:xfrm>
          <a:prstGeom prst="rect">
            <a:avLst/>
          </a:prstGeom>
          <a:noFill/>
          <a:ln/>
        </p:spPr>
        <p:txBody>
          <a:bodyPr wrap="square" rtlCol="0" anchor="ctr"/>
          <a:lstStyle/>
          <a:p>
            <a:pPr marL="0" indent="0" algn="l">
              <a:buNone/>
            </a:pPr>
            <a:r>
              <a:rPr lang="en-US" sz="950" dirty="0">
                <a:solidFill>
                  <a:srgbClr val="94A3B8"/>
                </a:solidFill>
                <a:latin typeface="Calibri" pitchFamily="34" charset="0"/>
                <a:ea typeface="Calibri" pitchFamily="34" charset="-122"/>
                <a:cs typeface="Calibri" pitchFamily="34" charset="-120"/>
              </a:rPr>
              <a:t>ALERT002 at 60%, ALERT005 at 70%. Review proceeds with caution.</a:t>
            </a:r>
            <a:endParaRPr lang="en-US" sz="950" dirty="0"/>
          </a:p>
        </p:txBody>
      </p:sp>
      <p:sp>
        <p:nvSpPr>
          <p:cNvPr id="15" name="Shape 12"/>
          <p:cNvSpPr/>
          <p:nvPr/>
        </p:nvSpPr>
        <p:spPr>
          <a:xfrm>
            <a:off x="5623560" y="3364992"/>
            <a:ext cx="3154680" cy="658368"/>
          </a:xfrm>
          <a:prstGeom prst="roundRect">
            <a:avLst>
              <a:gd name="adj" fmla="val 9722"/>
            </a:avLst>
          </a:prstGeom>
          <a:solidFill>
            <a:srgbClr val="13131F"/>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sp>
        <p:nvSpPr>
          <p:cNvPr id="16" name="Text 13"/>
          <p:cNvSpPr/>
          <p:nvPr/>
        </p:nvSpPr>
        <p:spPr>
          <a:xfrm>
            <a:off x="5650992" y="3438144"/>
            <a:ext cx="804672" cy="502920"/>
          </a:xfrm>
          <a:prstGeom prst="rect">
            <a:avLst/>
          </a:prstGeom>
          <a:noFill/>
          <a:ln/>
        </p:spPr>
        <p:txBody>
          <a:bodyPr wrap="square" rtlCol="0" anchor="ctr"/>
          <a:lstStyle/>
          <a:p>
            <a:pPr marL="0" indent="0" algn="ctr">
              <a:buNone/>
            </a:pPr>
            <a:r>
              <a:rPr lang="en-US" sz="1800" b="1" dirty="0">
                <a:solidFill>
                  <a:srgbClr val="84CC16"/>
                </a:solidFill>
                <a:latin typeface="Calibri" pitchFamily="34" charset="0"/>
                <a:ea typeface="Calibri" pitchFamily="34" charset="-122"/>
                <a:cs typeface="Calibri" pitchFamily="34" charset="-120"/>
              </a:rPr>
              <a:t>93-94%</a:t>
            </a:r>
            <a:endParaRPr lang="en-US" sz="1800" dirty="0"/>
          </a:p>
        </p:txBody>
      </p:sp>
      <p:sp>
        <p:nvSpPr>
          <p:cNvPr id="17" name="Text 14"/>
          <p:cNvSpPr/>
          <p:nvPr/>
        </p:nvSpPr>
        <p:spPr>
          <a:xfrm>
            <a:off x="6492240" y="3419856"/>
            <a:ext cx="2194560" cy="237744"/>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36 Ready Cases</a:t>
            </a:r>
            <a:endParaRPr lang="en-US" sz="1100" dirty="0"/>
          </a:p>
        </p:txBody>
      </p:sp>
      <p:sp>
        <p:nvSpPr>
          <p:cNvPr id="18" name="Text 15"/>
          <p:cNvSpPr/>
          <p:nvPr/>
        </p:nvSpPr>
        <p:spPr>
          <a:xfrm>
            <a:off x="6492240" y="3675888"/>
            <a:ext cx="2194560" cy="274320"/>
          </a:xfrm>
          <a:prstGeom prst="rect">
            <a:avLst/>
          </a:prstGeom>
          <a:noFill/>
          <a:ln/>
        </p:spPr>
        <p:txBody>
          <a:bodyPr wrap="square" rtlCol="0" anchor="ctr"/>
          <a:lstStyle/>
          <a:p>
            <a:pPr marL="0" indent="0" algn="l">
              <a:buNone/>
            </a:pPr>
            <a:r>
              <a:rPr lang="en-US" sz="950" dirty="0">
                <a:solidFill>
                  <a:srgbClr val="94A3B8"/>
                </a:solidFill>
                <a:latin typeface="Calibri" pitchFamily="34" charset="0"/>
                <a:ea typeface="Calibri" pitchFamily="34" charset="-122"/>
                <a:cs typeface="Calibri" pitchFamily="34" charset="-120"/>
              </a:rPr>
              <a:t>Pre-assembled by Lumen. Analyst can review.</a:t>
            </a:r>
            <a:endParaRPr lang="en-US" sz="950" dirty="0"/>
          </a:p>
        </p:txBody>
      </p:sp>
      <p:sp>
        <p:nvSpPr>
          <p:cNvPr id="19" name="Shape 16"/>
          <p:cNvSpPr/>
          <p:nvPr/>
        </p:nvSpPr>
        <p:spPr>
          <a:xfrm>
            <a:off x="5623560" y="4133088"/>
            <a:ext cx="3154680" cy="658368"/>
          </a:xfrm>
          <a:prstGeom prst="roundRect">
            <a:avLst>
              <a:gd name="adj" fmla="val 9722"/>
            </a:avLst>
          </a:prstGeom>
          <a:solidFill>
            <a:srgbClr val="13131F"/>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sp>
        <p:nvSpPr>
          <p:cNvPr id="20" name="Text 17"/>
          <p:cNvSpPr/>
          <p:nvPr/>
        </p:nvSpPr>
        <p:spPr>
          <a:xfrm>
            <a:off x="5650992" y="4206240"/>
            <a:ext cx="804672" cy="502920"/>
          </a:xfrm>
          <a:prstGeom prst="rect">
            <a:avLst/>
          </a:prstGeom>
          <a:noFill/>
          <a:ln/>
        </p:spPr>
        <p:txBody>
          <a:bodyPr wrap="square" rtlCol="0" anchor="ctr"/>
          <a:lstStyle/>
          <a:p>
            <a:pPr marL="0" indent="0" algn="ctr">
              <a:buNone/>
            </a:pPr>
            <a:r>
              <a:rPr lang="en-US" sz="1800" b="1" dirty="0">
                <a:solidFill>
                  <a:srgbClr val="A78BFA"/>
                </a:solidFill>
                <a:latin typeface="Calibri" pitchFamily="34" charset="0"/>
                <a:ea typeface="Calibri" pitchFamily="34" charset="-122"/>
                <a:cs typeface="Calibri" pitchFamily="34" charset="-120"/>
              </a:rPr>
              <a:t>91.1%</a:t>
            </a:r>
            <a:endParaRPr lang="en-US" sz="1800" dirty="0"/>
          </a:p>
        </p:txBody>
      </p:sp>
      <p:sp>
        <p:nvSpPr>
          <p:cNvPr id="21" name="Text 18"/>
          <p:cNvSpPr/>
          <p:nvPr/>
        </p:nvSpPr>
        <p:spPr>
          <a:xfrm>
            <a:off x="6492240" y="4187952"/>
            <a:ext cx="2194560" cy="237744"/>
          </a:xfrm>
          <a:prstGeom prst="rect">
            <a:avLst/>
          </a:prstGeom>
          <a:noFill/>
          <a:ln/>
        </p:spPr>
        <p:txBody>
          <a:bodyPr wrap="square"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Overall Average</a:t>
            </a:r>
            <a:endParaRPr lang="en-US" sz="1100" dirty="0"/>
          </a:p>
        </p:txBody>
      </p:sp>
      <p:sp>
        <p:nvSpPr>
          <p:cNvPr id="22" name="Text 19"/>
          <p:cNvSpPr/>
          <p:nvPr/>
        </p:nvSpPr>
        <p:spPr>
          <a:xfrm>
            <a:off x="6492240" y="4443984"/>
            <a:ext cx="2194560" cy="274320"/>
          </a:xfrm>
          <a:prstGeom prst="rect">
            <a:avLst/>
          </a:prstGeom>
          <a:noFill/>
          <a:ln/>
        </p:spPr>
        <p:txBody>
          <a:bodyPr wrap="square" rtlCol="0" anchor="ctr"/>
          <a:lstStyle/>
          <a:p>
            <a:pPr marL="0" indent="0" algn="l">
              <a:buNone/>
            </a:pPr>
            <a:r>
              <a:rPr lang="en-US" sz="950" dirty="0">
                <a:solidFill>
                  <a:srgbClr val="94A3B8"/>
                </a:solidFill>
                <a:latin typeface="Calibri" pitchFamily="34" charset="0"/>
                <a:ea typeface="Calibri" pitchFamily="34" charset="-122"/>
                <a:cs typeface="Calibri" pitchFamily="34" charset="-120"/>
              </a:rPr>
              <a:t>Evidence completeness computed from source data. Not hardcoded.</a:t>
            </a:r>
            <a:endParaRPr lang="en-US" sz="950" dirty="0"/>
          </a:p>
        </p:txBody>
      </p:sp>
      <p:pic>
        <p:nvPicPr>
          <p:cNvPr id="23" name="Slide 12 - Leishka">
            <a:hlinkClick r:id="" action="ppaction://media"/>
            <a:extLst>
              <a:ext uri="{FF2B5EF4-FFF2-40B4-BE49-F238E27FC236}">
                <a16:creationId xmlns:a16="http://schemas.microsoft.com/office/drawing/2014/main" id="{28A96CB9-9039-730C-40CB-00BD17E6E0F3}"/>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328102" y="4338828"/>
            <a:ext cx="609600" cy="609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0547"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3"/>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0D14"/>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What Changes on Monday Morning</a:t>
            </a:r>
            <a:endParaRPr lang="en-US" sz="2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65760" y="868680"/>
          <a:ext cx="8412480" cy="3660000"/>
        </p:xfrm>
        <a:graphic>
          <a:graphicData uri="http://schemas.openxmlformats.org/drawingml/2006/table">
            <a:tbl>
              <a:tblPr/>
              <a:tblGrid>
                <a:gridCol w="21031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560000">
                <a:tc>
                  <a:txBody>
                    <a:bodyPr/>
                    <a:lstStyle/>
                    <a:p>
                      <a:pPr marL="0" indent="0" algn="l">
                        <a:buNone/>
                      </a:pPr>
                      <a:r>
                        <a:rPr lang="en-US" sz="1100" b="1" dirty="0">
                          <a:solidFill>
                            <a:srgbClr val="FFFFFF"/>
                          </a:solidFill>
                          <a:latin typeface="Calibri" pitchFamily="34" charset="0"/>
                        </a:rPr>
                        <a:t>What the analyst faces</a:t>
                      </a: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A1A2E"/>
                    </a:solidFill>
                  </a:tcPr>
                </a:tc>
                <a:tc>
                  <a:txBody>
                    <a:bodyPr/>
                    <a:lstStyle/>
                    <a:p>
                      <a:pPr marL="0" indent="0" algn="ctr">
                        <a:buNone/>
                      </a:pPr>
                      <a:r>
                        <a:rPr lang="en-US" sz="1100" b="1" dirty="0">
                          <a:solidFill>
                            <a:srgbClr val="94A3B8"/>
                          </a:solidFill>
                          <a:latin typeface="Calibri" pitchFamily="34" charset="0"/>
                        </a:rPr>
                        <a:t>Manual review today</a:t>
                      </a: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A1A2E"/>
                    </a:solidFill>
                  </a:tcPr>
                </a:tc>
                <a:tc>
                  <a:txBody>
                    <a:bodyPr/>
                    <a:lstStyle/>
                    <a:p>
                      <a:pPr marL="0" indent="0" algn="ctr">
                        <a:buNone/>
                      </a:pPr>
                      <a:r>
                        <a:rPr lang="en-US" sz="1100" b="1" dirty="0">
                          <a:solidFill>
                            <a:srgbClr val="84CC16"/>
                          </a:solidFill>
                          <a:latin typeface="Calibri" pitchFamily="34" charset="0"/>
                        </a:rPr>
                        <a:t>With Lumen</a:t>
                      </a: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A1A2E"/>
                    </a:solidFill>
                  </a:tcPr>
                </a:tc>
                <a:extLst>
                  <a:ext uri="{0D108BD9-81ED-4DB2-BD59-A6C34878D82A}">
                    <a16:rowId xmlns:a16="http://schemas.microsoft.com/office/drawing/2014/main" val="10000"/>
                  </a:ext>
                </a:extLst>
              </a:tr>
              <a:tr h="620000">
                <a:tc>
                  <a:txBody>
                    <a:bodyPr/>
                    <a:lstStyle/>
                    <a:p>
                      <a:pPr marL="0" indent="0" algn="l">
                        <a:buNone/>
                      </a:pPr>
                      <a:r>
                        <a:rPr lang="en-US" sz="1000" b="1" dirty="0">
                          <a:solidFill>
                            <a:srgbClr val="FFFFFF"/>
                          </a:solidFill>
                          <a:latin typeface="Calibri" pitchFamily="34" charset="0"/>
                        </a:rPr>
                        <a:t>The analyst’s hour</a:t>
                      </a: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A1A2E"/>
                    </a:solidFill>
                  </a:tcPr>
                </a:tc>
                <a:tc>
                  <a:txBody>
                    <a:bodyPr/>
                    <a:lstStyle/>
                    <a:p>
                      <a:pPr marL="0" indent="0" algn="l">
                        <a:buNone/>
                      </a:pPr>
                      <a:r>
                        <a:rPr lang="en-US" sz="1000" b="0" dirty="0">
                          <a:solidFill>
                            <a:srgbClr val="94A3B8"/>
                          </a:solidFill>
                          <a:latin typeface="Calibri" pitchFamily="34" charset="0"/>
                        </a:rPr>
                        <a:t>Most of it goes to gathering data from five systems.</a:t>
                      </a: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A1A2E"/>
                    </a:solidFill>
                  </a:tcPr>
                </a:tc>
                <a:tc>
                  <a:txBody>
                    <a:bodyPr/>
                    <a:lstStyle/>
                    <a:p>
                      <a:pPr marL="0" indent="0" algn="l">
                        <a:buNone/>
                      </a:pPr>
                      <a:r>
                        <a:rPr lang="en-US" sz="1000" b="0" dirty="0">
                          <a:solidFill>
                            <a:srgbClr val="FFFFFF"/>
                          </a:solidFill>
                          <a:latin typeface="Calibri" pitchFamily="34" charset="0"/>
                        </a:rPr>
                        <a:t>Evidence arrives 91.1% assembled. The hour goes to judgment.</a:t>
                      </a: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A1A2E"/>
                    </a:solidFill>
                  </a:tcPr>
                </a:tc>
                <a:extLst>
                  <a:ext uri="{0D108BD9-81ED-4DB2-BD59-A6C34878D82A}">
                    <a16:rowId xmlns:a16="http://schemas.microsoft.com/office/drawing/2014/main" val="10001"/>
                  </a:ext>
                </a:extLst>
              </a:tr>
              <a:tr h="620000">
                <a:tc>
                  <a:txBody>
                    <a:bodyPr/>
                    <a:lstStyle/>
                    <a:p>
                      <a:pPr marL="0" indent="0" algn="l">
                        <a:buNone/>
                      </a:pPr>
                      <a:r>
                        <a:rPr lang="en-US" sz="1000" b="1" dirty="0">
                          <a:solidFill>
                            <a:srgbClr val="FFFFFF"/>
                          </a:solidFill>
                          <a:latin typeface="Calibri" pitchFamily="34" charset="0"/>
                        </a:rPr>
                        <a:t>Catching AI mistakes</a:t>
                      </a: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A1A2E"/>
                    </a:solidFill>
                  </a:tcPr>
                </a:tc>
                <a:tc>
                  <a:txBody>
                    <a:bodyPr/>
                    <a:lstStyle/>
                    <a:p>
                      <a:pPr marL="0" indent="0" algn="l">
                        <a:buNone/>
                      </a:pPr>
                      <a:r>
                        <a:rPr lang="en-US" sz="1000" b="0" dirty="0">
                          <a:solidFill>
                            <a:srgbClr val="94A3B8"/>
                          </a:solidFill>
                          <a:latin typeface="Calibri" pitchFamily="34" charset="0"/>
                        </a:rPr>
                        <a:t>The analyst has to notice the error while reading.</a:t>
                      </a: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A1A2E"/>
                    </a:solidFill>
                  </a:tcPr>
                </a:tc>
                <a:tc>
                  <a:txBody>
                    <a:bodyPr/>
                    <a:lstStyle/>
                    <a:p>
                      <a:pPr marL="0" indent="0" algn="l">
                        <a:buNone/>
                      </a:pPr>
                      <a:r>
                        <a:rPr lang="en-US" sz="1000" b="0" dirty="0">
                          <a:solidFill>
                            <a:srgbClr val="FFFFFF"/>
                          </a:solidFill>
                          <a:latin typeface="Calibri" pitchFamily="34" charset="0"/>
                        </a:rPr>
                        <a:t>Code flags the contradicted claim before the case is opened.</a:t>
                      </a: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A1A2E"/>
                    </a:solidFill>
                  </a:tcPr>
                </a:tc>
                <a:extLst>
                  <a:ext uri="{0D108BD9-81ED-4DB2-BD59-A6C34878D82A}">
                    <a16:rowId xmlns:a16="http://schemas.microsoft.com/office/drawing/2014/main" val="10002"/>
                  </a:ext>
                </a:extLst>
              </a:tr>
              <a:tr h="620000">
                <a:tc>
                  <a:txBody>
                    <a:bodyPr/>
                    <a:lstStyle/>
                    <a:p>
                      <a:pPr marL="0" indent="0" algn="l">
                        <a:buNone/>
                      </a:pPr>
                      <a:r>
                        <a:rPr lang="en-US" sz="1000" b="1" dirty="0">
                          <a:solidFill>
                            <a:srgbClr val="FFFFFF"/>
                          </a:solidFill>
                          <a:latin typeface="Calibri" pitchFamily="34" charset="0"/>
                        </a:rPr>
                        <a:t>The examiner’s file</a:t>
                      </a: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A1A2E"/>
                    </a:solidFill>
                  </a:tcPr>
                </a:tc>
                <a:tc>
                  <a:txBody>
                    <a:bodyPr/>
                    <a:lstStyle/>
                    <a:p>
                      <a:pPr marL="0" indent="0" algn="l">
                        <a:buNone/>
                      </a:pPr>
                      <a:r>
                        <a:rPr lang="en-US" sz="1000" b="0" dirty="0">
                          <a:solidFill>
                            <a:srgbClr val="94A3B8"/>
                          </a:solidFill>
                          <a:latin typeface="Calibri" pitchFamily="34" charset="0"/>
                        </a:rPr>
                        <a:t>Written up afterward, from memory, if at all.</a:t>
                      </a: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A1A2E"/>
                    </a:solidFill>
                  </a:tcPr>
                </a:tc>
                <a:tc>
                  <a:txBody>
                    <a:bodyPr/>
                    <a:lstStyle/>
                    <a:p>
                      <a:pPr marL="0" indent="0" algn="l">
                        <a:buNone/>
                      </a:pPr>
                      <a:r>
                        <a:rPr lang="en-US" sz="1000" b="0" dirty="0">
                          <a:solidFill>
                            <a:srgbClr val="FFFFFF"/>
                          </a:solidFill>
                          <a:latin typeface="Calibri" pitchFamily="34" charset="0"/>
                        </a:rPr>
                        <a:t>A case cannot close without a rationale. The file writes itself.</a:t>
                      </a: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A1A2E"/>
                    </a:solidFill>
                  </a:tcPr>
                </a:tc>
                <a:extLst>
                  <a:ext uri="{0D108BD9-81ED-4DB2-BD59-A6C34878D82A}">
                    <a16:rowId xmlns:a16="http://schemas.microsoft.com/office/drawing/2014/main" val="10003"/>
                  </a:ext>
                </a:extLst>
              </a:tr>
              <a:tr h="620000">
                <a:tc>
                  <a:txBody>
                    <a:bodyPr/>
                    <a:lstStyle/>
                    <a:p>
                      <a:pPr marL="0" indent="0" algn="l">
                        <a:buNone/>
                      </a:pPr>
                      <a:r>
                        <a:rPr lang="en-US" sz="1000" b="1" dirty="0">
                          <a:solidFill>
                            <a:srgbClr val="FFFFFF"/>
                          </a:solidFill>
                          <a:latin typeface="Calibri" pitchFamily="34" charset="0"/>
                        </a:rPr>
                        <a:t>Knowing where to start</a:t>
                      </a: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A1A2E"/>
                    </a:solidFill>
                  </a:tcPr>
                </a:tc>
                <a:tc>
                  <a:txBody>
                    <a:bodyPr/>
                    <a:lstStyle/>
                    <a:p>
                      <a:pPr marL="0" indent="0" algn="l">
                        <a:buNone/>
                      </a:pPr>
                      <a:r>
                        <a:rPr lang="en-US" sz="1000" b="0" dirty="0">
                          <a:solidFill>
                            <a:srgbClr val="94A3B8"/>
                          </a:solidFill>
                          <a:latin typeface="Calibri" pitchFamily="34" charset="0"/>
                        </a:rPr>
                        <a:t>Every alert looks equally reviewable until you dig in.</a:t>
                      </a: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A1A2E"/>
                    </a:solidFill>
                  </a:tcPr>
                </a:tc>
                <a:tc>
                  <a:txBody>
                    <a:bodyPr/>
                    <a:lstStyle/>
                    <a:p>
                      <a:pPr marL="0" indent="0" algn="l">
                        <a:buNone/>
                      </a:pPr>
                      <a:r>
                        <a:rPr lang="en-US" sz="1000" b="0" dirty="0">
                          <a:solidFill>
                            <a:srgbClr val="FFFFFF"/>
                          </a:solidFill>
                          <a:latin typeface="Calibri" pitchFamily="34" charset="0"/>
                        </a:rPr>
                        <a:t>36 of 39 cases are review-ready. 1 is blocked on missing evidence.</a:t>
                      </a: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A1A2E"/>
                    </a:solidFill>
                  </a:tcPr>
                </a:tc>
                <a:extLst>
                  <a:ext uri="{0D108BD9-81ED-4DB2-BD59-A6C34878D82A}">
                    <a16:rowId xmlns:a16="http://schemas.microsoft.com/office/drawing/2014/main" val="10004"/>
                  </a:ext>
                </a:extLst>
              </a:tr>
              <a:tr h="620000">
                <a:tc>
                  <a:txBody>
                    <a:bodyPr/>
                    <a:lstStyle/>
                    <a:p>
                      <a:pPr marL="0" indent="0" algn="l">
                        <a:buNone/>
                      </a:pPr>
                      <a:r>
                        <a:rPr lang="en-US" sz="1000" b="1" dirty="0">
                          <a:solidFill>
                            <a:srgbClr val="FFFFFF"/>
                          </a:solidFill>
                          <a:latin typeface="Calibri" pitchFamily="34" charset="0"/>
                        </a:rPr>
                        <a:t>When the AI is wrong</a:t>
                      </a: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A1A2E"/>
                    </a:solidFill>
                  </a:tcPr>
                </a:tc>
                <a:tc>
                  <a:txBody>
                    <a:bodyPr/>
                    <a:lstStyle/>
                    <a:p>
                      <a:pPr marL="0" indent="0" algn="l">
                        <a:buNone/>
                      </a:pPr>
                      <a:r>
                        <a:rPr lang="en-US" sz="1000" b="0" dirty="0">
                          <a:solidFill>
                            <a:srgbClr val="94A3B8"/>
                          </a:solidFill>
                          <a:latin typeface="Calibri" pitchFamily="34" charset="0"/>
                        </a:rPr>
                        <a:t>The wrong claim reaches the human and may be believed.</a:t>
                      </a: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A1A2E"/>
                    </a:solidFill>
                  </a:tcPr>
                </a:tc>
                <a:tc>
                  <a:txBody>
                    <a:bodyPr/>
                    <a:lstStyle/>
                    <a:p>
                      <a:pPr marL="0" indent="0" algn="l">
                        <a:buNone/>
                      </a:pPr>
                      <a:r>
                        <a:rPr lang="en-US" sz="1000" b="0" dirty="0">
                          <a:solidFill>
                            <a:srgbClr val="FFFFFF"/>
                          </a:solidFill>
                          <a:latin typeface="Calibri" pitchFamily="34" charset="0"/>
                        </a:rPr>
                        <a:t>32 of 93 claims were contradicted. None reached an analyst.</a:t>
                      </a: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A1A2E"/>
                    </a:solidFill>
                  </a:tcPr>
                </a:tc>
                <a:extLst>
                  <a:ext uri="{0D108BD9-81ED-4DB2-BD59-A6C34878D82A}">
                    <a16:rowId xmlns:a16="http://schemas.microsoft.com/office/drawing/2014/main" val="10005"/>
                  </a:ext>
                </a:extLst>
              </a:tr>
            </a:tbl>
          </a:graphicData>
        </a:graphic>
      </p:graphicFrame>
      <p:sp>
        <p:nvSpPr>
          <p:cNvPr id="4" name="Text 1"/>
          <p:cNvSpPr/>
          <p:nvPr/>
        </p:nvSpPr>
        <p:spPr>
          <a:xfrm>
            <a:off x="365760" y="4754880"/>
            <a:ext cx="8412480" cy="256032"/>
          </a:xfrm>
          <a:prstGeom prst="rect">
            <a:avLst/>
          </a:prstGeom>
          <a:noFill/>
          <a:ln/>
        </p:spPr>
        <p:txBody>
          <a:bodyPr wrap="square" rtlCol="0" anchor="ctr"/>
          <a:lstStyle/>
          <a:p>
            <a:pPr marL="0" indent="0" algn="ctr">
              <a:buNone/>
            </a:pPr>
            <a:r>
              <a:rPr lang="en-US" sz="1300" i="1" dirty="0">
                <a:solidFill>
                  <a:srgbClr val="A78BFA"/>
                </a:solidFill>
                <a:latin typeface="Calibri" pitchFamily="34" charset="0"/>
                <a:ea typeface="Calibri" pitchFamily="34" charset="-122"/>
                <a:cs typeface="Calibri" pitchFamily="34" charset="-120"/>
              </a:rPr>
              <a:t>The analyst stops collecting evidence and starts judging it. That change does not depend on the AI being good.</a:t>
            </a:r>
            <a:endParaRPr lang="en-US" sz="1300" dirty="0"/>
          </a:p>
        </p:txBody>
      </p:sp>
      <p:pic>
        <p:nvPicPr>
          <p:cNvPr id="3" name="Slide 13 - Leishka">
            <a:hlinkClick r:id="" action="ppaction://media"/>
            <a:extLst>
              <a:ext uri="{FF2B5EF4-FFF2-40B4-BE49-F238E27FC236}">
                <a16:creationId xmlns:a16="http://schemas.microsoft.com/office/drawing/2014/main" id="{AC94394C-0CB8-047B-A0CB-3A2F7491C282}"/>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311375" y="4435509"/>
            <a:ext cx="609600" cy="609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6187"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0D0D14"/>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Built for Volume: What Happens at 10,000 Alerts</a:t>
            </a:r>
            <a:endParaRPr lang="en-US" sz="2200" dirty="0"/>
          </a:p>
        </p:txBody>
      </p:sp>
      <p:sp>
        <p:nvSpPr>
          <p:cNvPr id="4" name="Text 1"/>
          <p:cNvSpPr/>
          <p:nvPr/>
        </p:nvSpPr>
        <p:spPr>
          <a:xfrm>
            <a:off x="365760" y="4754880"/>
            <a:ext cx="8412480" cy="256032"/>
          </a:xfrm>
          <a:prstGeom prst="rect">
            <a:avLst/>
          </a:prstGeom>
          <a:noFill/>
          <a:ln/>
        </p:spPr>
        <p:txBody>
          <a:bodyPr wrap="square" rtlCol="0" anchor="ctr"/>
          <a:lstStyle/>
          <a:p>
            <a:pPr marL="0" indent="0" algn="ctr">
              <a:buNone/>
            </a:pPr>
            <a:r>
              <a:rPr lang="en-US" sz="1300" i="1" dirty="0">
                <a:solidFill>
                  <a:srgbClr val="A78BFA"/>
                </a:solidFill>
                <a:latin typeface="Calibri" pitchFamily="34" charset="0"/>
                <a:ea typeface="Calibri" pitchFamily="34" charset="-122"/>
                <a:cs typeface="Calibri" pitchFamily="34" charset="-120"/>
              </a:rPr>
              <a:t>The checking never gets more expensive. The errors it stops keep growing. Volume works in your favor, not against you.</a:t>
            </a:r>
            <a:endParaRPr lang="en-US" sz="1300" dirty="0"/>
          </a:p>
        </p:txBody>
      </p:sp>
      <p:sp>
        <p:nvSpPr>
          <p:cNvPr id="901" name="Bar901"/>
          <p:cNvSpPr/>
          <p:nvPr/>
        </p:nvSpPr>
        <p:spPr>
          <a:xfrm>
            <a:off x="365760" y="1130000"/>
            <a:ext cx="4023360" cy="2620000"/>
          </a:xfrm>
          <a:prstGeom prst="roundRect">
            <a:avLst>
              <a:gd name="adj" fmla="val 9000"/>
            </a:avLst>
          </a:prstGeom>
          <a:solidFill>
            <a:srgbClr val="1A1A2E"/>
          </a:solidFill>
          <a:ln>
            <a:noFill/>
          </a:ln>
        </p:spPr>
        <p:txBody>
          <a:bodyPr/>
          <a:lstStyle/>
          <a:p>
            <a:endParaRPr lang="en-US"/>
          </a:p>
        </p:txBody>
      </p:sp>
      <p:sp>
        <p:nvSpPr>
          <p:cNvPr id="902" name="Txt902"/>
          <p:cNvSpPr txBox="1"/>
          <p:nvPr/>
        </p:nvSpPr>
        <p:spPr>
          <a:xfrm>
            <a:off x="585760" y="1300000"/>
            <a:ext cx="3583360" cy="250000"/>
          </a:xfrm>
          <a:prstGeom prst="rect">
            <a:avLst/>
          </a:prstGeom>
          <a:noFill/>
        </p:spPr>
        <p:txBody>
          <a:bodyPr wrap="square" lIns="0" tIns="0" rIns="0" bIns="0">
            <a:noAutofit/>
          </a:bodyPr>
          <a:lstStyle/>
          <a:p>
            <a:pPr algn="l"/>
            <a:r>
              <a:rPr lang="en-US" sz="1150" b="1" dirty="0">
                <a:solidFill>
                  <a:srgbClr val="FFFFFF"/>
                </a:solidFill>
                <a:latin typeface="Calibri" pitchFamily="34" charset="0"/>
              </a:rPr>
              <a:t>Cost to check one claim</a:t>
            </a:r>
          </a:p>
        </p:txBody>
      </p:sp>
      <p:sp>
        <p:nvSpPr>
          <p:cNvPr id="903" name="Bar903"/>
          <p:cNvSpPr/>
          <p:nvPr/>
        </p:nvSpPr>
        <p:spPr>
          <a:xfrm>
            <a:off x="665760" y="2760000"/>
            <a:ext cx="700000" cy="360000"/>
          </a:xfrm>
          <a:prstGeom prst="rect">
            <a:avLst/>
          </a:prstGeom>
          <a:solidFill>
            <a:srgbClr val="475569"/>
          </a:solidFill>
          <a:ln>
            <a:noFill/>
          </a:ln>
        </p:spPr>
        <p:txBody>
          <a:bodyPr/>
          <a:lstStyle/>
          <a:p>
            <a:endParaRPr lang="en-US"/>
          </a:p>
        </p:txBody>
      </p:sp>
      <p:sp>
        <p:nvSpPr>
          <p:cNvPr id="904" name="Txt904"/>
          <p:cNvSpPr txBox="1"/>
          <p:nvPr/>
        </p:nvSpPr>
        <p:spPr>
          <a:xfrm>
            <a:off x="545760" y="3180000"/>
            <a:ext cx="940000" cy="180000"/>
          </a:xfrm>
          <a:prstGeom prst="rect">
            <a:avLst/>
          </a:prstGeom>
          <a:noFill/>
        </p:spPr>
        <p:txBody>
          <a:bodyPr wrap="square" lIns="0" tIns="0" rIns="0" bIns="0">
            <a:noAutofit/>
          </a:bodyPr>
          <a:lstStyle/>
          <a:p>
            <a:pPr algn="ctr"/>
            <a:r>
              <a:rPr lang="en-US" sz="800" b="0" dirty="0">
                <a:solidFill>
                  <a:srgbClr val="94A3B8"/>
                </a:solidFill>
                <a:latin typeface="Calibri" pitchFamily="34" charset="0"/>
              </a:rPr>
              <a:t>1,000 alerts</a:t>
            </a:r>
          </a:p>
        </p:txBody>
      </p:sp>
      <p:sp>
        <p:nvSpPr>
          <p:cNvPr id="905" name="Bar905"/>
          <p:cNvSpPr/>
          <p:nvPr/>
        </p:nvSpPr>
        <p:spPr>
          <a:xfrm>
            <a:off x="2027440" y="2760000"/>
            <a:ext cx="700000" cy="360000"/>
          </a:xfrm>
          <a:prstGeom prst="rect">
            <a:avLst/>
          </a:prstGeom>
          <a:solidFill>
            <a:srgbClr val="475569"/>
          </a:solidFill>
          <a:ln>
            <a:noFill/>
          </a:ln>
        </p:spPr>
        <p:txBody>
          <a:bodyPr/>
          <a:lstStyle/>
          <a:p>
            <a:endParaRPr lang="en-US"/>
          </a:p>
        </p:txBody>
      </p:sp>
      <p:sp>
        <p:nvSpPr>
          <p:cNvPr id="906" name="Txt906"/>
          <p:cNvSpPr txBox="1"/>
          <p:nvPr/>
        </p:nvSpPr>
        <p:spPr>
          <a:xfrm>
            <a:off x="1907440" y="3180000"/>
            <a:ext cx="940000" cy="180000"/>
          </a:xfrm>
          <a:prstGeom prst="rect">
            <a:avLst/>
          </a:prstGeom>
          <a:noFill/>
        </p:spPr>
        <p:txBody>
          <a:bodyPr wrap="square" lIns="0" tIns="0" rIns="0" bIns="0">
            <a:noAutofit/>
          </a:bodyPr>
          <a:lstStyle/>
          <a:p>
            <a:pPr algn="ctr"/>
            <a:r>
              <a:rPr lang="en-US" sz="800" b="0" dirty="0">
                <a:solidFill>
                  <a:srgbClr val="94A3B8"/>
                </a:solidFill>
                <a:latin typeface="Calibri" pitchFamily="34" charset="0"/>
              </a:rPr>
              <a:t>10,000</a:t>
            </a:r>
          </a:p>
        </p:txBody>
      </p:sp>
      <p:sp>
        <p:nvSpPr>
          <p:cNvPr id="907" name="Bar907"/>
          <p:cNvSpPr/>
          <p:nvPr/>
        </p:nvSpPr>
        <p:spPr>
          <a:xfrm>
            <a:off x="3389120" y="2760000"/>
            <a:ext cx="700000" cy="360000"/>
          </a:xfrm>
          <a:prstGeom prst="rect">
            <a:avLst/>
          </a:prstGeom>
          <a:solidFill>
            <a:srgbClr val="475569"/>
          </a:solidFill>
          <a:ln>
            <a:noFill/>
          </a:ln>
        </p:spPr>
        <p:txBody>
          <a:bodyPr/>
          <a:lstStyle/>
          <a:p>
            <a:endParaRPr lang="en-US"/>
          </a:p>
        </p:txBody>
      </p:sp>
      <p:sp>
        <p:nvSpPr>
          <p:cNvPr id="908" name="Txt908"/>
          <p:cNvSpPr txBox="1"/>
          <p:nvPr/>
        </p:nvSpPr>
        <p:spPr>
          <a:xfrm>
            <a:off x="3269120" y="3180000"/>
            <a:ext cx="940000" cy="180000"/>
          </a:xfrm>
          <a:prstGeom prst="rect">
            <a:avLst/>
          </a:prstGeom>
          <a:noFill/>
        </p:spPr>
        <p:txBody>
          <a:bodyPr wrap="square" lIns="0" tIns="0" rIns="0" bIns="0">
            <a:noAutofit/>
          </a:bodyPr>
          <a:lstStyle/>
          <a:p>
            <a:pPr algn="ctr"/>
            <a:r>
              <a:rPr lang="en-US" sz="800" b="0" dirty="0">
                <a:solidFill>
                  <a:srgbClr val="94A3B8"/>
                </a:solidFill>
                <a:latin typeface="Calibri" pitchFamily="34" charset="0"/>
              </a:rPr>
              <a:t>100,000</a:t>
            </a:r>
          </a:p>
        </p:txBody>
      </p:sp>
      <p:sp>
        <p:nvSpPr>
          <p:cNvPr id="909" name="Txt909"/>
          <p:cNvSpPr txBox="1"/>
          <p:nvPr/>
        </p:nvSpPr>
        <p:spPr>
          <a:xfrm>
            <a:off x="585760" y="3400000"/>
            <a:ext cx="3583360" cy="290000"/>
          </a:xfrm>
          <a:prstGeom prst="rect">
            <a:avLst/>
          </a:prstGeom>
          <a:noFill/>
        </p:spPr>
        <p:txBody>
          <a:bodyPr wrap="square" lIns="0" tIns="0" rIns="0" bIns="0">
            <a:noAutofit/>
          </a:bodyPr>
          <a:lstStyle/>
          <a:p>
            <a:pPr algn="l"/>
            <a:r>
              <a:rPr lang="en-US" sz="850" b="0" dirty="0">
                <a:solidFill>
                  <a:srgbClr val="94A3B8"/>
                </a:solidFill>
                <a:latin typeface="Calibri" pitchFamily="34" charset="0"/>
              </a:rPr>
              <a:t>Flat. Verification is code reading a table, with no AI call involved.</a:t>
            </a:r>
          </a:p>
        </p:txBody>
      </p:sp>
      <p:sp>
        <p:nvSpPr>
          <p:cNvPr id="910" name="Bar910"/>
          <p:cNvSpPr/>
          <p:nvPr/>
        </p:nvSpPr>
        <p:spPr>
          <a:xfrm>
            <a:off x="4755360" y="1130000"/>
            <a:ext cx="4023360" cy="2620000"/>
          </a:xfrm>
          <a:prstGeom prst="roundRect">
            <a:avLst>
              <a:gd name="adj" fmla="val 9000"/>
            </a:avLst>
          </a:prstGeom>
          <a:solidFill>
            <a:srgbClr val="1A1A2E"/>
          </a:solidFill>
          <a:ln>
            <a:noFill/>
          </a:ln>
        </p:spPr>
        <p:txBody>
          <a:bodyPr/>
          <a:lstStyle/>
          <a:p>
            <a:endParaRPr lang="en-US"/>
          </a:p>
        </p:txBody>
      </p:sp>
      <p:sp>
        <p:nvSpPr>
          <p:cNvPr id="911" name="Txt911"/>
          <p:cNvSpPr txBox="1"/>
          <p:nvPr/>
        </p:nvSpPr>
        <p:spPr>
          <a:xfrm>
            <a:off x="4975360" y="1300000"/>
            <a:ext cx="3583360" cy="250000"/>
          </a:xfrm>
          <a:prstGeom prst="rect">
            <a:avLst/>
          </a:prstGeom>
          <a:noFill/>
        </p:spPr>
        <p:txBody>
          <a:bodyPr wrap="square" lIns="0" tIns="0" rIns="0" bIns="0">
            <a:noAutofit/>
          </a:bodyPr>
          <a:lstStyle/>
          <a:p>
            <a:pPr algn="l"/>
            <a:r>
              <a:rPr lang="en-US" sz="1150" b="1" dirty="0">
                <a:solidFill>
                  <a:srgbClr val="FFFFFF"/>
                </a:solidFill>
                <a:latin typeface="Calibri" pitchFamily="34" charset="0"/>
              </a:rPr>
              <a:t>AI errors stopped</a:t>
            </a:r>
          </a:p>
        </p:txBody>
      </p:sp>
      <p:sp>
        <p:nvSpPr>
          <p:cNvPr id="912" name="Bar912"/>
          <p:cNvSpPr/>
          <p:nvPr/>
        </p:nvSpPr>
        <p:spPr>
          <a:xfrm>
            <a:off x="5055360" y="2760000"/>
            <a:ext cx="700000" cy="360000"/>
          </a:xfrm>
          <a:prstGeom prst="rect">
            <a:avLst/>
          </a:prstGeom>
          <a:solidFill>
            <a:srgbClr val="84CC16"/>
          </a:solidFill>
          <a:ln>
            <a:noFill/>
          </a:ln>
        </p:spPr>
        <p:txBody>
          <a:bodyPr/>
          <a:lstStyle/>
          <a:p>
            <a:endParaRPr lang="en-US"/>
          </a:p>
        </p:txBody>
      </p:sp>
      <p:sp>
        <p:nvSpPr>
          <p:cNvPr id="913" name="Txt913"/>
          <p:cNvSpPr txBox="1"/>
          <p:nvPr/>
        </p:nvSpPr>
        <p:spPr>
          <a:xfrm>
            <a:off x="4935360" y="3180000"/>
            <a:ext cx="940000" cy="180000"/>
          </a:xfrm>
          <a:prstGeom prst="rect">
            <a:avLst/>
          </a:prstGeom>
          <a:noFill/>
        </p:spPr>
        <p:txBody>
          <a:bodyPr wrap="square" lIns="0" tIns="0" rIns="0" bIns="0">
            <a:noAutofit/>
          </a:bodyPr>
          <a:lstStyle/>
          <a:p>
            <a:pPr algn="ctr"/>
            <a:r>
              <a:rPr lang="en-US" sz="800" b="0" dirty="0">
                <a:solidFill>
                  <a:srgbClr val="94A3B8"/>
                </a:solidFill>
                <a:latin typeface="Calibri" pitchFamily="34" charset="0"/>
              </a:rPr>
              <a:t>1,000 alerts</a:t>
            </a:r>
          </a:p>
        </p:txBody>
      </p:sp>
      <p:sp>
        <p:nvSpPr>
          <p:cNvPr id="914" name="Bar914"/>
          <p:cNvSpPr/>
          <p:nvPr/>
        </p:nvSpPr>
        <p:spPr>
          <a:xfrm>
            <a:off x="6417040" y="2290000"/>
            <a:ext cx="700000" cy="830000"/>
          </a:xfrm>
          <a:prstGeom prst="rect">
            <a:avLst/>
          </a:prstGeom>
          <a:solidFill>
            <a:srgbClr val="84CC16"/>
          </a:solidFill>
          <a:ln>
            <a:noFill/>
          </a:ln>
        </p:spPr>
        <p:txBody>
          <a:bodyPr/>
          <a:lstStyle/>
          <a:p>
            <a:endParaRPr lang="en-US"/>
          </a:p>
        </p:txBody>
      </p:sp>
      <p:sp>
        <p:nvSpPr>
          <p:cNvPr id="915" name="Txt915"/>
          <p:cNvSpPr txBox="1"/>
          <p:nvPr/>
        </p:nvSpPr>
        <p:spPr>
          <a:xfrm>
            <a:off x="6297040" y="3180000"/>
            <a:ext cx="940000" cy="180000"/>
          </a:xfrm>
          <a:prstGeom prst="rect">
            <a:avLst/>
          </a:prstGeom>
          <a:noFill/>
        </p:spPr>
        <p:txBody>
          <a:bodyPr wrap="square" lIns="0" tIns="0" rIns="0" bIns="0">
            <a:noAutofit/>
          </a:bodyPr>
          <a:lstStyle/>
          <a:p>
            <a:pPr algn="ctr"/>
            <a:r>
              <a:rPr lang="en-US" sz="800" b="0" dirty="0">
                <a:solidFill>
                  <a:srgbClr val="94A3B8"/>
                </a:solidFill>
                <a:latin typeface="Calibri" pitchFamily="34" charset="0"/>
              </a:rPr>
              <a:t>10,000</a:t>
            </a:r>
          </a:p>
        </p:txBody>
      </p:sp>
      <p:sp>
        <p:nvSpPr>
          <p:cNvPr id="916" name="Bar916"/>
          <p:cNvSpPr/>
          <p:nvPr/>
        </p:nvSpPr>
        <p:spPr>
          <a:xfrm>
            <a:off x="7778720" y="1720000"/>
            <a:ext cx="700000" cy="1400000"/>
          </a:xfrm>
          <a:prstGeom prst="rect">
            <a:avLst/>
          </a:prstGeom>
          <a:solidFill>
            <a:srgbClr val="84CC16"/>
          </a:solidFill>
          <a:ln>
            <a:noFill/>
          </a:ln>
        </p:spPr>
        <p:txBody>
          <a:bodyPr/>
          <a:lstStyle/>
          <a:p>
            <a:endParaRPr lang="en-US"/>
          </a:p>
        </p:txBody>
      </p:sp>
      <p:sp>
        <p:nvSpPr>
          <p:cNvPr id="917" name="Txt917"/>
          <p:cNvSpPr txBox="1"/>
          <p:nvPr/>
        </p:nvSpPr>
        <p:spPr>
          <a:xfrm>
            <a:off x="7658720" y="3180000"/>
            <a:ext cx="940000" cy="180000"/>
          </a:xfrm>
          <a:prstGeom prst="rect">
            <a:avLst/>
          </a:prstGeom>
          <a:noFill/>
        </p:spPr>
        <p:txBody>
          <a:bodyPr wrap="square" lIns="0" tIns="0" rIns="0" bIns="0">
            <a:noAutofit/>
          </a:bodyPr>
          <a:lstStyle/>
          <a:p>
            <a:pPr algn="ctr"/>
            <a:r>
              <a:rPr lang="en-US" sz="800" b="0" dirty="0">
                <a:solidFill>
                  <a:srgbClr val="94A3B8"/>
                </a:solidFill>
                <a:latin typeface="Calibri" pitchFamily="34" charset="0"/>
              </a:rPr>
              <a:t>100,000</a:t>
            </a:r>
          </a:p>
        </p:txBody>
      </p:sp>
      <p:sp>
        <p:nvSpPr>
          <p:cNvPr id="918" name="Txt918"/>
          <p:cNvSpPr txBox="1"/>
          <p:nvPr/>
        </p:nvSpPr>
        <p:spPr>
          <a:xfrm>
            <a:off x="4975360" y="3400000"/>
            <a:ext cx="3583360" cy="290000"/>
          </a:xfrm>
          <a:prstGeom prst="rect">
            <a:avLst/>
          </a:prstGeom>
          <a:noFill/>
        </p:spPr>
        <p:txBody>
          <a:bodyPr wrap="square" lIns="0" tIns="0" rIns="0" bIns="0">
            <a:noAutofit/>
          </a:bodyPr>
          <a:lstStyle/>
          <a:p>
            <a:pPr algn="l"/>
            <a:r>
              <a:rPr lang="en-US" sz="850" b="0" dirty="0">
                <a:solidFill>
                  <a:srgbClr val="94A3B8"/>
                </a:solidFill>
                <a:latin typeface="Calibri" pitchFamily="34" charset="0"/>
              </a:rPr>
              <a:t>Rises with volume. Roughly one claim in three needs catching.</a:t>
            </a:r>
          </a:p>
        </p:txBody>
      </p:sp>
      <p:sp>
        <p:nvSpPr>
          <p:cNvPr id="919" name="Txt919"/>
          <p:cNvSpPr txBox="1"/>
          <p:nvPr/>
        </p:nvSpPr>
        <p:spPr>
          <a:xfrm>
            <a:off x="365760" y="3900000"/>
            <a:ext cx="2700000" cy="200000"/>
          </a:xfrm>
          <a:prstGeom prst="rect">
            <a:avLst/>
          </a:prstGeom>
          <a:noFill/>
        </p:spPr>
        <p:txBody>
          <a:bodyPr wrap="square" lIns="0" tIns="0" rIns="0" bIns="0">
            <a:noAutofit/>
          </a:bodyPr>
          <a:lstStyle/>
          <a:p>
            <a:pPr algn="l"/>
            <a:r>
              <a:rPr lang="en-US" sz="950" b="1" dirty="0">
                <a:solidFill>
                  <a:srgbClr val="84CC16"/>
                </a:solidFill>
                <a:latin typeface="Calibri" pitchFamily="34" charset="0"/>
              </a:rPr>
              <a:t>Only drafting scales in cost</a:t>
            </a:r>
          </a:p>
        </p:txBody>
      </p:sp>
      <p:sp>
        <p:nvSpPr>
          <p:cNvPr id="920" name="Txt920"/>
          <p:cNvSpPr txBox="1"/>
          <p:nvPr/>
        </p:nvSpPr>
        <p:spPr>
          <a:xfrm>
            <a:off x="365760" y="4140000"/>
            <a:ext cx="2700000" cy="440000"/>
          </a:xfrm>
          <a:prstGeom prst="rect">
            <a:avLst/>
          </a:prstGeom>
          <a:noFill/>
        </p:spPr>
        <p:txBody>
          <a:bodyPr wrap="square" lIns="0" tIns="0" rIns="0" bIns="0">
            <a:noAutofit/>
          </a:bodyPr>
          <a:lstStyle/>
          <a:p>
            <a:pPr algn="l"/>
            <a:r>
              <a:rPr lang="en-US" sz="850" b="0" dirty="0">
                <a:solidFill>
                  <a:srgbClr val="94A3B8"/>
                </a:solidFill>
                <a:latin typeface="Calibri" pitchFamily="34" charset="0"/>
              </a:rPr>
              <a:t>and that is the piece a bank can throttle or route by severity.</a:t>
            </a:r>
          </a:p>
        </p:txBody>
      </p:sp>
      <p:sp>
        <p:nvSpPr>
          <p:cNvPr id="921" name="Txt921"/>
          <p:cNvSpPr txBox="1"/>
          <p:nvPr/>
        </p:nvSpPr>
        <p:spPr>
          <a:xfrm>
            <a:off x="3201920" y="3900000"/>
            <a:ext cx="2700000" cy="200000"/>
          </a:xfrm>
          <a:prstGeom prst="rect">
            <a:avLst/>
          </a:prstGeom>
          <a:noFill/>
        </p:spPr>
        <p:txBody>
          <a:bodyPr wrap="square" lIns="0" tIns="0" rIns="0" bIns="0">
            <a:noAutofit/>
          </a:bodyPr>
          <a:lstStyle/>
          <a:p>
            <a:pPr algn="l"/>
            <a:r>
              <a:rPr lang="en-US" sz="950" b="1" dirty="0">
                <a:solidFill>
                  <a:srgbClr val="84CC16"/>
                </a:solidFill>
                <a:latin typeface="Calibri" pitchFamily="34" charset="0"/>
              </a:rPr>
              <a:t>Governance cannot loosen</a:t>
            </a:r>
          </a:p>
        </p:txBody>
      </p:sp>
      <p:sp>
        <p:nvSpPr>
          <p:cNvPr id="922" name="Txt922"/>
          <p:cNvSpPr txBox="1"/>
          <p:nvPr/>
        </p:nvSpPr>
        <p:spPr>
          <a:xfrm>
            <a:off x="3201920" y="4140000"/>
            <a:ext cx="2700000" cy="440000"/>
          </a:xfrm>
          <a:prstGeom prst="rect">
            <a:avLst/>
          </a:prstGeom>
          <a:noFill/>
        </p:spPr>
        <p:txBody>
          <a:bodyPr wrap="square" lIns="0" tIns="0" rIns="0" bIns="0">
            <a:noAutofit/>
          </a:bodyPr>
          <a:lstStyle/>
          <a:p>
            <a:pPr algn="l"/>
            <a:r>
              <a:rPr lang="en-US" sz="850" b="0">
                <a:solidFill>
                  <a:srgbClr val="94A3B8"/>
                </a:solidFill>
                <a:latin typeface="Calibri" pitchFamily="34" charset="0"/>
              </a:rPr>
              <a:t>a tenth claim type requires writing its check first, at any size.</a:t>
            </a:r>
            <a:endParaRPr lang="en-US" sz="850" b="0" dirty="0">
              <a:solidFill>
                <a:srgbClr val="94A3B8"/>
              </a:solidFill>
              <a:latin typeface="Calibri" pitchFamily="34" charset="0"/>
            </a:endParaRPr>
          </a:p>
        </p:txBody>
      </p:sp>
      <p:sp>
        <p:nvSpPr>
          <p:cNvPr id="923" name="Txt923"/>
          <p:cNvSpPr txBox="1"/>
          <p:nvPr/>
        </p:nvSpPr>
        <p:spPr>
          <a:xfrm>
            <a:off x="6038080" y="3900000"/>
            <a:ext cx="2700000" cy="200000"/>
          </a:xfrm>
          <a:prstGeom prst="rect">
            <a:avLst/>
          </a:prstGeom>
          <a:noFill/>
        </p:spPr>
        <p:txBody>
          <a:bodyPr wrap="square" lIns="0" tIns="0" rIns="0" bIns="0">
            <a:noAutofit/>
          </a:bodyPr>
          <a:lstStyle/>
          <a:p>
            <a:pPr algn="l"/>
            <a:r>
              <a:rPr lang="en-US" sz="950" b="1" dirty="0">
                <a:solidFill>
                  <a:srgbClr val="84CC16"/>
                </a:solidFill>
                <a:latin typeface="Calibri" pitchFamily="34" charset="0"/>
              </a:rPr>
              <a:t>More volume, more value</a:t>
            </a:r>
          </a:p>
        </p:txBody>
      </p:sp>
      <p:sp>
        <p:nvSpPr>
          <p:cNvPr id="924" name="Txt924"/>
          <p:cNvSpPr txBox="1"/>
          <p:nvPr/>
        </p:nvSpPr>
        <p:spPr>
          <a:xfrm>
            <a:off x="6038080" y="4140000"/>
            <a:ext cx="2700000" cy="440000"/>
          </a:xfrm>
          <a:prstGeom prst="rect">
            <a:avLst/>
          </a:prstGeom>
          <a:noFill/>
        </p:spPr>
        <p:txBody>
          <a:bodyPr wrap="square" lIns="0" tIns="0" rIns="0" bIns="0">
            <a:noAutofit/>
          </a:bodyPr>
          <a:lstStyle/>
          <a:p>
            <a:pPr algn="l"/>
            <a:r>
              <a:rPr lang="en-US" sz="850" b="0" dirty="0">
                <a:solidFill>
                  <a:srgbClr val="94A3B8"/>
                </a:solidFill>
                <a:latin typeface="Calibri" pitchFamily="34" charset="0"/>
              </a:rPr>
              <a:t>the control layer is worth more at scale, not less.</a:t>
            </a:r>
          </a:p>
        </p:txBody>
      </p:sp>
      <p:pic>
        <p:nvPicPr>
          <p:cNvPr id="3" name="Slide 14 - Leishka">
            <a:hlinkClick r:id="" action="ppaction://media"/>
            <a:extLst>
              <a:ext uri="{FF2B5EF4-FFF2-40B4-BE49-F238E27FC236}">
                <a16:creationId xmlns:a16="http://schemas.microsoft.com/office/drawing/2014/main" id="{032C9BE0-D505-7947-7887-0627E66FA950}"/>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382000" y="4315200"/>
            <a:ext cx="609600" cy="609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0694"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0D0D14"/>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Business Value</a:t>
            </a:r>
            <a:endParaRPr lang="en-US" sz="3400" dirty="0"/>
          </a:p>
        </p:txBody>
      </p:sp>
      <p:sp>
        <p:nvSpPr>
          <p:cNvPr id="3" name="Shape 1"/>
          <p:cNvSpPr/>
          <p:nvPr/>
        </p:nvSpPr>
        <p:spPr>
          <a:xfrm>
            <a:off x="365760" y="960120"/>
            <a:ext cx="2651760" cy="1691640"/>
          </a:xfrm>
          <a:prstGeom prst="roundRect">
            <a:avLst>
              <a:gd name="adj" fmla="val 5405"/>
            </a:avLst>
          </a:prstGeom>
          <a:solidFill>
            <a:srgbClr val="1A1A2E"/>
          </a:solidFill>
          <a:ln w="6350">
            <a:solidFill>
              <a:srgbClr val="475569"/>
            </a:solidFill>
            <a:prstDash val="solid"/>
          </a:ln>
          <a:effectLst>
            <a:outerShdw blurRad="177800" dist="50800" dir="8100000" algn="bl" rotWithShape="0">
              <a:srgbClr val="000000">
                <a:alpha val="35000"/>
              </a:srgbClr>
            </a:outerShdw>
          </a:effectLst>
        </p:spPr>
        <p:txBody>
          <a:bodyPr/>
          <a:lstStyle/>
          <a:p>
            <a:endParaRPr lang="en-US"/>
          </a:p>
        </p:txBody>
      </p:sp>
      <p:sp>
        <p:nvSpPr>
          <p:cNvPr id="4" name="Text 2"/>
          <p:cNvSpPr/>
          <p:nvPr/>
        </p:nvSpPr>
        <p:spPr>
          <a:xfrm>
            <a:off x="365760" y="1024128"/>
            <a:ext cx="2651760" cy="658368"/>
          </a:xfrm>
          <a:prstGeom prst="rect">
            <a:avLst/>
          </a:prstGeom>
          <a:noFill/>
          <a:ln/>
        </p:spPr>
        <p:txBody>
          <a:bodyPr wrap="square" rtlCol="0" anchor="ctr"/>
          <a:lstStyle/>
          <a:p>
            <a:pPr marL="0" indent="0" algn="ctr">
              <a:buNone/>
            </a:pPr>
            <a:r>
              <a:rPr lang="en-US" sz="3600" b="1" dirty="0">
                <a:solidFill>
                  <a:srgbClr val="84CC16"/>
                </a:solidFill>
                <a:latin typeface="Cambria" pitchFamily="34" charset="0"/>
                <a:ea typeface="Cambria" pitchFamily="34" charset="-122"/>
                <a:cs typeface="Cambria" pitchFamily="34" charset="-120"/>
              </a:rPr>
              <a:t>35 min</a:t>
            </a:r>
            <a:endParaRPr lang="en-US" sz="3600" dirty="0"/>
          </a:p>
        </p:txBody>
      </p:sp>
      <p:sp>
        <p:nvSpPr>
          <p:cNvPr id="5" name="Text 3"/>
          <p:cNvSpPr/>
          <p:nvPr/>
        </p:nvSpPr>
        <p:spPr>
          <a:xfrm>
            <a:off x="365760" y="1664208"/>
            <a:ext cx="2651760" cy="29260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saved per alert</a:t>
            </a:r>
            <a:endParaRPr lang="en-US" sz="1300" dirty="0"/>
          </a:p>
        </p:txBody>
      </p:sp>
      <p:sp>
        <p:nvSpPr>
          <p:cNvPr id="6" name="Text 4"/>
          <p:cNvSpPr/>
          <p:nvPr/>
        </p:nvSpPr>
        <p:spPr>
          <a:xfrm>
            <a:off x="365760" y="1975104"/>
            <a:ext cx="2651760" cy="502920"/>
          </a:xfrm>
          <a:prstGeom prst="rect">
            <a:avLst/>
          </a:prstGeom>
          <a:noFill/>
          <a:ln/>
        </p:spPr>
        <p:txBody>
          <a:bodyPr wrap="square" rtlCol="0" anchor="ctr"/>
          <a:lstStyle/>
          <a:p>
            <a:pPr marL="0" indent="0" algn="ctr">
              <a:buNone/>
            </a:pPr>
            <a:r>
              <a:rPr lang="en-US" sz="1000" i="1" dirty="0">
                <a:solidFill>
                  <a:srgbClr val="94A3B8"/>
                </a:solidFill>
                <a:latin typeface="Calibri" pitchFamily="34" charset="0"/>
                <a:ea typeface="Calibri" pitchFamily="34" charset="-122"/>
                <a:cs typeface="Calibri" pitchFamily="34" charset="-120"/>
              </a:rPr>
              <a:t>Estimate. 45 min manual vs 10 min Lumen</a:t>
            </a:r>
            <a:endParaRPr lang="en-US" sz="1000" dirty="0"/>
          </a:p>
        </p:txBody>
      </p:sp>
      <p:sp>
        <p:nvSpPr>
          <p:cNvPr id="7" name="Shape 5"/>
          <p:cNvSpPr/>
          <p:nvPr/>
        </p:nvSpPr>
        <p:spPr>
          <a:xfrm>
            <a:off x="3200400" y="960120"/>
            <a:ext cx="2651760" cy="1691640"/>
          </a:xfrm>
          <a:prstGeom prst="roundRect">
            <a:avLst>
              <a:gd name="adj" fmla="val 5405"/>
            </a:avLst>
          </a:prstGeom>
          <a:solidFill>
            <a:srgbClr val="1A1A2E"/>
          </a:solidFill>
          <a:ln w="6350">
            <a:solidFill>
              <a:srgbClr val="475569"/>
            </a:solidFill>
            <a:prstDash val="solid"/>
          </a:ln>
          <a:effectLst>
            <a:outerShdw blurRad="177800" dist="50800" dir="8100000" algn="bl" rotWithShape="0">
              <a:srgbClr val="000000">
                <a:alpha val="35000"/>
              </a:srgbClr>
            </a:outerShdw>
          </a:effectLst>
        </p:spPr>
        <p:txBody>
          <a:bodyPr/>
          <a:lstStyle/>
          <a:p>
            <a:endParaRPr lang="en-US"/>
          </a:p>
        </p:txBody>
      </p:sp>
      <p:sp>
        <p:nvSpPr>
          <p:cNvPr id="8" name="Text 6"/>
          <p:cNvSpPr/>
          <p:nvPr/>
        </p:nvSpPr>
        <p:spPr>
          <a:xfrm>
            <a:off x="3200400" y="1024128"/>
            <a:ext cx="2651760" cy="658368"/>
          </a:xfrm>
          <a:prstGeom prst="rect">
            <a:avLst/>
          </a:prstGeom>
          <a:noFill/>
          <a:ln/>
        </p:spPr>
        <p:txBody>
          <a:bodyPr wrap="square" rtlCol="0" anchor="ctr"/>
          <a:lstStyle/>
          <a:p>
            <a:pPr marL="0" indent="0" algn="ctr">
              <a:buNone/>
            </a:pPr>
            <a:r>
              <a:rPr lang="en-US" sz="3600" b="1" dirty="0">
                <a:solidFill>
                  <a:srgbClr val="A78BFA"/>
                </a:solidFill>
                <a:latin typeface="Cambria" pitchFamily="34" charset="0"/>
                <a:ea typeface="Cambria" pitchFamily="34" charset="-122"/>
                <a:cs typeface="Cambria" pitchFamily="34" charset="-120"/>
              </a:rPr>
              <a:t>3x</a:t>
            </a:r>
            <a:endParaRPr lang="en-US" sz="3600" dirty="0"/>
          </a:p>
        </p:txBody>
      </p:sp>
      <p:sp>
        <p:nvSpPr>
          <p:cNvPr id="9" name="Text 7"/>
          <p:cNvSpPr/>
          <p:nvPr/>
        </p:nvSpPr>
        <p:spPr>
          <a:xfrm>
            <a:off x="3200400" y="1664208"/>
            <a:ext cx="2651760" cy="29260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analyst throughput</a:t>
            </a:r>
            <a:endParaRPr lang="en-US" sz="1300" dirty="0"/>
          </a:p>
        </p:txBody>
      </p:sp>
      <p:sp>
        <p:nvSpPr>
          <p:cNvPr id="10" name="Text 8"/>
          <p:cNvSpPr/>
          <p:nvPr/>
        </p:nvSpPr>
        <p:spPr>
          <a:xfrm>
            <a:off x="3200400" y="1975104"/>
            <a:ext cx="2651760" cy="502920"/>
          </a:xfrm>
          <a:prstGeom prst="rect">
            <a:avLst/>
          </a:prstGeom>
          <a:noFill/>
          <a:ln/>
        </p:spPr>
        <p:txBody>
          <a:bodyPr wrap="square" rtlCol="0" anchor="ctr"/>
          <a:lstStyle/>
          <a:p>
            <a:pPr marL="0" indent="0" algn="ctr">
              <a:buNone/>
            </a:pPr>
            <a:r>
              <a:rPr lang="en-US" sz="1000" i="1" dirty="0">
                <a:solidFill>
                  <a:srgbClr val="94A3B8"/>
                </a:solidFill>
                <a:latin typeface="Calibri" pitchFamily="34" charset="0"/>
                <a:ea typeface="Calibri" pitchFamily="34" charset="-122"/>
                <a:cs typeface="Calibri" pitchFamily="34" charset="-120"/>
              </a:rPr>
              <a:t>Estimate. More low-level alerts cleared per day</a:t>
            </a:r>
            <a:endParaRPr lang="en-US" sz="1000" dirty="0"/>
          </a:p>
        </p:txBody>
      </p:sp>
      <p:sp>
        <p:nvSpPr>
          <p:cNvPr id="11" name="Shape 9"/>
          <p:cNvSpPr/>
          <p:nvPr/>
        </p:nvSpPr>
        <p:spPr>
          <a:xfrm>
            <a:off x="6035040" y="960120"/>
            <a:ext cx="2651760" cy="1691640"/>
          </a:xfrm>
          <a:prstGeom prst="roundRect">
            <a:avLst>
              <a:gd name="adj" fmla="val 5405"/>
            </a:avLst>
          </a:prstGeom>
          <a:solidFill>
            <a:srgbClr val="1A1A2E"/>
          </a:solidFill>
          <a:ln w="6350">
            <a:solidFill>
              <a:srgbClr val="475569"/>
            </a:solidFill>
            <a:prstDash val="solid"/>
          </a:ln>
          <a:effectLst>
            <a:outerShdw blurRad="177800" dist="50800" dir="8100000" algn="bl" rotWithShape="0">
              <a:srgbClr val="000000">
                <a:alpha val="35000"/>
              </a:srgbClr>
            </a:outerShdw>
          </a:effectLst>
        </p:spPr>
        <p:txBody>
          <a:bodyPr/>
          <a:lstStyle/>
          <a:p>
            <a:endParaRPr lang="en-US"/>
          </a:p>
        </p:txBody>
      </p:sp>
      <p:sp>
        <p:nvSpPr>
          <p:cNvPr id="12" name="Text 10"/>
          <p:cNvSpPr/>
          <p:nvPr/>
        </p:nvSpPr>
        <p:spPr>
          <a:xfrm>
            <a:off x="6035040" y="1024128"/>
            <a:ext cx="2651760" cy="658368"/>
          </a:xfrm>
          <a:prstGeom prst="rect">
            <a:avLst/>
          </a:prstGeom>
          <a:noFill/>
          <a:ln/>
        </p:spPr>
        <p:txBody>
          <a:bodyPr wrap="square" rtlCol="0" anchor="ctr"/>
          <a:lstStyle/>
          <a:p>
            <a:pPr marL="0" indent="0" algn="ctr">
              <a:buNone/>
            </a:pPr>
            <a:r>
              <a:rPr lang="en-US" sz="3600" b="1" dirty="0">
                <a:solidFill>
                  <a:srgbClr val="F59E0B"/>
                </a:solidFill>
                <a:latin typeface="Cambria" pitchFamily="34" charset="0"/>
                <a:ea typeface="Cambria" pitchFamily="34" charset="-122"/>
                <a:cs typeface="Cambria" pitchFamily="34" charset="-120"/>
              </a:rPr>
              <a:t>$45/hr</a:t>
            </a:r>
            <a:endParaRPr lang="en-US" sz="3600" dirty="0"/>
          </a:p>
        </p:txBody>
      </p:sp>
      <p:sp>
        <p:nvSpPr>
          <p:cNvPr id="13" name="Text 11"/>
          <p:cNvSpPr/>
          <p:nvPr/>
        </p:nvSpPr>
        <p:spPr>
          <a:xfrm>
            <a:off x="6035040" y="1664208"/>
            <a:ext cx="2651760" cy="29260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analyst loaded cost</a:t>
            </a:r>
            <a:endParaRPr lang="en-US" sz="1300" dirty="0"/>
          </a:p>
        </p:txBody>
      </p:sp>
      <p:sp>
        <p:nvSpPr>
          <p:cNvPr id="14" name="Text 12"/>
          <p:cNvSpPr/>
          <p:nvPr/>
        </p:nvSpPr>
        <p:spPr>
          <a:xfrm>
            <a:off x="6035040" y="1975104"/>
            <a:ext cx="2651760" cy="502920"/>
          </a:xfrm>
          <a:prstGeom prst="rect">
            <a:avLst/>
          </a:prstGeom>
          <a:noFill/>
          <a:ln/>
        </p:spPr>
        <p:txBody>
          <a:bodyPr wrap="square" rtlCol="0" anchor="ctr"/>
          <a:lstStyle/>
          <a:p>
            <a:pPr marL="0" indent="0" algn="ctr">
              <a:buNone/>
            </a:pPr>
            <a:r>
              <a:rPr lang="en-US" sz="1000" i="1" dirty="0">
                <a:solidFill>
                  <a:srgbClr val="94A3B8"/>
                </a:solidFill>
                <a:latin typeface="Calibri" pitchFamily="34" charset="0"/>
                <a:ea typeface="Calibri" pitchFamily="34" charset="-122"/>
                <a:cs typeface="Calibri" pitchFamily="34" charset="-120"/>
              </a:rPr>
              <a:t>BLS avg + 30% overhead</a:t>
            </a:r>
            <a:endParaRPr lang="en-US" sz="1000" dirty="0"/>
          </a:p>
        </p:txBody>
      </p:sp>
      <p:graphicFrame>
        <p:nvGraphicFramePr>
          <p:cNvPr id="15" name="Chart 0"/>
          <p:cNvGraphicFramePr/>
          <p:nvPr/>
        </p:nvGraphicFramePr>
        <p:xfrm>
          <a:off x="365760" y="2788920"/>
          <a:ext cx="5120640" cy="2011680"/>
        </p:xfrm>
        <a:graphic>
          <a:graphicData uri="http://schemas.openxmlformats.org/drawingml/2006/chart">
            <c:chart xmlns:c="http://schemas.openxmlformats.org/drawingml/2006/chart" xmlns:r="http://schemas.openxmlformats.org/officeDocument/2006/relationships" r:id="rId5"/>
          </a:graphicData>
        </a:graphic>
      </p:graphicFrame>
      <p:sp>
        <p:nvSpPr>
          <p:cNvPr id="16" name="Shape 13"/>
          <p:cNvSpPr/>
          <p:nvPr/>
        </p:nvSpPr>
        <p:spPr>
          <a:xfrm>
            <a:off x="5669280" y="2788920"/>
            <a:ext cx="3108960" cy="2011680"/>
          </a:xfrm>
          <a:prstGeom prst="roundRect">
            <a:avLst>
              <a:gd name="adj" fmla="val 3636"/>
            </a:avLst>
          </a:prstGeom>
          <a:solidFill>
            <a:srgbClr val="13131F"/>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sp>
        <p:nvSpPr>
          <p:cNvPr id="17" name="Text 14"/>
          <p:cNvSpPr/>
          <p:nvPr/>
        </p:nvSpPr>
        <p:spPr>
          <a:xfrm>
            <a:off x="5806440" y="2880360"/>
            <a:ext cx="2834640" cy="274320"/>
          </a:xfrm>
          <a:prstGeom prst="rect">
            <a:avLst/>
          </a:prstGeom>
          <a:noFill/>
          <a:ln/>
        </p:spPr>
        <p:txBody>
          <a:bodyPr wrap="square" rtlCol="0" anchor="ctr"/>
          <a:lstStyle/>
          <a:p>
            <a:pPr marL="0" indent="0" algn="l">
              <a:buNone/>
            </a:pPr>
            <a:r>
              <a:rPr lang="en-US" sz="1100" b="1" dirty="0">
                <a:solidFill>
                  <a:srgbClr val="A78BFA"/>
                </a:solidFill>
                <a:latin typeface="Calibri" pitchFamily="34" charset="0"/>
                <a:ea typeface="Calibri" pitchFamily="34" charset="-122"/>
                <a:cs typeface="Calibri" pitchFamily="34" charset="-120"/>
              </a:rPr>
              <a:t>Sources</a:t>
            </a:r>
            <a:endParaRPr lang="en-US" sz="1100" dirty="0"/>
          </a:p>
        </p:txBody>
      </p:sp>
      <p:sp>
        <p:nvSpPr>
          <p:cNvPr id="18" name="Text 15"/>
          <p:cNvSpPr/>
          <p:nvPr/>
        </p:nvSpPr>
        <p:spPr>
          <a:xfrm>
            <a:off x="5806440" y="3246120"/>
            <a:ext cx="2834640" cy="411480"/>
          </a:xfrm>
          <a:prstGeom prst="rect">
            <a:avLst/>
          </a:prstGeom>
          <a:noFill/>
          <a:ln/>
        </p:spPr>
        <p:txBody>
          <a:bodyPr wrap="square" rtlCol="0" anchor="ctr"/>
          <a:lstStyle/>
          <a:p>
            <a:pPr marL="342900" indent="-342900" algn="l">
              <a:buSzPct val="100000"/>
              <a:buChar char="•"/>
            </a:pPr>
            <a:r>
              <a:rPr lang="en-US" sz="950" i="1" dirty="0">
                <a:solidFill>
                  <a:srgbClr val="94A3B8"/>
                </a:solidFill>
                <a:latin typeface="Calibri" pitchFamily="34" charset="0"/>
                <a:ea typeface="Calibri" pitchFamily="34" charset="-122"/>
                <a:cs typeface="Calibri" pitchFamily="34" charset="-120"/>
              </a:rPr>
              <a:t>False-positive rate 90-95%: LexisNexis Risk Solutions</a:t>
            </a:r>
            <a:endParaRPr lang="en-US" sz="950" dirty="0"/>
          </a:p>
        </p:txBody>
      </p:sp>
      <p:sp>
        <p:nvSpPr>
          <p:cNvPr id="19" name="Text 16"/>
          <p:cNvSpPr/>
          <p:nvPr/>
        </p:nvSpPr>
        <p:spPr>
          <a:xfrm>
            <a:off x="5806440" y="3721608"/>
            <a:ext cx="2834640" cy="411480"/>
          </a:xfrm>
          <a:prstGeom prst="rect">
            <a:avLst/>
          </a:prstGeom>
          <a:noFill/>
          <a:ln/>
        </p:spPr>
        <p:txBody>
          <a:bodyPr wrap="square" rtlCol="0" anchor="ctr"/>
          <a:lstStyle/>
          <a:p>
            <a:pPr marL="342900" indent="-342900" algn="l">
              <a:buSzPct val="100000"/>
              <a:buChar char="•"/>
            </a:pPr>
            <a:r>
              <a:rPr lang="en-US" sz="950" i="1" dirty="0">
                <a:solidFill>
                  <a:srgbClr val="94A3B8"/>
                </a:solidFill>
                <a:latin typeface="Calibri" pitchFamily="34" charset="0"/>
                <a:ea typeface="Calibri" pitchFamily="34" charset="-122"/>
                <a:cs typeface="Calibri" pitchFamily="34" charset="-120"/>
              </a:rPr>
              <a:t>Case prep 30-45 min: ACAMS benchmarks. Lumen-side times are design estimates, not measured.</a:t>
            </a:r>
            <a:endParaRPr lang="en-US" sz="950" dirty="0"/>
          </a:p>
        </p:txBody>
      </p:sp>
      <p:sp>
        <p:nvSpPr>
          <p:cNvPr id="20" name="Text 17"/>
          <p:cNvSpPr/>
          <p:nvPr/>
        </p:nvSpPr>
        <p:spPr>
          <a:xfrm>
            <a:off x="5806440" y="4197096"/>
            <a:ext cx="2834640" cy="411480"/>
          </a:xfrm>
          <a:prstGeom prst="rect">
            <a:avLst/>
          </a:prstGeom>
          <a:noFill/>
          <a:ln/>
        </p:spPr>
        <p:txBody>
          <a:bodyPr wrap="square" rtlCol="0" anchor="ctr"/>
          <a:lstStyle/>
          <a:p>
            <a:pPr marL="342900" indent="-342900" algn="l">
              <a:buSzPct val="100000"/>
              <a:buChar char="•"/>
            </a:pPr>
            <a:r>
              <a:rPr lang="en-US" sz="950" i="1" dirty="0">
                <a:solidFill>
                  <a:srgbClr val="94A3B8"/>
                </a:solidFill>
                <a:latin typeface="Calibri" pitchFamily="34" charset="0"/>
                <a:ea typeface="Calibri" pitchFamily="34" charset="-122"/>
                <a:cs typeface="Calibri" pitchFamily="34" charset="-120"/>
              </a:rPr>
              <a:t>Analyst cost $90K loaded: BLS + Glassdoor + 30% overhead</a:t>
            </a:r>
            <a:endParaRPr lang="en-US" sz="950" dirty="0"/>
          </a:p>
        </p:txBody>
      </p:sp>
      <p:pic>
        <p:nvPicPr>
          <p:cNvPr id="21" name="Slide_15_Ryan">
            <a:hlinkClick r:id="" action="ppaction://media"/>
            <a:extLst>
              <a:ext uri="{FF2B5EF4-FFF2-40B4-BE49-F238E27FC236}">
                <a16:creationId xmlns:a16="http://schemas.microsoft.com/office/drawing/2014/main" id="{472C60B6-100C-FA14-6EFF-0A21922A5FCC}"/>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8305800" y="4303776"/>
            <a:ext cx="609600" cy="609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1848"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1"/>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0D0D14"/>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Governance and Regulatory Alignment</a:t>
            </a:r>
            <a:endParaRPr lang="en-US" sz="3400" dirty="0"/>
          </a:p>
        </p:txBody>
      </p:sp>
      <p:sp>
        <p:nvSpPr>
          <p:cNvPr id="3" name="Shape 1"/>
          <p:cNvSpPr/>
          <p:nvPr/>
        </p:nvSpPr>
        <p:spPr>
          <a:xfrm>
            <a:off x="365760" y="914400"/>
            <a:ext cx="8412480" cy="1051560"/>
          </a:xfrm>
          <a:prstGeom prst="roundRect">
            <a:avLst>
              <a:gd name="adj" fmla="val 6957"/>
            </a:avLst>
          </a:prstGeom>
          <a:solidFill>
            <a:srgbClr val="1A1A2E"/>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sp>
        <p:nvSpPr>
          <p:cNvPr id="4" name="Shape 2"/>
          <p:cNvSpPr/>
          <p:nvPr/>
        </p:nvSpPr>
        <p:spPr>
          <a:xfrm>
            <a:off x="365760" y="914400"/>
            <a:ext cx="1554480" cy="1051560"/>
          </a:xfrm>
          <a:prstGeom prst="roundRect">
            <a:avLst>
              <a:gd name="adj" fmla="val 6957"/>
            </a:avLst>
          </a:prstGeom>
          <a:solidFill>
            <a:srgbClr val="7C3AED">
              <a:alpha val="20000"/>
            </a:srgbClr>
          </a:solidFill>
          <a:ln w="6350">
            <a:solidFill>
              <a:srgbClr val="7C3AED"/>
            </a:solidFill>
            <a:prstDash val="solid"/>
          </a:ln>
        </p:spPr>
        <p:txBody>
          <a:bodyPr/>
          <a:lstStyle/>
          <a:p>
            <a:endParaRPr lang="en-US"/>
          </a:p>
        </p:txBody>
      </p:sp>
      <p:sp>
        <p:nvSpPr>
          <p:cNvPr id="5" name="Text 3"/>
          <p:cNvSpPr/>
          <p:nvPr/>
        </p:nvSpPr>
        <p:spPr>
          <a:xfrm>
            <a:off x="365760" y="914400"/>
            <a:ext cx="1554480" cy="1051560"/>
          </a:xfrm>
          <a:prstGeom prst="rect">
            <a:avLst/>
          </a:prstGeom>
          <a:noFill/>
          <a:ln/>
        </p:spPr>
        <p:txBody>
          <a:bodyPr wrap="square" lIns="0" tIns="0" rIns="0" bIns="0" rtlCol="0" anchor="ctr"/>
          <a:lstStyle/>
          <a:p>
            <a:pPr marL="0" indent="0" algn="ctr">
              <a:buNone/>
            </a:pPr>
            <a:r>
              <a:rPr lang="en-US" sz="1100" b="1" dirty="0">
                <a:solidFill>
                  <a:srgbClr val="7C3AED"/>
                </a:solidFill>
                <a:latin typeface="Calibri" pitchFamily="34" charset="0"/>
                <a:ea typeface="Calibri" pitchFamily="34" charset="-122"/>
                <a:cs typeface="Calibri" pitchFamily="34" charset="-120"/>
              </a:rPr>
              <a:t>SR 26-2</a:t>
            </a:r>
            <a:endParaRPr lang="en-US" sz="1100" dirty="0"/>
          </a:p>
        </p:txBody>
      </p:sp>
      <p:sp>
        <p:nvSpPr>
          <p:cNvPr id="6" name="Text 4"/>
          <p:cNvSpPr/>
          <p:nvPr/>
        </p:nvSpPr>
        <p:spPr>
          <a:xfrm>
            <a:off x="2029968" y="1078992"/>
            <a:ext cx="6492240" cy="749808"/>
          </a:xfrm>
          <a:prstGeom prst="rect">
            <a:avLst/>
          </a:prstGeom>
          <a:noFill/>
          <a:ln/>
        </p:spPr>
        <p:txBody>
          <a:bodyPr wrap="square" rtlCol="0" anchor="ctr"/>
          <a:lstStyle/>
          <a:p>
            <a:pPr marL="0" indent="0" algn="l">
              <a:buNone/>
            </a:pPr>
            <a:r>
              <a:rPr lang="en-US" sz="1150" dirty="0">
                <a:solidFill>
                  <a:srgbClr val="94A3B8"/>
                </a:solidFill>
                <a:latin typeface="Calibri" pitchFamily="34" charset="0"/>
                <a:ea typeface="Calibri" pitchFamily="34" charset="-122"/>
                <a:cs typeface="Calibri" pitchFamily="34" charset="-120"/>
              </a:rPr>
              <a:t>April 2026. Supersedes SR 11-7 and SR 21-8. Explicitly excludes generative AI from the legacy model risk framework. Lumen's verification spine is designed as a practical control layer around GenAI-assisted compliance work.</a:t>
            </a:r>
            <a:endParaRPr lang="en-US" sz="1150" dirty="0"/>
          </a:p>
        </p:txBody>
      </p:sp>
      <p:sp>
        <p:nvSpPr>
          <p:cNvPr id="7" name="Shape 5"/>
          <p:cNvSpPr/>
          <p:nvPr/>
        </p:nvSpPr>
        <p:spPr>
          <a:xfrm>
            <a:off x="365760" y="2148840"/>
            <a:ext cx="8412480" cy="1051560"/>
          </a:xfrm>
          <a:prstGeom prst="roundRect">
            <a:avLst>
              <a:gd name="adj" fmla="val 6957"/>
            </a:avLst>
          </a:prstGeom>
          <a:solidFill>
            <a:srgbClr val="1A1A2E"/>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sp>
        <p:nvSpPr>
          <p:cNvPr id="8" name="Shape 6"/>
          <p:cNvSpPr/>
          <p:nvPr/>
        </p:nvSpPr>
        <p:spPr>
          <a:xfrm>
            <a:off x="365760" y="2148840"/>
            <a:ext cx="1554480" cy="1051560"/>
          </a:xfrm>
          <a:prstGeom prst="roundRect">
            <a:avLst>
              <a:gd name="adj" fmla="val 6957"/>
            </a:avLst>
          </a:prstGeom>
          <a:solidFill>
            <a:srgbClr val="84CC16">
              <a:alpha val="20000"/>
            </a:srgbClr>
          </a:solidFill>
          <a:ln w="6350">
            <a:solidFill>
              <a:srgbClr val="84CC16"/>
            </a:solidFill>
            <a:prstDash val="solid"/>
          </a:ln>
        </p:spPr>
        <p:txBody>
          <a:bodyPr/>
          <a:lstStyle/>
          <a:p>
            <a:endParaRPr lang="en-US"/>
          </a:p>
        </p:txBody>
      </p:sp>
      <p:sp>
        <p:nvSpPr>
          <p:cNvPr id="9" name="Text 7"/>
          <p:cNvSpPr/>
          <p:nvPr/>
        </p:nvSpPr>
        <p:spPr>
          <a:xfrm>
            <a:off x="365760" y="2148840"/>
            <a:ext cx="1554480" cy="1051560"/>
          </a:xfrm>
          <a:prstGeom prst="rect">
            <a:avLst/>
          </a:prstGeom>
          <a:noFill/>
          <a:ln/>
        </p:spPr>
        <p:txBody>
          <a:bodyPr wrap="square" lIns="0" tIns="0" rIns="0" bIns="0" rtlCol="0" anchor="ctr"/>
          <a:lstStyle/>
          <a:p>
            <a:pPr marL="0" indent="0" algn="ctr">
              <a:buNone/>
            </a:pPr>
            <a:r>
              <a:rPr lang="en-US" sz="1100" b="1" dirty="0">
                <a:solidFill>
                  <a:srgbClr val="84CC16"/>
                </a:solidFill>
                <a:latin typeface="Calibri" pitchFamily="34" charset="0"/>
                <a:ea typeface="Calibri" pitchFamily="34" charset="-122"/>
                <a:cs typeface="Calibri" pitchFamily="34" charset="-120"/>
              </a:rPr>
              <a:t>FinCEN Oct 2025 SAR FAQ</a:t>
            </a:r>
            <a:endParaRPr lang="en-US" sz="1100" dirty="0"/>
          </a:p>
        </p:txBody>
      </p:sp>
      <p:sp>
        <p:nvSpPr>
          <p:cNvPr id="10" name="Text 8"/>
          <p:cNvSpPr/>
          <p:nvPr/>
        </p:nvSpPr>
        <p:spPr>
          <a:xfrm>
            <a:off x="2029968" y="2313432"/>
            <a:ext cx="6492240" cy="749808"/>
          </a:xfrm>
          <a:prstGeom prst="rect">
            <a:avLst/>
          </a:prstGeom>
          <a:noFill/>
          <a:ln/>
        </p:spPr>
        <p:txBody>
          <a:bodyPr wrap="square" rtlCol="0" anchor="ctr"/>
          <a:lstStyle/>
          <a:p>
            <a:pPr marL="0" indent="0" algn="l">
              <a:buNone/>
            </a:pPr>
            <a:r>
              <a:rPr lang="en-US" sz="1150" dirty="0">
                <a:solidFill>
                  <a:srgbClr val="94A3B8"/>
                </a:solidFill>
                <a:latin typeface="Calibri" pitchFamily="34" charset="0"/>
                <a:ea typeface="Calibri" pitchFamily="34" charset="-122"/>
                <a:cs typeface="Calibri" pitchFamily="34" charset="-120"/>
              </a:rPr>
              <a:t>Supports disciplined SAR decisioning and value-over-volume reporting. Lumen preserves the evidence trail and human rationale behind AI-assisted case decisions.</a:t>
            </a:r>
            <a:endParaRPr lang="en-US" sz="1150" dirty="0"/>
          </a:p>
        </p:txBody>
      </p:sp>
      <p:sp>
        <p:nvSpPr>
          <p:cNvPr id="11" name="Shape 9"/>
          <p:cNvSpPr/>
          <p:nvPr/>
        </p:nvSpPr>
        <p:spPr>
          <a:xfrm>
            <a:off x="365760" y="3383280"/>
            <a:ext cx="8412480" cy="1051560"/>
          </a:xfrm>
          <a:prstGeom prst="roundRect">
            <a:avLst>
              <a:gd name="adj" fmla="val 6957"/>
            </a:avLst>
          </a:prstGeom>
          <a:solidFill>
            <a:srgbClr val="1A1A2E"/>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sp>
        <p:nvSpPr>
          <p:cNvPr id="12" name="Shape 10"/>
          <p:cNvSpPr/>
          <p:nvPr/>
        </p:nvSpPr>
        <p:spPr>
          <a:xfrm>
            <a:off x="365760" y="3383280"/>
            <a:ext cx="1554480" cy="1051560"/>
          </a:xfrm>
          <a:prstGeom prst="roundRect">
            <a:avLst>
              <a:gd name="adj" fmla="val 6957"/>
            </a:avLst>
          </a:prstGeom>
          <a:solidFill>
            <a:srgbClr val="22C55E">
              <a:alpha val="20000"/>
            </a:srgbClr>
          </a:solidFill>
          <a:ln w="6350">
            <a:solidFill>
              <a:srgbClr val="22C55E"/>
            </a:solidFill>
            <a:prstDash val="solid"/>
          </a:ln>
        </p:spPr>
        <p:txBody>
          <a:bodyPr/>
          <a:lstStyle/>
          <a:p>
            <a:endParaRPr lang="en-US"/>
          </a:p>
        </p:txBody>
      </p:sp>
      <p:sp>
        <p:nvSpPr>
          <p:cNvPr id="13" name="Text 11"/>
          <p:cNvSpPr/>
          <p:nvPr/>
        </p:nvSpPr>
        <p:spPr>
          <a:xfrm>
            <a:off x="365760" y="3383280"/>
            <a:ext cx="1554480" cy="1051560"/>
          </a:xfrm>
          <a:prstGeom prst="rect">
            <a:avLst/>
          </a:prstGeom>
          <a:noFill/>
          <a:ln/>
        </p:spPr>
        <p:txBody>
          <a:bodyPr wrap="square" lIns="0" tIns="0" rIns="0" bIns="0" rtlCol="0" anchor="ctr"/>
          <a:lstStyle/>
          <a:p>
            <a:pPr marL="0" indent="0" algn="ctr">
              <a:buNone/>
            </a:pPr>
            <a:r>
              <a:rPr lang="en-US" sz="1100" b="1" dirty="0">
                <a:solidFill>
                  <a:srgbClr val="22C55E"/>
                </a:solidFill>
                <a:latin typeface="Calibri" pitchFamily="34" charset="0"/>
                <a:ea typeface="Calibri" pitchFamily="34" charset="-122"/>
                <a:cs typeface="Calibri" pitchFamily="34" charset="-120"/>
              </a:rPr>
              <a:t>FFIEC Examination</a:t>
            </a:r>
            <a:endParaRPr lang="en-US" sz="1100" dirty="0"/>
          </a:p>
        </p:txBody>
      </p:sp>
      <p:sp>
        <p:nvSpPr>
          <p:cNvPr id="14" name="Text 12"/>
          <p:cNvSpPr/>
          <p:nvPr/>
        </p:nvSpPr>
        <p:spPr>
          <a:xfrm>
            <a:off x="2029968" y="3547872"/>
            <a:ext cx="6492240" cy="749808"/>
          </a:xfrm>
          <a:prstGeom prst="rect">
            <a:avLst/>
          </a:prstGeom>
          <a:noFill/>
          <a:ln/>
        </p:spPr>
        <p:txBody>
          <a:bodyPr wrap="square" rtlCol="0" anchor="ctr"/>
          <a:lstStyle/>
          <a:p>
            <a:pPr marL="0" indent="0" algn="l">
              <a:buNone/>
            </a:pPr>
            <a:r>
              <a:rPr lang="en-US" sz="1150" dirty="0">
                <a:solidFill>
                  <a:srgbClr val="94A3B8"/>
                </a:solidFill>
                <a:latin typeface="Calibri" pitchFamily="34" charset="0"/>
                <a:ea typeface="Calibri" pitchFamily="34" charset="-122"/>
                <a:cs typeface="Calibri" pitchFamily="34" charset="-120"/>
              </a:rPr>
              <a:t>SAR narratives and supporting records must be accurate, complete, and explainable. Lumen preserves claim-level verification results and an examiner-reviewable audit trail.</a:t>
            </a:r>
            <a:endParaRPr lang="en-US" sz="1150" dirty="0"/>
          </a:p>
        </p:txBody>
      </p:sp>
      <p:sp>
        <p:nvSpPr>
          <p:cNvPr id="15" name="Text 13"/>
          <p:cNvSpPr/>
          <p:nvPr/>
        </p:nvSpPr>
        <p:spPr>
          <a:xfrm>
            <a:off x="365760" y="4681728"/>
            <a:ext cx="8412480" cy="347472"/>
          </a:xfrm>
          <a:prstGeom prst="rect">
            <a:avLst/>
          </a:prstGeom>
          <a:noFill/>
          <a:ln/>
        </p:spPr>
        <p:txBody>
          <a:bodyPr wrap="square" rtlCol="0" anchor="ctr"/>
          <a:lstStyle/>
          <a:p>
            <a:pPr marL="0" indent="0" algn="ctr">
              <a:buNone/>
            </a:pPr>
            <a:r>
              <a:rPr lang="en-US" sz="1300" i="1" dirty="0">
                <a:solidFill>
                  <a:srgbClr val="A78BFA"/>
                </a:solidFill>
                <a:latin typeface="Calibri" pitchFamily="34" charset="0"/>
                <a:ea typeface="Calibri" pitchFamily="34" charset="-122"/>
                <a:cs typeface="Calibri" pitchFamily="34" charset="-120"/>
              </a:rPr>
              <a:t>If this system were deployed tomorrow at a global bank, would it align with regulator expectations?</a:t>
            </a:r>
            <a:endParaRPr lang="en-US" sz="1300" dirty="0"/>
          </a:p>
        </p:txBody>
      </p:sp>
      <p:pic>
        <p:nvPicPr>
          <p:cNvPr id="16" name="Slide 16 - Leishka">
            <a:hlinkClick r:id="" action="ppaction://media"/>
            <a:extLst>
              <a:ext uri="{FF2B5EF4-FFF2-40B4-BE49-F238E27FC236}">
                <a16:creationId xmlns:a16="http://schemas.microsoft.com/office/drawing/2014/main" id="{F86F1B8A-C8D5-5FA3-2A3E-5C2F3FFF879D}"/>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382000" y="4376928"/>
            <a:ext cx="609600" cy="609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9083"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16"/>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0D0D14"/>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How Lumen Differs From Common AI Compliance Tools</a:t>
            </a:r>
            <a:endParaRPr lang="en-US" sz="2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65760" y="868680"/>
          <a:ext cx="8412480" cy="3931920"/>
        </p:xfrm>
        <a:graphic>
          <a:graphicData uri="http://schemas.openxmlformats.org/drawingml/2006/table">
            <a:tbl>
              <a:tblPr/>
              <a:tblGrid>
                <a:gridCol w="219456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393192">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Category</a:t>
                      </a:r>
                      <a:endParaRPr lang="en-US" sz="1100" dirty="0">
                        <a:latin typeface="Calibri" charset="0"/>
                        <a:ea typeface="Calibri" charset="0"/>
                        <a:cs typeface="Calibri" charset="0"/>
                      </a:endParaRP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A1A2E"/>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Common AI-First Approach</a:t>
                      </a:r>
                      <a:endParaRPr lang="en-US" sz="1100" dirty="0">
                        <a:latin typeface="Calibri" charset="0"/>
                        <a:ea typeface="Calibri" charset="0"/>
                        <a:cs typeface="Calibri" charset="0"/>
                      </a:endParaRP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A1A2E"/>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Lumen Verify</a:t>
                      </a:r>
                      <a:endParaRPr lang="en-US" sz="1100" dirty="0">
                        <a:latin typeface="Calibri" charset="0"/>
                        <a:ea typeface="Calibri" charset="0"/>
                        <a:cs typeface="Calibri" charset="0"/>
                      </a:endParaRP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A1A2E"/>
                    </a:solidFill>
                  </a:tcPr>
                </a:tc>
                <a:extLst>
                  <a:ext uri="{0D108BD9-81ED-4DB2-BD59-A6C34878D82A}">
                    <a16:rowId xmlns:a16="http://schemas.microsoft.com/office/drawing/2014/main" val="10000"/>
                  </a:ext>
                </a:extLst>
              </a:tr>
              <a:tr h="393192">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AI Output</a:t>
                      </a:r>
                      <a:endParaRPr lang="en-US" sz="1200" dirty="0">
                        <a:latin typeface="Calibri" charset="0"/>
                        <a:ea typeface="Calibri" charset="0"/>
                        <a:cs typeface="Calibri" charset="0"/>
                      </a:endParaRP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A1A2E"/>
                    </a:solidFill>
                  </a:tcPr>
                </a:tc>
                <a:tc>
                  <a:txBody>
                    <a:bodyPr/>
                    <a:lstStyle/>
                    <a:p>
                      <a:pPr marL="0" indent="0" algn="ctr">
                        <a:buNone/>
                      </a:pPr>
                      <a:r>
                        <a:rPr lang="en-US" sz="1200" dirty="0">
                          <a:solidFill>
                            <a:srgbClr val="FCA5A5"/>
                          </a:solidFill>
                          <a:latin typeface="Calibri" pitchFamily="34" charset="0"/>
                          <a:ea typeface="Calibri" pitchFamily="34" charset="-122"/>
                          <a:cs typeface="Calibri" pitchFamily="34" charset="-120"/>
                        </a:rPr>
                        <a:t>Natural-language summary</a:t>
                      </a:r>
                      <a:endParaRPr lang="en-US" sz="1200" dirty="0">
                        <a:latin typeface="Calibri" charset="0"/>
                        <a:ea typeface="Calibri" charset="0"/>
                        <a:cs typeface="Calibri" charset="0"/>
                      </a:endParaRP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EF4444">
                        <a:alpha val="8000"/>
                      </a:srgbClr>
                    </a:solidFill>
                  </a:tcPr>
                </a:tc>
                <a:tc>
                  <a:txBody>
                    <a:bodyPr/>
                    <a:lstStyle/>
                    <a:p>
                      <a:pPr marL="0" indent="0" algn="ctr">
                        <a:buNone/>
                      </a:pPr>
                      <a:r>
                        <a:rPr lang="en-US" sz="1200" dirty="0">
                          <a:solidFill>
                            <a:srgbClr val="BEF264"/>
                          </a:solidFill>
                          <a:latin typeface="Calibri" pitchFamily="34" charset="0"/>
                          <a:ea typeface="Calibri" pitchFamily="34" charset="-122"/>
                          <a:cs typeface="Calibri" pitchFamily="34" charset="-120"/>
                        </a:rPr>
                        <a:t>Structured claim object</a:t>
                      </a:r>
                      <a:endParaRPr lang="en-US" sz="1200" dirty="0">
                        <a:latin typeface="Calibri" charset="0"/>
                        <a:ea typeface="Calibri" charset="0"/>
                        <a:cs typeface="Calibri" charset="0"/>
                      </a:endParaRP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84CC16">
                        <a:alpha val="12000"/>
                      </a:srgbClr>
                    </a:solidFill>
                  </a:tcPr>
                </a:tc>
                <a:extLst>
                  <a:ext uri="{0D108BD9-81ED-4DB2-BD59-A6C34878D82A}">
                    <a16:rowId xmlns:a16="http://schemas.microsoft.com/office/drawing/2014/main" val="10001"/>
                  </a:ext>
                </a:extLst>
              </a:tr>
              <a:tr h="393192">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Claim Scope</a:t>
                      </a:r>
                      <a:endParaRPr lang="en-US" sz="1200" dirty="0">
                        <a:latin typeface="Calibri" charset="0"/>
                        <a:ea typeface="Calibri" charset="0"/>
                        <a:cs typeface="Calibri" charset="0"/>
                      </a:endParaRP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A1A2E"/>
                    </a:solidFill>
                  </a:tcPr>
                </a:tc>
                <a:tc>
                  <a:txBody>
                    <a:bodyPr/>
                    <a:lstStyle/>
                    <a:p>
                      <a:pPr marL="0" indent="0" algn="ctr">
                        <a:buNone/>
                      </a:pPr>
                      <a:r>
                        <a:rPr lang="en-US" sz="1200" dirty="0">
                          <a:solidFill>
                            <a:srgbClr val="FCA5A5"/>
                          </a:solidFill>
                          <a:latin typeface="Calibri" pitchFamily="34" charset="0"/>
                          <a:ea typeface="Calibri" pitchFamily="34" charset="-122"/>
                          <a:cs typeface="Calibri" pitchFamily="34" charset="-120"/>
                        </a:rPr>
                        <a:t>Open-ended model response</a:t>
                      </a:r>
                      <a:endParaRPr lang="en-US" sz="1200" dirty="0">
                        <a:latin typeface="Calibri" charset="0"/>
                        <a:ea typeface="Calibri" charset="0"/>
                        <a:cs typeface="Calibri" charset="0"/>
                      </a:endParaRP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EF4444">
                        <a:alpha val="8000"/>
                      </a:srgbClr>
                    </a:solidFill>
                  </a:tcPr>
                </a:tc>
                <a:tc>
                  <a:txBody>
                    <a:bodyPr/>
                    <a:lstStyle/>
                    <a:p>
                      <a:pPr marL="0" indent="0" algn="ctr">
                        <a:buNone/>
                      </a:pPr>
                      <a:r>
                        <a:rPr lang="en-US" sz="1200" dirty="0">
                          <a:solidFill>
                            <a:srgbClr val="BEF264"/>
                          </a:solidFill>
                          <a:latin typeface="Calibri" pitchFamily="34" charset="0"/>
                          <a:ea typeface="Calibri" pitchFamily="34" charset="-122"/>
                          <a:cs typeface="Calibri" pitchFamily="34" charset="-120"/>
                        </a:rPr>
                        <a:t>Closed 9-type vocabulary</a:t>
                      </a:r>
                      <a:endParaRPr lang="en-US" sz="1200" dirty="0">
                        <a:latin typeface="Calibri" charset="0"/>
                        <a:ea typeface="Calibri" charset="0"/>
                        <a:cs typeface="Calibri" charset="0"/>
                      </a:endParaRP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84CC16">
                        <a:alpha val="12000"/>
                      </a:srgbClr>
                    </a:solidFill>
                  </a:tcPr>
                </a:tc>
                <a:extLst>
                  <a:ext uri="{0D108BD9-81ED-4DB2-BD59-A6C34878D82A}">
                    <a16:rowId xmlns:a16="http://schemas.microsoft.com/office/drawing/2014/main" val="10002"/>
                  </a:ext>
                </a:extLst>
              </a:tr>
              <a:tr h="393192">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Validation</a:t>
                      </a:r>
                      <a:endParaRPr lang="en-US" sz="1200" dirty="0">
                        <a:latin typeface="Calibri" charset="0"/>
                        <a:ea typeface="Calibri" charset="0"/>
                        <a:cs typeface="Calibri" charset="0"/>
                      </a:endParaRP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A1A2E"/>
                    </a:solidFill>
                  </a:tcPr>
                </a:tc>
                <a:tc>
                  <a:txBody>
                    <a:bodyPr/>
                    <a:lstStyle/>
                    <a:p>
                      <a:pPr marL="0" indent="0" algn="ctr">
                        <a:buNone/>
                      </a:pPr>
                      <a:r>
                        <a:rPr lang="en-US" sz="1200" dirty="0">
                          <a:solidFill>
                            <a:srgbClr val="FCA5A5"/>
                          </a:solidFill>
                          <a:latin typeface="Calibri" pitchFamily="34" charset="0"/>
                          <a:ea typeface="Calibri" pitchFamily="34" charset="-122"/>
                          <a:cs typeface="Calibri" pitchFamily="34" charset="-120"/>
                        </a:rPr>
                        <a:t>Mostly prompt-based</a:t>
                      </a:r>
                      <a:endParaRPr lang="en-US" sz="1200" dirty="0">
                        <a:latin typeface="Calibri" charset="0"/>
                        <a:ea typeface="Calibri" charset="0"/>
                        <a:cs typeface="Calibri" charset="0"/>
                      </a:endParaRP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EF4444">
                        <a:alpha val="8000"/>
                      </a:srgbClr>
                    </a:solidFill>
                  </a:tcPr>
                </a:tc>
                <a:tc>
                  <a:txBody>
                    <a:bodyPr/>
                    <a:lstStyle/>
                    <a:p>
                      <a:pPr marL="0" indent="0" algn="ctr">
                        <a:buNone/>
                      </a:pPr>
                      <a:r>
                        <a:rPr lang="en-US" sz="1200" dirty="0">
                          <a:solidFill>
                            <a:srgbClr val="BEF264"/>
                          </a:solidFill>
                          <a:latin typeface="Calibri" pitchFamily="34" charset="0"/>
                          <a:ea typeface="Calibri" pitchFamily="34" charset="-122"/>
                          <a:cs typeface="Calibri" pitchFamily="34" charset="-120"/>
                        </a:rPr>
                        <a:t>Tool schema + Python gates</a:t>
                      </a:r>
                      <a:endParaRPr lang="en-US" sz="1200" dirty="0">
                        <a:latin typeface="Calibri" charset="0"/>
                        <a:ea typeface="Calibri" charset="0"/>
                        <a:cs typeface="Calibri" charset="0"/>
                      </a:endParaRP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84CC16">
                        <a:alpha val="12000"/>
                      </a:srgbClr>
                    </a:solidFill>
                  </a:tcPr>
                </a:tc>
                <a:extLst>
                  <a:ext uri="{0D108BD9-81ED-4DB2-BD59-A6C34878D82A}">
                    <a16:rowId xmlns:a16="http://schemas.microsoft.com/office/drawing/2014/main" val="10003"/>
                  </a:ext>
                </a:extLst>
              </a:tr>
              <a:tr h="393192">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Verification</a:t>
                      </a:r>
                      <a:endParaRPr lang="en-US" sz="1200" dirty="0">
                        <a:latin typeface="Calibri" charset="0"/>
                        <a:ea typeface="Calibri" charset="0"/>
                        <a:cs typeface="Calibri" charset="0"/>
                      </a:endParaRP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A1A2E"/>
                    </a:solidFill>
                  </a:tcPr>
                </a:tc>
                <a:tc>
                  <a:txBody>
                    <a:bodyPr/>
                    <a:lstStyle/>
                    <a:p>
                      <a:pPr marL="0" indent="0" algn="ctr">
                        <a:buNone/>
                      </a:pPr>
                      <a:r>
                        <a:rPr lang="en-US" sz="1200" dirty="0">
                          <a:solidFill>
                            <a:srgbClr val="FCA5A5"/>
                          </a:solidFill>
                          <a:latin typeface="Calibri" pitchFamily="34" charset="0"/>
                          <a:ea typeface="Calibri" pitchFamily="34" charset="-122"/>
                          <a:cs typeface="Calibri" pitchFamily="34" charset="-120"/>
                        </a:rPr>
                        <a:t>AI-assisted confidence</a:t>
                      </a:r>
                      <a:endParaRPr lang="en-US" sz="1200" dirty="0">
                        <a:latin typeface="Calibri" charset="0"/>
                        <a:ea typeface="Calibri" charset="0"/>
                        <a:cs typeface="Calibri" charset="0"/>
                      </a:endParaRP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EF4444">
                        <a:alpha val="8000"/>
                      </a:srgbClr>
                    </a:solidFill>
                  </a:tcPr>
                </a:tc>
                <a:tc>
                  <a:txBody>
                    <a:bodyPr/>
                    <a:lstStyle/>
                    <a:p>
                      <a:pPr marL="0" indent="0" algn="ctr">
                        <a:buNone/>
                      </a:pPr>
                      <a:r>
                        <a:rPr lang="en-US" sz="1200" dirty="0">
                          <a:solidFill>
                            <a:srgbClr val="BEF264"/>
                          </a:solidFill>
                          <a:latin typeface="Calibri" pitchFamily="34" charset="0"/>
                          <a:ea typeface="Calibri" pitchFamily="34" charset="-122"/>
                          <a:cs typeface="Calibri" pitchFamily="34" charset="-120"/>
                        </a:rPr>
                        <a:t>Deterministic source-table check</a:t>
                      </a:r>
                      <a:endParaRPr lang="en-US" sz="1200" dirty="0">
                        <a:latin typeface="Calibri" charset="0"/>
                        <a:ea typeface="Calibri" charset="0"/>
                        <a:cs typeface="Calibri" charset="0"/>
                      </a:endParaRP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84CC16">
                        <a:alpha val="12000"/>
                      </a:srgbClr>
                    </a:solidFill>
                  </a:tcPr>
                </a:tc>
                <a:extLst>
                  <a:ext uri="{0D108BD9-81ED-4DB2-BD59-A6C34878D82A}">
                    <a16:rowId xmlns:a16="http://schemas.microsoft.com/office/drawing/2014/main" val="10004"/>
                  </a:ext>
                </a:extLst>
              </a:tr>
              <a:tr h="393192">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Failure Behavior</a:t>
                      </a:r>
                      <a:endParaRPr lang="en-US" sz="1200" dirty="0">
                        <a:latin typeface="Calibri" charset="0"/>
                        <a:ea typeface="Calibri" charset="0"/>
                        <a:cs typeface="Calibri" charset="0"/>
                      </a:endParaRP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A1A2E"/>
                    </a:solidFill>
                  </a:tcPr>
                </a:tc>
                <a:tc>
                  <a:txBody>
                    <a:bodyPr/>
                    <a:lstStyle/>
                    <a:p>
                      <a:pPr marL="0" indent="0" algn="ctr">
                        <a:buNone/>
                      </a:pPr>
                      <a:r>
                        <a:rPr lang="en-US" sz="1200" dirty="0">
                          <a:solidFill>
                            <a:srgbClr val="FCA5A5"/>
                          </a:solidFill>
                          <a:latin typeface="Calibri" pitchFamily="34" charset="0"/>
                          <a:ea typeface="Calibri" pitchFamily="34" charset="-122"/>
                          <a:cs typeface="Calibri" pitchFamily="34" charset="-120"/>
                        </a:rPr>
                        <a:t>Analyst still sees weak output</a:t>
                      </a:r>
                      <a:endParaRPr lang="en-US" sz="1200" dirty="0">
                        <a:latin typeface="Calibri" charset="0"/>
                        <a:ea typeface="Calibri" charset="0"/>
                        <a:cs typeface="Calibri" charset="0"/>
                      </a:endParaRP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EF4444">
                        <a:alpha val="8000"/>
                      </a:srgbClr>
                    </a:solidFill>
                  </a:tcPr>
                </a:tc>
                <a:tc>
                  <a:txBody>
                    <a:bodyPr/>
                    <a:lstStyle/>
                    <a:p>
                      <a:pPr marL="0" indent="0" algn="ctr">
                        <a:buNone/>
                      </a:pPr>
                      <a:r>
                        <a:rPr lang="en-US" sz="1200" dirty="0">
                          <a:solidFill>
                            <a:srgbClr val="BEF264"/>
                          </a:solidFill>
                          <a:latin typeface="Calibri" pitchFamily="34" charset="0"/>
                          <a:ea typeface="Calibri" pitchFamily="34" charset="-122"/>
                          <a:cs typeface="Calibri" pitchFamily="34" charset="-120"/>
                        </a:rPr>
                        <a:t>Contradiction flagged before review</a:t>
                      </a:r>
                      <a:endParaRPr lang="en-US" sz="1200" dirty="0">
                        <a:latin typeface="Calibri" charset="0"/>
                        <a:ea typeface="Calibri" charset="0"/>
                        <a:cs typeface="Calibri" charset="0"/>
                      </a:endParaRP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84CC16">
                        <a:alpha val="12000"/>
                      </a:srgbClr>
                    </a:solidFill>
                  </a:tcPr>
                </a:tc>
                <a:extLst>
                  <a:ext uri="{0D108BD9-81ED-4DB2-BD59-A6C34878D82A}">
                    <a16:rowId xmlns:a16="http://schemas.microsoft.com/office/drawing/2014/main" val="10005"/>
                  </a:ext>
                </a:extLst>
              </a:tr>
              <a:tr h="393192">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Human Review</a:t>
                      </a:r>
                      <a:endParaRPr lang="en-US" sz="1200" dirty="0">
                        <a:latin typeface="Calibri" charset="0"/>
                        <a:ea typeface="Calibri" charset="0"/>
                        <a:cs typeface="Calibri" charset="0"/>
                      </a:endParaRP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A1A2E"/>
                    </a:solidFill>
                  </a:tcPr>
                </a:tc>
                <a:tc>
                  <a:txBody>
                    <a:bodyPr/>
                    <a:lstStyle/>
                    <a:p>
                      <a:pPr marL="0" indent="0" algn="ctr">
                        <a:buNone/>
                      </a:pPr>
                      <a:r>
                        <a:rPr lang="en-US" sz="1200" dirty="0">
                          <a:solidFill>
                            <a:srgbClr val="FCA5A5"/>
                          </a:solidFill>
                          <a:latin typeface="Calibri" pitchFamily="34" charset="0"/>
                          <a:ea typeface="Calibri" pitchFamily="34" charset="-122"/>
                          <a:cs typeface="Calibri" pitchFamily="34" charset="-120"/>
                        </a:rPr>
                        <a:t>Checkbox approval</a:t>
                      </a:r>
                      <a:endParaRPr lang="en-US" sz="1200" dirty="0">
                        <a:latin typeface="Calibri" charset="0"/>
                        <a:ea typeface="Calibri" charset="0"/>
                        <a:cs typeface="Calibri" charset="0"/>
                      </a:endParaRP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EF4444">
                        <a:alpha val="8000"/>
                      </a:srgbClr>
                    </a:solidFill>
                  </a:tcPr>
                </a:tc>
                <a:tc>
                  <a:txBody>
                    <a:bodyPr/>
                    <a:lstStyle/>
                    <a:p>
                      <a:pPr marL="0" indent="0" algn="ctr">
                        <a:buNone/>
                      </a:pPr>
                      <a:r>
                        <a:rPr lang="en-US" sz="1200" dirty="0">
                          <a:solidFill>
                            <a:srgbClr val="BEF264"/>
                          </a:solidFill>
                          <a:latin typeface="Calibri" pitchFamily="34" charset="0"/>
                          <a:ea typeface="Calibri" pitchFamily="34" charset="-122"/>
                          <a:cs typeface="Calibri" pitchFamily="34" charset="-120"/>
                        </a:rPr>
                        <a:t>Required rationale gate</a:t>
                      </a:r>
                      <a:endParaRPr lang="en-US" sz="1200" dirty="0">
                        <a:latin typeface="Calibri" charset="0"/>
                        <a:ea typeface="Calibri" charset="0"/>
                        <a:cs typeface="Calibri" charset="0"/>
                      </a:endParaRP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84CC16">
                        <a:alpha val="12000"/>
                      </a:srgbClr>
                    </a:solidFill>
                  </a:tcPr>
                </a:tc>
                <a:extLst>
                  <a:ext uri="{0D108BD9-81ED-4DB2-BD59-A6C34878D82A}">
                    <a16:rowId xmlns:a16="http://schemas.microsoft.com/office/drawing/2014/main" val="10006"/>
                  </a:ext>
                </a:extLst>
              </a:tr>
              <a:tr h="393192">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Audit Trail</a:t>
                      </a:r>
                      <a:endParaRPr lang="en-US" sz="1200" dirty="0">
                        <a:latin typeface="Calibri" charset="0"/>
                        <a:ea typeface="Calibri" charset="0"/>
                        <a:cs typeface="Calibri" charset="0"/>
                      </a:endParaRP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A1A2E"/>
                    </a:solidFill>
                  </a:tcPr>
                </a:tc>
                <a:tc>
                  <a:txBody>
                    <a:bodyPr/>
                    <a:lstStyle/>
                    <a:p>
                      <a:pPr marL="0" indent="0" algn="ctr">
                        <a:buNone/>
                      </a:pPr>
                      <a:r>
                        <a:rPr lang="en-US" sz="1200" dirty="0">
                          <a:solidFill>
                            <a:srgbClr val="FCA5A5"/>
                          </a:solidFill>
                          <a:latin typeface="Calibri" pitchFamily="34" charset="0"/>
                          <a:ea typeface="Calibri" pitchFamily="34" charset="-122"/>
                          <a:cs typeface="Calibri" pitchFamily="34" charset="-120"/>
                        </a:rPr>
                        <a:t>Activity log</a:t>
                      </a:r>
                      <a:endParaRPr lang="en-US" sz="1200" dirty="0">
                        <a:latin typeface="Calibri" charset="0"/>
                        <a:ea typeface="Calibri" charset="0"/>
                        <a:cs typeface="Calibri" charset="0"/>
                      </a:endParaRP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EF4444">
                        <a:alpha val="8000"/>
                      </a:srgbClr>
                    </a:solidFill>
                  </a:tcPr>
                </a:tc>
                <a:tc>
                  <a:txBody>
                    <a:bodyPr/>
                    <a:lstStyle/>
                    <a:p>
                      <a:pPr marL="0" indent="0" algn="ctr">
                        <a:buNone/>
                      </a:pPr>
                      <a:r>
                        <a:rPr lang="en-US" sz="1200" dirty="0">
                          <a:solidFill>
                            <a:srgbClr val="BEF264"/>
                          </a:solidFill>
                          <a:latin typeface="Calibri" pitchFamily="34" charset="0"/>
                          <a:ea typeface="Calibri" pitchFamily="34" charset="-122"/>
                          <a:cs typeface="Calibri" pitchFamily="34" charset="-120"/>
                        </a:rPr>
                        <a:t>Controlled audit vocabulary</a:t>
                      </a:r>
                      <a:endParaRPr lang="en-US" sz="1200" dirty="0">
                        <a:latin typeface="Calibri" charset="0"/>
                        <a:ea typeface="Calibri" charset="0"/>
                        <a:cs typeface="Calibri" charset="0"/>
                      </a:endParaRP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84CC16">
                        <a:alpha val="12000"/>
                      </a:srgbClr>
                    </a:solidFill>
                  </a:tcPr>
                </a:tc>
                <a:extLst>
                  <a:ext uri="{0D108BD9-81ED-4DB2-BD59-A6C34878D82A}">
                    <a16:rowId xmlns:a16="http://schemas.microsoft.com/office/drawing/2014/main" val="10007"/>
                  </a:ext>
                </a:extLst>
              </a:tr>
              <a:tr h="393192">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Demo Reliability</a:t>
                      </a:r>
                      <a:endParaRPr lang="en-US" sz="1200" dirty="0">
                        <a:latin typeface="Calibri" charset="0"/>
                        <a:ea typeface="Calibri" charset="0"/>
                        <a:cs typeface="Calibri" charset="0"/>
                      </a:endParaRP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A1A2E"/>
                    </a:solidFill>
                  </a:tcPr>
                </a:tc>
                <a:tc>
                  <a:txBody>
                    <a:bodyPr/>
                    <a:lstStyle/>
                    <a:p>
                      <a:pPr marL="0" indent="0" algn="ctr">
                        <a:buNone/>
                      </a:pPr>
                      <a:r>
                        <a:rPr lang="en-US" sz="1200" dirty="0">
                          <a:solidFill>
                            <a:srgbClr val="FCA5A5"/>
                          </a:solidFill>
                          <a:latin typeface="Calibri" pitchFamily="34" charset="0"/>
                          <a:ea typeface="Calibri" pitchFamily="34" charset="-122"/>
                          <a:cs typeface="Calibri" pitchFamily="34" charset="-120"/>
                        </a:rPr>
                        <a:t>Live model dependency</a:t>
                      </a:r>
                      <a:endParaRPr lang="en-US" sz="1200" dirty="0">
                        <a:latin typeface="Calibri" charset="0"/>
                        <a:ea typeface="Calibri" charset="0"/>
                        <a:cs typeface="Calibri" charset="0"/>
                      </a:endParaRP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EF4444">
                        <a:alpha val="8000"/>
                      </a:srgbClr>
                    </a:solidFill>
                  </a:tcPr>
                </a:tc>
                <a:tc>
                  <a:txBody>
                    <a:bodyPr/>
                    <a:lstStyle/>
                    <a:p>
                      <a:pPr marL="0" indent="0" algn="ctr">
                        <a:buNone/>
                      </a:pPr>
                      <a:r>
                        <a:rPr lang="en-US" sz="1200" dirty="0">
                          <a:solidFill>
                            <a:srgbClr val="BEF264"/>
                          </a:solidFill>
                          <a:latin typeface="Calibri" pitchFamily="34" charset="0"/>
                          <a:ea typeface="Calibri" pitchFamily="34" charset="-122"/>
                          <a:cs typeface="Calibri" pitchFamily="34" charset="-120"/>
                        </a:rPr>
                        <a:t>Seeded deterministic default</a:t>
                      </a:r>
                      <a:endParaRPr lang="en-US" sz="1200" dirty="0">
                        <a:latin typeface="Calibri" charset="0"/>
                        <a:ea typeface="Calibri" charset="0"/>
                        <a:cs typeface="Calibri" charset="0"/>
                      </a:endParaRP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84CC16">
                        <a:alpha val="12000"/>
                      </a:srgbClr>
                    </a:solidFill>
                  </a:tcPr>
                </a:tc>
                <a:extLst>
                  <a:ext uri="{0D108BD9-81ED-4DB2-BD59-A6C34878D82A}">
                    <a16:rowId xmlns:a16="http://schemas.microsoft.com/office/drawing/2014/main" val="10008"/>
                  </a:ext>
                </a:extLst>
              </a:tr>
              <a:tr h="393192">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Regulatory Posture</a:t>
                      </a:r>
                      <a:endParaRPr lang="en-US" sz="1200" dirty="0">
                        <a:latin typeface="Calibri" charset="0"/>
                        <a:ea typeface="Calibri" charset="0"/>
                        <a:cs typeface="Calibri" charset="0"/>
                      </a:endParaRP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1A1A2E"/>
                    </a:solidFill>
                  </a:tcPr>
                </a:tc>
                <a:tc>
                  <a:txBody>
                    <a:bodyPr/>
                    <a:lstStyle/>
                    <a:p>
                      <a:pPr marL="0" indent="0" algn="ctr">
                        <a:buNone/>
                      </a:pPr>
                      <a:r>
                        <a:rPr lang="en-US" sz="1200" dirty="0">
                          <a:solidFill>
                            <a:srgbClr val="FCA5A5"/>
                          </a:solidFill>
                          <a:latin typeface="Calibri" pitchFamily="34" charset="0"/>
                          <a:ea typeface="Calibri" pitchFamily="34" charset="-122"/>
                          <a:cs typeface="Calibri" pitchFamily="34" charset="-120"/>
                        </a:rPr>
                        <a:t>Trust AI with review</a:t>
                      </a:r>
                      <a:endParaRPr lang="en-US" sz="1200" dirty="0">
                        <a:latin typeface="Calibri" charset="0"/>
                        <a:ea typeface="Calibri" charset="0"/>
                        <a:cs typeface="Calibri" charset="0"/>
                      </a:endParaRP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EF4444">
                        <a:alpha val="8000"/>
                      </a:srgbClr>
                    </a:solidFill>
                  </a:tcPr>
                </a:tc>
                <a:tc>
                  <a:txBody>
                    <a:bodyPr/>
                    <a:lstStyle/>
                    <a:p>
                      <a:pPr marL="0" indent="0" algn="ctr">
                        <a:buNone/>
                      </a:pPr>
                      <a:r>
                        <a:rPr lang="en-US" sz="1200" dirty="0">
                          <a:solidFill>
                            <a:srgbClr val="BEF264"/>
                          </a:solidFill>
                          <a:latin typeface="Calibri" pitchFamily="34" charset="0"/>
                          <a:ea typeface="Calibri" pitchFamily="34" charset="-122"/>
                          <a:cs typeface="Calibri" pitchFamily="34" charset="-120"/>
                        </a:rPr>
                        <a:t>Distrust AI until proven</a:t>
                      </a:r>
                      <a:endParaRPr lang="en-US" sz="1200" dirty="0">
                        <a:latin typeface="Calibri" charset="0"/>
                        <a:ea typeface="Calibri" charset="0"/>
                        <a:cs typeface="Calibri" charset="0"/>
                      </a:endParaRPr>
                    </a:p>
                  </a:txBody>
                  <a:tcPr marL="101600" marR="101600" marT="63500" marB="63500" anchor="ctr">
                    <a:lnL w="6350" cap="flat" cmpd="sng" algn="ctr">
                      <a:solidFill>
                        <a:srgbClr val="475569"/>
                      </a:solidFill>
                      <a:prstDash val="solid"/>
                      <a:round/>
                      <a:headEnd type="none" w="med" len="med"/>
                      <a:tailEnd type="none" w="med" len="med"/>
                    </a:lnL>
                    <a:lnR w="6350" cap="flat" cmpd="sng" algn="ctr">
                      <a:solidFill>
                        <a:srgbClr val="475569"/>
                      </a:solidFill>
                      <a:prstDash val="solid"/>
                      <a:round/>
                      <a:headEnd type="none" w="med" len="med"/>
                      <a:tailEnd type="none" w="med" len="med"/>
                    </a:lnR>
                    <a:lnT w="6350" cap="flat" cmpd="sng" algn="ctr">
                      <a:solidFill>
                        <a:srgbClr val="475569"/>
                      </a:solidFill>
                      <a:prstDash val="solid"/>
                      <a:round/>
                      <a:headEnd type="none" w="med" len="med"/>
                      <a:tailEnd type="none" w="med" len="med"/>
                    </a:lnT>
                    <a:lnB w="6350" cap="flat" cmpd="sng" algn="ctr">
                      <a:solidFill>
                        <a:srgbClr val="475569"/>
                      </a:solidFill>
                      <a:prstDash val="solid"/>
                      <a:round/>
                      <a:headEnd type="none" w="med" len="med"/>
                      <a:tailEnd type="none" w="med" len="med"/>
                    </a:lnB>
                    <a:solidFill>
                      <a:srgbClr val="84CC16">
                        <a:alpha val="12000"/>
                      </a:srgbClr>
                    </a:solidFill>
                  </a:tcPr>
                </a:tc>
                <a:extLst>
                  <a:ext uri="{0D108BD9-81ED-4DB2-BD59-A6C34878D82A}">
                    <a16:rowId xmlns:a16="http://schemas.microsoft.com/office/drawing/2014/main" val="10009"/>
                  </a:ext>
                </a:extLst>
              </a:tr>
            </a:tbl>
          </a:graphicData>
        </a:graphic>
      </p:graphicFrame>
      <p:sp>
        <p:nvSpPr>
          <p:cNvPr id="4" name="Text 1"/>
          <p:cNvSpPr/>
          <p:nvPr/>
        </p:nvSpPr>
        <p:spPr>
          <a:xfrm>
            <a:off x="365760" y="4754880"/>
            <a:ext cx="8412480" cy="256032"/>
          </a:xfrm>
          <a:prstGeom prst="rect">
            <a:avLst/>
          </a:prstGeom>
          <a:noFill/>
          <a:ln/>
        </p:spPr>
        <p:txBody>
          <a:bodyPr wrap="square" rtlCol="0" anchor="ctr"/>
          <a:lstStyle/>
          <a:p>
            <a:pPr marL="0" indent="0" algn="ctr">
              <a:buNone/>
            </a:pPr>
            <a:r>
              <a:rPr lang="en-US" sz="1300" i="1" dirty="0">
                <a:solidFill>
                  <a:srgbClr val="A78BFA"/>
                </a:solidFill>
                <a:latin typeface="Calibri" pitchFamily="34" charset="0"/>
                <a:ea typeface="Calibri" pitchFamily="34" charset="-122"/>
                <a:cs typeface="Calibri" pitchFamily="34" charset="-120"/>
              </a:rPr>
              <a:t>Lumen does not make AI more autonomous. Lumen makes AI prove whether it deserves to be used.</a:t>
            </a:r>
            <a:endParaRPr lang="en-US" sz="1300" dirty="0"/>
          </a:p>
        </p:txBody>
      </p:sp>
      <p:pic>
        <p:nvPicPr>
          <p:cNvPr id="3" name="Slide 17 - Leishka">
            <a:hlinkClick r:id="" action="ppaction://media"/>
            <a:extLst>
              <a:ext uri="{FF2B5EF4-FFF2-40B4-BE49-F238E27FC236}">
                <a16:creationId xmlns:a16="http://schemas.microsoft.com/office/drawing/2014/main" id="{31DD2A75-E3FE-7B0D-73EB-1790669C8A3D}"/>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382000" y="4450080"/>
            <a:ext cx="609600" cy="609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0555"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0D0D14"/>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rtlCol="0" anchor="ctr"/>
          <a:lstStyle/>
          <a:p>
            <a:pPr marL="0" indent="0" algn="l">
              <a:buNone/>
            </a:pPr>
            <a:r>
              <a:rPr lang="en-US" sz="3400" b="1" dirty="0">
                <a:solidFill>
                  <a:srgbClr val="FFFFFF"/>
                </a:solidFill>
                <a:latin typeface="Cambria" pitchFamily="34" charset="0"/>
                <a:ea typeface="Cambria" pitchFamily="34" charset="-122"/>
                <a:cs typeface="Cambria" pitchFamily="34" charset="-120"/>
              </a:rPr>
              <a:t>Testing Is Part of the Governance Model</a:t>
            </a:r>
            <a:endParaRPr lang="en-US" sz="3400" dirty="0"/>
          </a:p>
        </p:txBody>
      </p:sp>
      <p:sp>
        <p:nvSpPr>
          <p:cNvPr id="3" name="Text 1"/>
          <p:cNvSpPr/>
          <p:nvPr/>
        </p:nvSpPr>
        <p:spPr>
          <a:xfrm>
            <a:off x="457200" y="822960"/>
            <a:ext cx="8229600" cy="292608"/>
          </a:xfrm>
          <a:prstGeom prst="rect">
            <a:avLst/>
          </a:prstGeom>
          <a:noFill/>
          <a:ln/>
        </p:spPr>
        <p:txBody>
          <a:bodyPr wrap="square" rtlCol="0" anchor="ctr"/>
          <a:lstStyle/>
          <a:p>
            <a:pPr marL="0" indent="0" algn="l">
              <a:buNone/>
            </a:pPr>
            <a:r>
              <a:rPr lang="en-US" sz="1300" i="1" dirty="0">
                <a:solidFill>
                  <a:srgbClr val="94A3B8"/>
                </a:solidFill>
                <a:latin typeface="Calibri" pitchFamily="34" charset="0"/>
                <a:ea typeface="Calibri" pitchFamily="34" charset="-122"/>
                <a:cs typeface="Calibri" pitchFamily="34" charset="-120"/>
              </a:rPr>
              <a:t>765 passing tests prove the system behaves as claimed. </a:t>
            </a:r>
            <a:endParaRPr lang="en-US" sz="1300" dirty="0"/>
          </a:p>
        </p:txBody>
      </p:sp>
      <p:sp>
        <p:nvSpPr>
          <p:cNvPr id="4" name="Shape 2"/>
          <p:cNvSpPr/>
          <p:nvPr/>
        </p:nvSpPr>
        <p:spPr>
          <a:xfrm>
            <a:off x="320040" y="1143000"/>
            <a:ext cx="2788920" cy="1664208"/>
          </a:xfrm>
          <a:prstGeom prst="roundRect">
            <a:avLst>
              <a:gd name="adj" fmla="val 4945"/>
            </a:avLst>
          </a:prstGeom>
          <a:solidFill>
            <a:srgbClr val="1A1A2E"/>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pic>
        <p:nvPicPr>
          <p:cNvPr id="5" name="Image 0" descr="preencoded.png"/>
          <p:cNvPicPr>
            <a:picLocks noChangeAspect="1"/>
          </p:cNvPicPr>
          <p:nvPr/>
        </p:nvPicPr>
        <p:blipFill>
          <a:blip r:embed="rId5"/>
          <a:stretch>
            <a:fillRect/>
          </a:stretch>
        </p:blipFill>
        <p:spPr>
          <a:xfrm>
            <a:off x="429768" y="1234440"/>
            <a:ext cx="292608" cy="292608"/>
          </a:xfrm>
          <a:prstGeom prst="rect">
            <a:avLst/>
          </a:prstGeom>
        </p:spPr>
      </p:pic>
      <p:sp>
        <p:nvSpPr>
          <p:cNvPr id="6" name="Text 3"/>
          <p:cNvSpPr/>
          <p:nvPr/>
        </p:nvSpPr>
        <p:spPr>
          <a:xfrm>
            <a:off x="795528" y="1234440"/>
            <a:ext cx="2212848" cy="292608"/>
          </a:xfrm>
          <a:prstGeom prst="rect">
            <a:avLst/>
          </a:prstGeom>
          <a:noFill/>
          <a:ln/>
        </p:spPr>
        <p:txBody>
          <a:bodyPr wrap="square" rtlCol="0" anchor="ctr"/>
          <a:lstStyle/>
          <a:p>
            <a:pPr marL="0" indent="0" algn="l">
              <a:buNone/>
            </a:pPr>
            <a:r>
              <a:rPr lang="en-US" sz="1200" b="1" dirty="0">
                <a:solidFill>
                  <a:srgbClr val="84CC16"/>
                </a:solidFill>
                <a:latin typeface="Calibri" pitchFamily="34" charset="0"/>
                <a:ea typeface="Calibri" pitchFamily="34" charset="-122"/>
                <a:cs typeface="Calibri" pitchFamily="34" charset="-120"/>
              </a:rPr>
              <a:t>Data Integrity</a:t>
            </a:r>
            <a:endParaRPr lang="en-US" sz="1200" dirty="0"/>
          </a:p>
        </p:txBody>
      </p:sp>
      <p:sp>
        <p:nvSpPr>
          <p:cNvPr id="7" name="Text 4"/>
          <p:cNvSpPr/>
          <p:nvPr/>
        </p:nvSpPr>
        <p:spPr>
          <a:xfrm>
            <a:off x="429768" y="1618488"/>
            <a:ext cx="2578608" cy="1078992"/>
          </a:xfrm>
          <a:prstGeom prst="rect">
            <a:avLst/>
          </a:prstGeom>
          <a:noFill/>
          <a:ln/>
        </p:spPr>
        <p:txBody>
          <a:bodyPr wrap="square" rtlCol="0" anchor="ctr"/>
          <a:lstStyle/>
          <a:p>
            <a:pPr marL="0" indent="0" algn="l">
              <a:buNone/>
            </a:pPr>
            <a:r>
              <a:rPr lang="en-US" sz="1050" dirty="0">
                <a:solidFill>
                  <a:srgbClr val="94A3B8"/>
                </a:solidFill>
                <a:latin typeface="Calibri" pitchFamily="34" charset="0"/>
                <a:ea typeface="Calibri" pitchFamily="34" charset="-122"/>
                <a:cs typeface="Calibri" pitchFamily="34" charset="-120"/>
              </a:rPr>
              <a:t>All 9 CSV tables exist and validate against Pydantic models. Core data is correct before any AI runs.</a:t>
            </a:r>
            <a:endParaRPr lang="en-US" sz="1050" dirty="0"/>
          </a:p>
        </p:txBody>
      </p:sp>
      <p:sp>
        <p:nvSpPr>
          <p:cNvPr id="8" name="Shape 5"/>
          <p:cNvSpPr/>
          <p:nvPr/>
        </p:nvSpPr>
        <p:spPr>
          <a:xfrm>
            <a:off x="3264408" y="1143000"/>
            <a:ext cx="2788920" cy="1664208"/>
          </a:xfrm>
          <a:prstGeom prst="roundRect">
            <a:avLst>
              <a:gd name="adj" fmla="val 4945"/>
            </a:avLst>
          </a:prstGeom>
          <a:solidFill>
            <a:srgbClr val="1A1A2E"/>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pic>
        <p:nvPicPr>
          <p:cNvPr id="9" name="Image 1" descr="preencoded.png"/>
          <p:cNvPicPr>
            <a:picLocks noChangeAspect="1"/>
          </p:cNvPicPr>
          <p:nvPr/>
        </p:nvPicPr>
        <p:blipFill>
          <a:blip r:embed="rId6"/>
          <a:stretch>
            <a:fillRect/>
          </a:stretch>
        </p:blipFill>
        <p:spPr>
          <a:xfrm>
            <a:off x="3374136" y="1234440"/>
            <a:ext cx="292608" cy="292608"/>
          </a:xfrm>
          <a:prstGeom prst="rect">
            <a:avLst/>
          </a:prstGeom>
        </p:spPr>
      </p:pic>
      <p:sp>
        <p:nvSpPr>
          <p:cNvPr id="10" name="Text 6"/>
          <p:cNvSpPr/>
          <p:nvPr/>
        </p:nvSpPr>
        <p:spPr>
          <a:xfrm>
            <a:off x="3739896" y="1234440"/>
            <a:ext cx="2212848" cy="292608"/>
          </a:xfrm>
          <a:prstGeom prst="rect">
            <a:avLst/>
          </a:prstGeom>
          <a:noFill/>
          <a:ln/>
        </p:spPr>
        <p:txBody>
          <a:bodyPr wrap="square" rtlCol="0" anchor="ctr"/>
          <a:lstStyle/>
          <a:p>
            <a:pPr marL="0" indent="0" algn="l">
              <a:buNone/>
            </a:pPr>
            <a:r>
              <a:rPr lang="en-US" sz="1200" b="1" dirty="0">
                <a:solidFill>
                  <a:srgbClr val="84CC16"/>
                </a:solidFill>
                <a:latin typeface="Calibri" pitchFamily="34" charset="0"/>
                <a:ea typeface="Calibri" pitchFamily="34" charset="-122"/>
                <a:cs typeface="Calibri" pitchFamily="34" charset="-120"/>
              </a:rPr>
              <a:t>Closed Vocabulary</a:t>
            </a:r>
            <a:endParaRPr lang="en-US" sz="1200" dirty="0"/>
          </a:p>
        </p:txBody>
      </p:sp>
      <p:sp>
        <p:nvSpPr>
          <p:cNvPr id="11" name="Text 7"/>
          <p:cNvSpPr/>
          <p:nvPr/>
        </p:nvSpPr>
        <p:spPr>
          <a:xfrm>
            <a:off x="3374136" y="1618488"/>
            <a:ext cx="2578608" cy="1078992"/>
          </a:xfrm>
          <a:prstGeom prst="rect">
            <a:avLst/>
          </a:prstGeom>
          <a:noFill/>
          <a:ln/>
        </p:spPr>
        <p:txBody>
          <a:bodyPr wrap="square" rtlCol="0" anchor="ctr"/>
          <a:lstStyle/>
          <a:p>
            <a:pPr marL="0" indent="0" algn="l">
              <a:buNone/>
            </a:pPr>
            <a:r>
              <a:rPr lang="en-US" sz="1050" dirty="0">
                <a:solidFill>
                  <a:srgbClr val="94A3B8"/>
                </a:solidFill>
                <a:latin typeface="Calibri" pitchFamily="34" charset="0"/>
                <a:ea typeface="Calibri" pitchFamily="34" charset="-122"/>
                <a:cs typeface="Calibri" pitchFamily="34" charset="-120"/>
              </a:rPr>
              <a:t>AI claims must match the approved 9-type vocabulary. Any claim outside it is rejected automatically.</a:t>
            </a:r>
            <a:endParaRPr lang="en-US" sz="1050" dirty="0"/>
          </a:p>
        </p:txBody>
      </p:sp>
      <p:sp>
        <p:nvSpPr>
          <p:cNvPr id="12" name="Shape 8"/>
          <p:cNvSpPr/>
          <p:nvPr/>
        </p:nvSpPr>
        <p:spPr>
          <a:xfrm>
            <a:off x="6208776" y="1143000"/>
            <a:ext cx="2788920" cy="1664208"/>
          </a:xfrm>
          <a:prstGeom prst="roundRect">
            <a:avLst>
              <a:gd name="adj" fmla="val 4945"/>
            </a:avLst>
          </a:prstGeom>
          <a:solidFill>
            <a:srgbClr val="1A1A2E"/>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pic>
        <p:nvPicPr>
          <p:cNvPr id="13" name="Image 2" descr="preencoded.png"/>
          <p:cNvPicPr>
            <a:picLocks noChangeAspect="1"/>
          </p:cNvPicPr>
          <p:nvPr/>
        </p:nvPicPr>
        <p:blipFill>
          <a:blip r:embed="rId7"/>
          <a:stretch>
            <a:fillRect/>
          </a:stretch>
        </p:blipFill>
        <p:spPr>
          <a:xfrm>
            <a:off x="6318504" y="1234440"/>
            <a:ext cx="292608" cy="292608"/>
          </a:xfrm>
          <a:prstGeom prst="rect">
            <a:avLst/>
          </a:prstGeom>
        </p:spPr>
      </p:pic>
      <p:sp>
        <p:nvSpPr>
          <p:cNvPr id="14" name="Text 9"/>
          <p:cNvSpPr/>
          <p:nvPr/>
        </p:nvSpPr>
        <p:spPr>
          <a:xfrm>
            <a:off x="6684264" y="1234440"/>
            <a:ext cx="2212848" cy="292608"/>
          </a:xfrm>
          <a:prstGeom prst="rect">
            <a:avLst/>
          </a:prstGeom>
          <a:noFill/>
          <a:ln/>
        </p:spPr>
        <p:txBody>
          <a:bodyPr wrap="square" rtlCol="0" anchor="ctr"/>
          <a:lstStyle/>
          <a:p>
            <a:pPr marL="0" indent="0" algn="l">
              <a:buNone/>
            </a:pPr>
            <a:r>
              <a:rPr lang="en-US" sz="1200" b="1" dirty="0">
                <a:solidFill>
                  <a:srgbClr val="84CC16"/>
                </a:solidFill>
                <a:latin typeface="Calibri" pitchFamily="34" charset="0"/>
                <a:ea typeface="Calibri" pitchFamily="34" charset="-122"/>
                <a:cs typeface="Calibri" pitchFamily="34" charset="-120"/>
              </a:rPr>
              <a:t>Contradiction Detection</a:t>
            </a:r>
            <a:endParaRPr lang="en-US" sz="1200" dirty="0"/>
          </a:p>
        </p:txBody>
      </p:sp>
      <p:sp>
        <p:nvSpPr>
          <p:cNvPr id="15" name="Text 10"/>
          <p:cNvSpPr/>
          <p:nvPr/>
        </p:nvSpPr>
        <p:spPr>
          <a:xfrm>
            <a:off x="6318504" y="1618488"/>
            <a:ext cx="2578608" cy="1078992"/>
          </a:xfrm>
          <a:prstGeom prst="rect">
            <a:avLst/>
          </a:prstGeom>
          <a:noFill/>
          <a:ln/>
        </p:spPr>
        <p:txBody>
          <a:bodyPr wrap="square" rtlCol="0" anchor="ctr"/>
          <a:lstStyle/>
          <a:p>
            <a:pPr marL="0" indent="0" algn="l">
              <a:buNone/>
            </a:pPr>
            <a:r>
              <a:rPr lang="en-US" sz="1050" dirty="0">
                <a:solidFill>
                  <a:srgbClr val="94A3B8"/>
                </a:solidFill>
                <a:latin typeface="Calibri" pitchFamily="34" charset="0"/>
                <a:ea typeface="Calibri" pitchFamily="34" charset="-122"/>
                <a:cs typeface="Calibri" pitchFamily="34" charset="-120"/>
              </a:rPr>
              <a:t>AI claims a pattern the source tables do not support. Verifier returns FAIL. Proven in test, not just data.</a:t>
            </a:r>
            <a:endParaRPr lang="en-US" sz="1050" dirty="0"/>
          </a:p>
        </p:txBody>
      </p:sp>
      <p:sp>
        <p:nvSpPr>
          <p:cNvPr id="16" name="Shape 11"/>
          <p:cNvSpPr/>
          <p:nvPr/>
        </p:nvSpPr>
        <p:spPr>
          <a:xfrm>
            <a:off x="320040" y="2971800"/>
            <a:ext cx="2788920" cy="1664208"/>
          </a:xfrm>
          <a:prstGeom prst="roundRect">
            <a:avLst>
              <a:gd name="adj" fmla="val 4945"/>
            </a:avLst>
          </a:prstGeom>
          <a:solidFill>
            <a:srgbClr val="1A1A2E"/>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pic>
        <p:nvPicPr>
          <p:cNvPr id="17" name="Image 3" descr="preencoded.png"/>
          <p:cNvPicPr>
            <a:picLocks noChangeAspect="1"/>
          </p:cNvPicPr>
          <p:nvPr/>
        </p:nvPicPr>
        <p:blipFill>
          <a:blip r:embed="rId8"/>
          <a:stretch>
            <a:fillRect/>
          </a:stretch>
        </p:blipFill>
        <p:spPr>
          <a:xfrm>
            <a:off x="429768" y="3063240"/>
            <a:ext cx="292608" cy="292608"/>
          </a:xfrm>
          <a:prstGeom prst="rect">
            <a:avLst/>
          </a:prstGeom>
        </p:spPr>
      </p:pic>
      <p:sp>
        <p:nvSpPr>
          <p:cNvPr id="18" name="Text 12"/>
          <p:cNvSpPr/>
          <p:nvPr/>
        </p:nvSpPr>
        <p:spPr>
          <a:xfrm>
            <a:off x="795528" y="3063240"/>
            <a:ext cx="2212848" cy="292608"/>
          </a:xfrm>
          <a:prstGeom prst="rect">
            <a:avLst/>
          </a:prstGeom>
          <a:noFill/>
          <a:ln/>
        </p:spPr>
        <p:txBody>
          <a:bodyPr wrap="square" rtlCol="0" anchor="ctr"/>
          <a:lstStyle/>
          <a:p>
            <a:pPr marL="0" indent="0" algn="l">
              <a:buNone/>
            </a:pPr>
            <a:r>
              <a:rPr lang="en-US" sz="1200" b="1" dirty="0">
                <a:solidFill>
                  <a:srgbClr val="84CC16"/>
                </a:solidFill>
                <a:latin typeface="Calibri" pitchFamily="34" charset="0"/>
                <a:ea typeface="Calibri" pitchFamily="34" charset="-122"/>
                <a:cs typeface="Calibri" pitchFamily="34" charset="-120"/>
              </a:rPr>
              <a:t>Review Gate</a:t>
            </a:r>
            <a:endParaRPr lang="en-US" sz="1200" dirty="0"/>
          </a:p>
        </p:txBody>
      </p:sp>
      <p:sp>
        <p:nvSpPr>
          <p:cNvPr id="19" name="Text 13"/>
          <p:cNvSpPr/>
          <p:nvPr/>
        </p:nvSpPr>
        <p:spPr>
          <a:xfrm>
            <a:off x="429768" y="3447288"/>
            <a:ext cx="2578608" cy="1078992"/>
          </a:xfrm>
          <a:prstGeom prst="rect">
            <a:avLst/>
          </a:prstGeom>
          <a:noFill/>
          <a:ln/>
        </p:spPr>
        <p:txBody>
          <a:bodyPr wrap="square" rtlCol="0" anchor="ctr"/>
          <a:lstStyle/>
          <a:p>
            <a:pPr marL="0" indent="0" algn="l">
              <a:buNone/>
            </a:pPr>
            <a:r>
              <a:rPr lang="en-US" sz="1050" dirty="0">
                <a:solidFill>
                  <a:srgbClr val="94A3B8"/>
                </a:solidFill>
                <a:latin typeface="Calibri" pitchFamily="34" charset="0"/>
                <a:ea typeface="Calibri" pitchFamily="34" charset="-122"/>
                <a:cs typeface="Calibri" pitchFamily="34" charset="-120"/>
              </a:rPr>
              <a:t>A review with no evidence check and no rationale evaluates as incomplete. The gate rule is tested and proven.</a:t>
            </a:r>
            <a:endParaRPr lang="en-US" sz="1050" dirty="0"/>
          </a:p>
        </p:txBody>
      </p:sp>
      <p:sp>
        <p:nvSpPr>
          <p:cNvPr id="20" name="Shape 14"/>
          <p:cNvSpPr/>
          <p:nvPr/>
        </p:nvSpPr>
        <p:spPr>
          <a:xfrm>
            <a:off x="3264408" y="2971800"/>
            <a:ext cx="2788920" cy="1664208"/>
          </a:xfrm>
          <a:prstGeom prst="roundRect">
            <a:avLst>
              <a:gd name="adj" fmla="val 4945"/>
            </a:avLst>
          </a:prstGeom>
          <a:solidFill>
            <a:srgbClr val="1A1A2E"/>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pic>
        <p:nvPicPr>
          <p:cNvPr id="21" name="Image 4" descr="preencoded.png"/>
          <p:cNvPicPr>
            <a:picLocks noChangeAspect="1"/>
          </p:cNvPicPr>
          <p:nvPr/>
        </p:nvPicPr>
        <p:blipFill>
          <a:blip r:embed="rId9"/>
          <a:stretch>
            <a:fillRect/>
          </a:stretch>
        </p:blipFill>
        <p:spPr>
          <a:xfrm>
            <a:off x="3374136" y="3063240"/>
            <a:ext cx="292608" cy="292608"/>
          </a:xfrm>
          <a:prstGeom prst="rect">
            <a:avLst/>
          </a:prstGeom>
        </p:spPr>
      </p:pic>
      <p:sp>
        <p:nvSpPr>
          <p:cNvPr id="22" name="Text 15"/>
          <p:cNvSpPr/>
          <p:nvPr/>
        </p:nvSpPr>
        <p:spPr>
          <a:xfrm>
            <a:off x="3739896" y="3063240"/>
            <a:ext cx="2212848" cy="292608"/>
          </a:xfrm>
          <a:prstGeom prst="rect">
            <a:avLst/>
          </a:prstGeom>
          <a:noFill/>
          <a:ln/>
        </p:spPr>
        <p:txBody>
          <a:bodyPr wrap="square" rtlCol="0" anchor="ctr"/>
          <a:lstStyle/>
          <a:p>
            <a:pPr marL="0" indent="0" algn="l">
              <a:buNone/>
            </a:pPr>
            <a:r>
              <a:rPr lang="en-US" sz="1200" b="1" dirty="0">
                <a:solidFill>
                  <a:srgbClr val="84CC16"/>
                </a:solidFill>
                <a:latin typeface="Calibri" pitchFamily="34" charset="0"/>
                <a:ea typeface="Calibri" pitchFamily="34" charset="-122"/>
                <a:cs typeface="Calibri" pitchFamily="34" charset="-120"/>
              </a:rPr>
              <a:t>Verifier Behavior</a:t>
            </a:r>
            <a:endParaRPr lang="en-US" sz="1200" dirty="0"/>
          </a:p>
        </p:txBody>
      </p:sp>
      <p:sp>
        <p:nvSpPr>
          <p:cNvPr id="23" name="Text 16"/>
          <p:cNvSpPr/>
          <p:nvPr/>
        </p:nvSpPr>
        <p:spPr>
          <a:xfrm>
            <a:off x="3374136" y="3447288"/>
            <a:ext cx="2578608" cy="1078992"/>
          </a:xfrm>
          <a:prstGeom prst="rect">
            <a:avLst/>
          </a:prstGeom>
          <a:noFill/>
          <a:ln/>
        </p:spPr>
        <p:txBody>
          <a:bodyPr wrap="square" rtlCol="0" anchor="ctr"/>
          <a:lstStyle/>
          <a:p>
            <a:pPr marL="0" indent="0" algn="l">
              <a:buNone/>
            </a:pPr>
            <a:r>
              <a:rPr lang="en-US" sz="1050" dirty="0">
                <a:solidFill>
                  <a:srgbClr val="94A3B8"/>
                </a:solidFill>
                <a:latin typeface="Calibri" pitchFamily="34" charset="0"/>
                <a:ea typeface="Calibri" pitchFamily="34" charset="-122"/>
                <a:cs typeface="Calibri" pitchFamily="34" charset="-120"/>
              </a:rPr>
              <a:t>Unknown claim types do not crash. Missing source returns NEEDS_REVIEW. Known claims route to real checks.</a:t>
            </a:r>
            <a:endParaRPr lang="en-US" sz="1050" dirty="0"/>
          </a:p>
        </p:txBody>
      </p:sp>
      <p:sp>
        <p:nvSpPr>
          <p:cNvPr id="24" name="Shape 17"/>
          <p:cNvSpPr/>
          <p:nvPr/>
        </p:nvSpPr>
        <p:spPr>
          <a:xfrm>
            <a:off x="6208776" y="2971800"/>
            <a:ext cx="2788920" cy="1664208"/>
          </a:xfrm>
          <a:prstGeom prst="roundRect">
            <a:avLst>
              <a:gd name="adj" fmla="val 4945"/>
            </a:avLst>
          </a:prstGeom>
          <a:solidFill>
            <a:srgbClr val="1A1A2E"/>
          </a:solidFill>
          <a:ln w="6350">
            <a:solidFill>
              <a:srgbClr val="475569"/>
            </a:solidFill>
            <a:prstDash val="solid"/>
          </a:ln>
          <a:effectLst>
            <a:outerShdw blurRad="76200" dist="25400" dir="8100000" algn="bl" rotWithShape="0">
              <a:srgbClr val="000000">
                <a:alpha val="20000"/>
              </a:srgbClr>
            </a:outerShdw>
          </a:effectLst>
        </p:spPr>
        <p:txBody>
          <a:bodyPr/>
          <a:lstStyle/>
          <a:p>
            <a:endParaRPr lang="en-US"/>
          </a:p>
        </p:txBody>
      </p:sp>
      <p:pic>
        <p:nvPicPr>
          <p:cNvPr id="25" name="Image 5" descr="preencoded.png"/>
          <p:cNvPicPr>
            <a:picLocks noChangeAspect="1"/>
          </p:cNvPicPr>
          <p:nvPr/>
        </p:nvPicPr>
        <p:blipFill>
          <a:blip r:embed="rId10"/>
          <a:stretch>
            <a:fillRect/>
          </a:stretch>
        </p:blipFill>
        <p:spPr>
          <a:xfrm>
            <a:off x="6318504" y="3063240"/>
            <a:ext cx="292608" cy="292608"/>
          </a:xfrm>
          <a:prstGeom prst="rect">
            <a:avLst/>
          </a:prstGeom>
        </p:spPr>
      </p:pic>
      <p:sp>
        <p:nvSpPr>
          <p:cNvPr id="26" name="Text 18"/>
          <p:cNvSpPr/>
          <p:nvPr/>
        </p:nvSpPr>
        <p:spPr>
          <a:xfrm>
            <a:off x="6684264" y="3063240"/>
            <a:ext cx="2212848" cy="292608"/>
          </a:xfrm>
          <a:prstGeom prst="rect">
            <a:avLst/>
          </a:prstGeom>
          <a:noFill/>
          <a:ln/>
        </p:spPr>
        <p:txBody>
          <a:bodyPr wrap="square" rtlCol="0" anchor="ctr"/>
          <a:lstStyle/>
          <a:p>
            <a:pPr marL="0" indent="0" algn="l">
              <a:buNone/>
            </a:pPr>
            <a:r>
              <a:rPr lang="en-US" sz="1200" b="1" dirty="0">
                <a:solidFill>
                  <a:srgbClr val="84CC16"/>
                </a:solidFill>
                <a:latin typeface="Calibri" pitchFamily="34" charset="0"/>
                <a:ea typeface="Calibri" pitchFamily="34" charset="-122"/>
                <a:cs typeface="Calibri" pitchFamily="34" charset="-120"/>
              </a:rPr>
              <a:t>Demo Seed Governance</a:t>
            </a:r>
            <a:endParaRPr lang="en-US" sz="1200" dirty="0"/>
          </a:p>
        </p:txBody>
      </p:sp>
      <p:sp>
        <p:nvSpPr>
          <p:cNvPr id="27" name="Text 19"/>
          <p:cNvSpPr/>
          <p:nvPr/>
        </p:nvSpPr>
        <p:spPr>
          <a:xfrm>
            <a:off x="6318504" y="3447288"/>
            <a:ext cx="2578608" cy="1078992"/>
          </a:xfrm>
          <a:prstGeom prst="rect">
            <a:avLst/>
          </a:prstGeom>
          <a:noFill/>
          <a:ln/>
        </p:spPr>
        <p:txBody>
          <a:bodyPr wrap="square" rtlCol="0" anchor="ctr"/>
          <a:lstStyle/>
          <a:p>
            <a:pPr marL="0" indent="0" algn="l">
              <a:buNone/>
            </a:pPr>
            <a:r>
              <a:rPr lang="en-US" sz="1050" dirty="0">
                <a:solidFill>
                  <a:srgbClr val="94A3B8"/>
                </a:solidFill>
                <a:latin typeface="Calibri" pitchFamily="34" charset="0"/>
                <a:ea typeface="Calibri" pitchFamily="34" charset="-122"/>
                <a:cs typeface="Calibri" pitchFamily="34" charset="-120"/>
              </a:rPr>
              <a:t>Pending overrides, audit history, and evidence readiness are generated deterministically. No surprises on demo day.</a:t>
            </a:r>
            <a:endParaRPr lang="en-US" sz="1050" dirty="0"/>
          </a:p>
        </p:txBody>
      </p:sp>
      <p:pic>
        <p:nvPicPr>
          <p:cNvPr id="28" name="Slide 18 - Leishka">
            <a:hlinkClick r:id="" action="ppaction://media"/>
            <a:extLst>
              <a:ext uri="{FF2B5EF4-FFF2-40B4-BE49-F238E27FC236}">
                <a16:creationId xmlns:a16="http://schemas.microsoft.com/office/drawing/2014/main" id="{D3428F97-D051-55C8-CD77-C2FBA8EB27C8}"/>
              </a:ext>
            </a:extLst>
          </p:cNvPr>
          <p:cNvPicPr>
            <a:picLocks noChangeAspect="1"/>
          </p:cNvPicPr>
          <p:nvPr>
            <a:audioFile r:link="rId2"/>
            <p:extLst>
              <p:ext uri="{DAA4B4D4-6D71-4841-9C94-3DE7FCFB9230}">
                <p14:media xmlns:p14="http://schemas.microsoft.com/office/powerpoint/2010/main" r:embed="rId1"/>
              </p:ext>
            </p:extLst>
          </p:nvPr>
        </p:nvPicPr>
        <p:blipFill>
          <a:blip r:embed="rId11"/>
          <a:stretch>
            <a:fillRect/>
          </a:stretch>
        </p:blipFill>
        <p:spPr>
          <a:xfrm>
            <a:off x="8497824" y="4422648"/>
            <a:ext cx="609600" cy="609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0275"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8"/>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rgbClr val="0D0D14"/>
        </a:solidFill>
        <a:effectLst/>
      </p:bgPr>
    </p:bg>
    <p:spTree>
      <p:nvGrpSpPr>
        <p:cNvPr id="1" name=""/>
        <p:cNvGrpSpPr/>
        <p:nvPr/>
      </p:nvGrpSpPr>
      <p:grpSpPr>
        <a:xfrm>
          <a:off x="0" y="0"/>
          <a:ext cx="0" cy="0"/>
          <a:chOff x="0" y="0"/>
          <a:chExt cx="0" cy="0"/>
        </a:xfrm>
      </p:grpSpPr>
      <p:sp>
        <p:nvSpPr>
          <p:cNvPr id="2" name="Shape 0"/>
          <p:cNvSpPr/>
          <p:nvPr/>
        </p:nvSpPr>
        <p:spPr>
          <a:xfrm>
            <a:off x="-914400" y="1371600"/>
            <a:ext cx="4572000" cy="4572000"/>
          </a:xfrm>
          <a:prstGeom prst="ellipse">
            <a:avLst/>
          </a:prstGeom>
          <a:solidFill>
            <a:srgbClr val="7C3AED">
              <a:alpha val="12000"/>
            </a:srgbClr>
          </a:solidFill>
          <a:ln w="6350">
            <a:solidFill>
              <a:srgbClr val="A78BFA"/>
            </a:solidFill>
            <a:prstDash val="solid"/>
          </a:ln>
        </p:spPr>
        <p:txBody>
          <a:bodyPr/>
          <a:lstStyle/>
          <a:p>
            <a:endParaRPr lang="en-US"/>
          </a:p>
        </p:txBody>
      </p:sp>
      <p:sp>
        <p:nvSpPr>
          <p:cNvPr id="3" name="Shape 1"/>
          <p:cNvSpPr/>
          <p:nvPr/>
        </p:nvSpPr>
        <p:spPr>
          <a:xfrm>
            <a:off x="6400800" y="-457200"/>
            <a:ext cx="3657600" cy="3657600"/>
          </a:xfrm>
          <a:prstGeom prst="ellipse">
            <a:avLst/>
          </a:prstGeom>
          <a:solidFill>
            <a:srgbClr val="84CC16">
              <a:alpha val="10000"/>
            </a:srgbClr>
          </a:solidFill>
          <a:ln w="6350">
            <a:solidFill>
              <a:srgbClr val="84CC16"/>
            </a:solidFill>
            <a:prstDash val="solid"/>
          </a:ln>
        </p:spPr>
        <p:txBody>
          <a:bodyPr/>
          <a:lstStyle/>
          <a:p>
            <a:endParaRPr lang="en-US"/>
          </a:p>
        </p:txBody>
      </p:sp>
      <p:sp>
        <p:nvSpPr>
          <p:cNvPr id="4" name="Text 2"/>
          <p:cNvSpPr/>
          <p:nvPr/>
        </p:nvSpPr>
        <p:spPr>
          <a:xfrm>
            <a:off x="457200" y="411480"/>
            <a:ext cx="8229600" cy="109728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If this system were deployed tomorrow</a:t>
            </a:r>
            <a:endParaRPr lang="en-US" sz="3400" dirty="0"/>
          </a:p>
          <a:p>
            <a:pPr marL="0" indent="0" algn="ctr">
              <a:buNone/>
            </a:pPr>
            <a:r>
              <a:rPr lang="en-US" sz="3400" b="1" dirty="0">
                <a:solidFill>
                  <a:srgbClr val="FFFFFF"/>
                </a:solidFill>
                <a:latin typeface="Cambria" pitchFamily="34" charset="0"/>
                <a:ea typeface="Cambria" pitchFamily="34" charset="-122"/>
                <a:cs typeface="Cambria" pitchFamily="34" charset="-120"/>
              </a:rPr>
              <a:t>at a global bank</a:t>
            </a:r>
            <a:endParaRPr lang="en-US" sz="3400" dirty="0"/>
          </a:p>
        </p:txBody>
      </p:sp>
      <p:sp>
        <p:nvSpPr>
          <p:cNvPr id="5" name="Shape 3"/>
          <p:cNvSpPr/>
          <p:nvPr/>
        </p:nvSpPr>
        <p:spPr>
          <a:xfrm>
            <a:off x="365760" y="1691640"/>
            <a:ext cx="2651760" cy="2286000"/>
          </a:xfrm>
          <a:prstGeom prst="roundRect">
            <a:avLst>
              <a:gd name="adj" fmla="val 4000"/>
            </a:avLst>
          </a:prstGeom>
          <a:solidFill>
            <a:srgbClr val="1A1A2E"/>
          </a:solidFill>
          <a:ln w="6350">
            <a:solidFill>
              <a:srgbClr val="475569"/>
            </a:solidFill>
            <a:prstDash val="solid"/>
          </a:ln>
          <a:effectLst>
            <a:outerShdw blurRad="177800" dist="50800" dir="8100000" algn="bl" rotWithShape="0">
              <a:srgbClr val="000000">
                <a:alpha val="35000"/>
              </a:srgbClr>
            </a:outerShdw>
          </a:effectLst>
        </p:spPr>
        <p:txBody>
          <a:bodyPr/>
          <a:lstStyle/>
          <a:p>
            <a:endParaRPr lang="en-US"/>
          </a:p>
        </p:txBody>
      </p:sp>
      <p:sp>
        <p:nvSpPr>
          <p:cNvPr id="6" name="Text 4"/>
          <p:cNvSpPr/>
          <p:nvPr/>
        </p:nvSpPr>
        <p:spPr>
          <a:xfrm>
            <a:off x="475488" y="1783080"/>
            <a:ext cx="2432304" cy="594360"/>
          </a:xfrm>
          <a:prstGeom prst="rect">
            <a:avLst/>
          </a:prstGeom>
          <a:noFill/>
          <a:ln/>
        </p:spPr>
        <p:txBody>
          <a:bodyPr wrap="square" rtlCol="0" anchor="ctr"/>
          <a:lstStyle/>
          <a:p>
            <a:pPr marL="0" indent="0" algn="ctr">
              <a:buNone/>
            </a:pPr>
            <a:r>
              <a:rPr lang="en-US" sz="1200" dirty="0">
                <a:solidFill>
                  <a:srgbClr val="94A3B8"/>
                </a:solidFill>
                <a:latin typeface="Calibri" pitchFamily="34" charset="0"/>
                <a:ea typeface="Calibri" pitchFamily="34" charset="-122"/>
                <a:cs typeface="Calibri" pitchFamily="34" charset="-120"/>
              </a:rPr>
              <a:t>Would executives trust it?</a:t>
            </a:r>
            <a:endParaRPr lang="en-US" sz="1200" dirty="0"/>
          </a:p>
        </p:txBody>
      </p:sp>
      <p:sp>
        <p:nvSpPr>
          <p:cNvPr id="7" name="Text 5"/>
          <p:cNvSpPr/>
          <p:nvPr/>
        </p:nvSpPr>
        <p:spPr>
          <a:xfrm>
            <a:off x="475488" y="2359152"/>
            <a:ext cx="2432304" cy="475488"/>
          </a:xfrm>
          <a:prstGeom prst="rect">
            <a:avLst/>
          </a:prstGeom>
          <a:noFill/>
          <a:ln/>
        </p:spPr>
        <p:txBody>
          <a:bodyPr wrap="square" rtlCol="0" anchor="ctr"/>
          <a:lstStyle/>
          <a:p>
            <a:pPr marL="0" indent="0" algn="ctr">
              <a:buNone/>
            </a:pPr>
            <a:r>
              <a:rPr lang="en-US" sz="3000" b="1" dirty="0">
                <a:solidFill>
                  <a:srgbClr val="84CC16"/>
                </a:solidFill>
                <a:latin typeface="Cambria" pitchFamily="34" charset="0"/>
                <a:ea typeface="Cambria" pitchFamily="34" charset="-122"/>
                <a:cs typeface="Cambria" pitchFamily="34" charset="-120"/>
              </a:rPr>
              <a:t>Yes.</a:t>
            </a:r>
            <a:endParaRPr lang="en-US" sz="3000" dirty="0"/>
          </a:p>
        </p:txBody>
      </p:sp>
      <p:sp>
        <p:nvSpPr>
          <p:cNvPr id="8" name="Text 6"/>
          <p:cNvSpPr/>
          <p:nvPr/>
        </p:nvSpPr>
        <p:spPr>
          <a:xfrm>
            <a:off x="475488" y="2880360"/>
            <a:ext cx="2432304" cy="777240"/>
          </a:xfrm>
          <a:prstGeom prst="rect">
            <a:avLst/>
          </a:prstGeom>
          <a:noFill/>
          <a:ln/>
        </p:spPr>
        <p:txBody>
          <a:bodyPr wrap="square" rtlCol="0" anchor="ctr"/>
          <a:lstStyle/>
          <a:p>
            <a:pPr marL="0" indent="0" algn="ctr">
              <a:buNone/>
            </a:pPr>
            <a:r>
              <a:rPr lang="en-US" sz="1050" dirty="0">
                <a:solidFill>
                  <a:srgbClr val="94A3B8"/>
                </a:solidFill>
                <a:latin typeface="Calibri" pitchFamily="34" charset="0"/>
                <a:ea typeface="Calibri" pitchFamily="34" charset="-122"/>
                <a:cs typeface="Calibri" pitchFamily="34" charset="-120"/>
              </a:rPr>
              <a:t>91.1% evidence completeness. Documented audit trail. Model-risk-control aligned.</a:t>
            </a:r>
            <a:endParaRPr lang="en-US" sz="1050" dirty="0"/>
          </a:p>
        </p:txBody>
      </p:sp>
      <p:sp>
        <p:nvSpPr>
          <p:cNvPr id="9" name="Shape 7"/>
          <p:cNvSpPr/>
          <p:nvPr/>
        </p:nvSpPr>
        <p:spPr>
          <a:xfrm>
            <a:off x="3200400" y="1691640"/>
            <a:ext cx="2651760" cy="2286000"/>
          </a:xfrm>
          <a:prstGeom prst="roundRect">
            <a:avLst>
              <a:gd name="adj" fmla="val 4000"/>
            </a:avLst>
          </a:prstGeom>
          <a:solidFill>
            <a:srgbClr val="1A1A2E"/>
          </a:solidFill>
          <a:ln w="6350">
            <a:solidFill>
              <a:srgbClr val="475569"/>
            </a:solidFill>
            <a:prstDash val="solid"/>
          </a:ln>
          <a:effectLst>
            <a:outerShdw blurRad="177800" dist="50800" dir="8100000" algn="bl" rotWithShape="0">
              <a:srgbClr val="000000">
                <a:alpha val="35000"/>
              </a:srgbClr>
            </a:outerShdw>
          </a:effectLst>
        </p:spPr>
        <p:txBody>
          <a:bodyPr/>
          <a:lstStyle/>
          <a:p>
            <a:endParaRPr lang="en-US"/>
          </a:p>
        </p:txBody>
      </p:sp>
      <p:sp>
        <p:nvSpPr>
          <p:cNvPr id="10" name="Text 8"/>
          <p:cNvSpPr/>
          <p:nvPr/>
        </p:nvSpPr>
        <p:spPr>
          <a:xfrm>
            <a:off x="3310128" y="1783080"/>
            <a:ext cx="2432304" cy="594360"/>
          </a:xfrm>
          <a:prstGeom prst="rect">
            <a:avLst/>
          </a:prstGeom>
          <a:noFill/>
          <a:ln/>
        </p:spPr>
        <p:txBody>
          <a:bodyPr wrap="square" rtlCol="0" anchor="ctr"/>
          <a:lstStyle/>
          <a:p>
            <a:pPr marL="0" indent="0" algn="ctr">
              <a:buNone/>
            </a:pPr>
            <a:r>
              <a:rPr lang="en-US" sz="1200" dirty="0">
                <a:solidFill>
                  <a:srgbClr val="94A3B8"/>
                </a:solidFill>
                <a:latin typeface="Calibri" pitchFamily="34" charset="0"/>
                <a:ea typeface="Calibri" pitchFamily="34" charset="-122"/>
                <a:cs typeface="Calibri" pitchFamily="34" charset="-120"/>
              </a:rPr>
              <a:t>Would it align with regulator expectations?</a:t>
            </a:r>
            <a:endParaRPr lang="en-US" sz="1200" dirty="0"/>
          </a:p>
        </p:txBody>
      </p:sp>
      <p:sp>
        <p:nvSpPr>
          <p:cNvPr id="11" name="Text 9"/>
          <p:cNvSpPr/>
          <p:nvPr/>
        </p:nvSpPr>
        <p:spPr>
          <a:xfrm>
            <a:off x="3310128" y="2359152"/>
            <a:ext cx="2432304" cy="475488"/>
          </a:xfrm>
          <a:prstGeom prst="rect">
            <a:avLst/>
          </a:prstGeom>
          <a:noFill/>
          <a:ln/>
        </p:spPr>
        <p:txBody>
          <a:bodyPr wrap="square" rtlCol="0" anchor="ctr"/>
          <a:lstStyle/>
          <a:p>
            <a:pPr marL="0" indent="0" algn="ctr">
              <a:buNone/>
            </a:pPr>
            <a:r>
              <a:rPr lang="en-US" sz="3000" b="1" dirty="0">
                <a:solidFill>
                  <a:srgbClr val="84CC16"/>
                </a:solidFill>
                <a:latin typeface="Cambria" pitchFamily="34" charset="0"/>
                <a:ea typeface="Cambria" pitchFamily="34" charset="-122"/>
                <a:cs typeface="Cambria" pitchFamily="34" charset="-120"/>
              </a:rPr>
              <a:t>Yes.</a:t>
            </a:r>
            <a:endParaRPr lang="en-US" sz="3000" dirty="0"/>
          </a:p>
        </p:txBody>
      </p:sp>
      <p:sp>
        <p:nvSpPr>
          <p:cNvPr id="12" name="Text 10"/>
          <p:cNvSpPr/>
          <p:nvPr/>
        </p:nvSpPr>
        <p:spPr>
          <a:xfrm>
            <a:off x="3310128" y="2880360"/>
            <a:ext cx="2432304" cy="777240"/>
          </a:xfrm>
          <a:prstGeom prst="rect">
            <a:avLst/>
          </a:prstGeom>
          <a:noFill/>
          <a:ln/>
        </p:spPr>
        <p:txBody>
          <a:bodyPr wrap="square" rtlCol="0" anchor="ctr"/>
          <a:lstStyle/>
          <a:p>
            <a:pPr marL="0" indent="0" algn="ctr">
              <a:buNone/>
            </a:pPr>
            <a:r>
              <a:rPr lang="en-US" sz="1050" dirty="0">
                <a:solidFill>
                  <a:srgbClr val="94A3B8"/>
                </a:solidFill>
                <a:latin typeface="Calibri" pitchFamily="34" charset="0"/>
                <a:ea typeface="Calibri" pitchFamily="34" charset="-122"/>
                <a:cs typeface="Calibri" pitchFamily="34" charset="-120"/>
              </a:rPr>
              <a:t>Aligned with SAR documentation discipline. FFIEC examination-ready. Hard human gate.</a:t>
            </a:r>
            <a:endParaRPr lang="en-US" sz="1050" dirty="0"/>
          </a:p>
        </p:txBody>
      </p:sp>
      <p:sp>
        <p:nvSpPr>
          <p:cNvPr id="13" name="Shape 11"/>
          <p:cNvSpPr/>
          <p:nvPr/>
        </p:nvSpPr>
        <p:spPr>
          <a:xfrm>
            <a:off x="6035040" y="1691640"/>
            <a:ext cx="2651760" cy="2286000"/>
          </a:xfrm>
          <a:prstGeom prst="roundRect">
            <a:avLst>
              <a:gd name="adj" fmla="val 4000"/>
            </a:avLst>
          </a:prstGeom>
          <a:solidFill>
            <a:srgbClr val="1A1A2E"/>
          </a:solidFill>
          <a:ln w="6350">
            <a:solidFill>
              <a:srgbClr val="475569"/>
            </a:solidFill>
            <a:prstDash val="solid"/>
          </a:ln>
          <a:effectLst>
            <a:outerShdw blurRad="177800" dist="50800" dir="8100000" algn="bl" rotWithShape="0">
              <a:srgbClr val="000000">
                <a:alpha val="35000"/>
              </a:srgbClr>
            </a:outerShdw>
          </a:effectLst>
        </p:spPr>
        <p:txBody>
          <a:bodyPr/>
          <a:lstStyle/>
          <a:p>
            <a:endParaRPr lang="en-US"/>
          </a:p>
        </p:txBody>
      </p:sp>
      <p:sp>
        <p:nvSpPr>
          <p:cNvPr id="14" name="Text 12"/>
          <p:cNvSpPr/>
          <p:nvPr/>
        </p:nvSpPr>
        <p:spPr>
          <a:xfrm>
            <a:off x="6144768" y="1783080"/>
            <a:ext cx="2432304" cy="594360"/>
          </a:xfrm>
          <a:prstGeom prst="rect">
            <a:avLst/>
          </a:prstGeom>
          <a:noFill/>
          <a:ln/>
        </p:spPr>
        <p:txBody>
          <a:bodyPr wrap="square" rtlCol="0" anchor="ctr"/>
          <a:lstStyle/>
          <a:p>
            <a:pPr marL="0" indent="0" algn="ctr">
              <a:buNone/>
            </a:pPr>
            <a:r>
              <a:rPr lang="en-US" sz="1200" dirty="0">
                <a:solidFill>
                  <a:srgbClr val="94A3B8"/>
                </a:solidFill>
                <a:latin typeface="Calibri" pitchFamily="34" charset="0"/>
                <a:ea typeface="Calibri" pitchFamily="34" charset="-122"/>
                <a:cs typeface="Calibri" pitchFamily="34" charset="-120"/>
              </a:rPr>
              <a:t>Would investigators use it?</a:t>
            </a:r>
            <a:endParaRPr lang="en-US" sz="1200" dirty="0"/>
          </a:p>
        </p:txBody>
      </p:sp>
      <p:sp>
        <p:nvSpPr>
          <p:cNvPr id="15" name="Text 13"/>
          <p:cNvSpPr/>
          <p:nvPr/>
        </p:nvSpPr>
        <p:spPr>
          <a:xfrm>
            <a:off x="6144768" y="2359152"/>
            <a:ext cx="2432304" cy="475488"/>
          </a:xfrm>
          <a:prstGeom prst="rect">
            <a:avLst/>
          </a:prstGeom>
          <a:noFill/>
          <a:ln/>
        </p:spPr>
        <p:txBody>
          <a:bodyPr wrap="square" rtlCol="0" anchor="ctr"/>
          <a:lstStyle/>
          <a:p>
            <a:pPr marL="0" indent="0" algn="ctr">
              <a:buNone/>
            </a:pPr>
            <a:r>
              <a:rPr lang="en-US" sz="3000" b="1" dirty="0">
                <a:solidFill>
                  <a:srgbClr val="84CC16"/>
                </a:solidFill>
                <a:latin typeface="Cambria" pitchFamily="34" charset="0"/>
                <a:ea typeface="Cambria" pitchFamily="34" charset="-122"/>
                <a:cs typeface="Cambria" pitchFamily="34" charset="-120"/>
              </a:rPr>
              <a:t>Yes.</a:t>
            </a:r>
            <a:endParaRPr lang="en-US" sz="3000" dirty="0"/>
          </a:p>
        </p:txBody>
      </p:sp>
      <p:sp>
        <p:nvSpPr>
          <p:cNvPr id="16" name="Text 14"/>
          <p:cNvSpPr/>
          <p:nvPr/>
        </p:nvSpPr>
        <p:spPr>
          <a:xfrm>
            <a:off x="6144768" y="2880360"/>
            <a:ext cx="2432304" cy="777240"/>
          </a:xfrm>
          <a:prstGeom prst="rect">
            <a:avLst/>
          </a:prstGeom>
          <a:noFill/>
          <a:ln/>
        </p:spPr>
        <p:txBody>
          <a:bodyPr wrap="square" rtlCol="0" anchor="ctr"/>
          <a:lstStyle/>
          <a:p>
            <a:pPr marL="0" indent="0" algn="ctr">
              <a:buNone/>
            </a:pPr>
            <a:r>
              <a:rPr lang="en-US" sz="1050" dirty="0">
                <a:solidFill>
                  <a:srgbClr val="94A3B8"/>
                </a:solidFill>
                <a:latin typeface="Calibri" pitchFamily="34" charset="0"/>
                <a:ea typeface="Calibri" pitchFamily="34" charset="-122"/>
                <a:cs typeface="Calibri" pitchFamily="34" charset="-120"/>
              </a:rPr>
              <a:t>Pre-assembled, verified evidence instead of a manual hunt across systems.</a:t>
            </a:r>
            <a:endParaRPr lang="en-US" sz="1050" dirty="0"/>
          </a:p>
        </p:txBody>
      </p:sp>
      <p:sp>
        <p:nvSpPr>
          <p:cNvPr id="17" name="Text 15"/>
          <p:cNvSpPr/>
          <p:nvPr/>
        </p:nvSpPr>
        <p:spPr>
          <a:xfrm>
            <a:off x="457200" y="4279392"/>
            <a:ext cx="8229600" cy="384048"/>
          </a:xfrm>
          <a:prstGeom prst="rect">
            <a:avLst/>
          </a:prstGeom>
          <a:noFill/>
          <a:ln/>
        </p:spPr>
        <p:txBody>
          <a:bodyPr wrap="square" rtlCol="0" anchor="ctr"/>
          <a:lstStyle/>
          <a:p>
            <a:pPr marL="0" indent="0" algn="ctr">
              <a:buNone/>
            </a:pPr>
            <a:r>
              <a:rPr lang="en-US" sz="1600" b="1" i="1" dirty="0">
                <a:solidFill>
                  <a:srgbClr val="A78BFA"/>
                </a:solidFill>
                <a:latin typeface="Calibri" pitchFamily="34" charset="0"/>
                <a:ea typeface="Calibri" pitchFamily="34" charset="-122"/>
                <a:cs typeface="Calibri" pitchFamily="34" charset="-120"/>
              </a:rPr>
              <a:t>The model drafts. Code verifies. Humans decide.</a:t>
            </a:r>
            <a:endParaRPr lang="en-US" sz="1600" dirty="0"/>
          </a:p>
        </p:txBody>
      </p:sp>
      <p:sp>
        <p:nvSpPr>
          <p:cNvPr id="18" name="Text 16"/>
          <p:cNvSpPr/>
          <p:nvPr/>
        </p:nvSpPr>
        <p:spPr>
          <a:xfrm>
            <a:off x="457200" y="4754880"/>
            <a:ext cx="8229600" cy="228600"/>
          </a:xfrm>
          <a:prstGeom prst="rect">
            <a:avLst/>
          </a:prstGeom>
          <a:noFill/>
          <a:ln/>
        </p:spPr>
        <p:txBody>
          <a:bodyPr wrap="square"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github.com/leishka-pagan/Lumen</a:t>
            </a:r>
            <a:endParaRPr lang="en-US" sz="1000" dirty="0"/>
          </a:p>
        </p:txBody>
      </p:sp>
      <p:pic>
        <p:nvPicPr>
          <p:cNvPr id="19" name="Slide 19 - Leishka">
            <a:hlinkClick r:id="" action="ppaction://media"/>
            <a:extLst>
              <a:ext uri="{FF2B5EF4-FFF2-40B4-BE49-F238E27FC236}">
                <a16:creationId xmlns:a16="http://schemas.microsoft.com/office/drawing/2014/main" id="{B2BC925A-030B-54C3-873F-76BB2D8A5C4E}"/>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229600" y="4204660"/>
            <a:ext cx="609600" cy="609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1706"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19"/>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16">
    <p:bg>
      <p:bgPr>
        <a:solidFill>
          <a:srgbClr val="0D0D14"/>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References</a:t>
            </a:r>
            <a:endParaRPr lang="en-US" sz="3000" dirty="0"/>
          </a:p>
        </p:txBody>
      </p:sp>
      <p:sp>
        <p:nvSpPr>
          <p:cNvPr id="3" name="Text 1"/>
          <p:cNvSpPr/>
          <p:nvPr/>
        </p:nvSpPr>
        <p:spPr>
          <a:xfrm>
            <a:off x="457200" y="804672"/>
            <a:ext cx="8229600" cy="256032"/>
          </a:xfrm>
          <a:prstGeom prst="rect">
            <a:avLst/>
          </a:prstGeom>
          <a:noFill/>
          <a:ln/>
        </p:spPr>
        <p:txBody>
          <a:bodyPr wrap="square" rtlCol="0" anchor="ctr"/>
          <a:lstStyle/>
          <a:p>
            <a:pPr marL="0" indent="0" algn="l">
              <a:buNone/>
            </a:pPr>
            <a:r>
              <a:rPr lang="en-US" sz="1100" i="1" dirty="0">
                <a:solidFill>
                  <a:srgbClr val="94A3B8"/>
                </a:solidFill>
                <a:latin typeface="Calibri" pitchFamily="34" charset="0"/>
                <a:ea typeface="Calibri" pitchFamily="34" charset="-122"/>
                <a:cs typeface="Calibri" pitchFamily="34" charset="-120"/>
              </a:rPr>
              <a:t>Source backup for all statistics, regulatory citations, and industry benchmarks used in this presentation.</a:t>
            </a:r>
            <a:endParaRPr lang="en-US" sz="1100" dirty="0"/>
          </a:p>
        </p:txBody>
      </p:sp>
      <p:sp>
        <p:nvSpPr>
          <p:cNvPr id="4" name="Shape 2"/>
          <p:cNvSpPr/>
          <p:nvPr/>
        </p:nvSpPr>
        <p:spPr>
          <a:xfrm>
            <a:off x="365760" y="1170432"/>
            <a:ext cx="164592" cy="1691640"/>
          </a:xfrm>
          <a:prstGeom prst="roundRect">
            <a:avLst>
              <a:gd name="adj" fmla="val 22222"/>
            </a:avLst>
          </a:prstGeom>
          <a:solidFill>
            <a:srgbClr val="84CC16">
              <a:alpha val="40000"/>
            </a:srgbClr>
          </a:solidFill>
          <a:ln w="6350">
            <a:solidFill>
              <a:srgbClr val="84CC16"/>
            </a:solidFill>
            <a:prstDash val="solid"/>
          </a:ln>
        </p:spPr>
        <p:txBody>
          <a:bodyPr/>
          <a:lstStyle/>
          <a:p>
            <a:endParaRPr lang="en-US"/>
          </a:p>
        </p:txBody>
      </p:sp>
      <p:sp>
        <p:nvSpPr>
          <p:cNvPr id="5" name="Text 3"/>
          <p:cNvSpPr/>
          <p:nvPr/>
        </p:nvSpPr>
        <p:spPr>
          <a:xfrm>
            <a:off x="640080" y="1188720"/>
            <a:ext cx="8046720" cy="274320"/>
          </a:xfrm>
          <a:prstGeom prst="rect">
            <a:avLst/>
          </a:prstGeom>
          <a:noFill/>
          <a:ln/>
        </p:spPr>
        <p:txBody>
          <a:bodyPr wrap="square" rtlCol="0" anchor="ctr"/>
          <a:lstStyle/>
          <a:p>
            <a:pPr marL="0" indent="0" algn="l">
              <a:buNone/>
            </a:pPr>
            <a:r>
              <a:rPr lang="en-US" sz="1200" b="1" dirty="0">
                <a:solidFill>
                  <a:srgbClr val="84CC16"/>
                </a:solidFill>
                <a:latin typeface="Calibri" pitchFamily="34" charset="0"/>
                <a:ea typeface="Calibri" pitchFamily="34" charset="-122"/>
                <a:cs typeface="Calibri" pitchFamily="34" charset="-120"/>
              </a:rPr>
              <a:t>ROI + Industry Benchmarks</a:t>
            </a:r>
            <a:endParaRPr lang="en-US" sz="1200" dirty="0"/>
          </a:p>
        </p:txBody>
      </p:sp>
      <p:sp>
        <p:nvSpPr>
          <p:cNvPr id="6" name="Text 4"/>
          <p:cNvSpPr/>
          <p:nvPr/>
        </p:nvSpPr>
        <p:spPr>
          <a:xfrm>
            <a:off x="640080" y="1517904"/>
            <a:ext cx="2011680" cy="365760"/>
          </a:xfrm>
          <a:prstGeom prst="rect">
            <a:avLst/>
          </a:prstGeom>
          <a:noFill/>
          <a:ln/>
        </p:spPr>
        <p:txBody>
          <a:bodyPr wrap="square" rtlCol="0" anchor="ctr"/>
          <a:lstStyle/>
          <a:p>
            <a:pPr marL="0" indent="0" algn="l">
              <a:buNone/>
            </a:pPr>
            <a:r>
              <a:rPr lang="en-US" sz="1000" b="1" dirty="0">
                <a:solidFill>
                  <a:srgbClr val="F8FAFC"/>
                </a:solidFill>
                <a:latin typeface="Calibri" pitchFamily="34" charset="0"/>
                <a:ea typeface="Calibri" pitchFamily="34" charset="-122"/>
                <a:cs typeface="Calibri" pitchFamily="34" charset="-120"/>
              </a:rPr>
              <a:t>False-positive rate (90-95%)</a:t>
            </a:r>
            <a:endParaRPr lang="en-US" sz="1000" dirty="0"/>
          </a:p>
        </p:txBody>
      </p:sp>
      <p:sp>
        <p:nvSpPr>
          <p:cNvPr id="7" name="Text 5"/>
          <p:cNvSpPr/>
          <p:nvPr/>
        </p:nvSpPr>
        <p:spPr>
          <a:xfrm>
            <a:off x="2697480" y="1517904"/>
            <a:ext cx="6080760" cy="365760"/>
          </a:xfrm>
          <a:prstGeom prst="rect">
            <a:avLst/>
          </a:prstGeom>
          <a:noFill/>
          <a:ln/>
        </p:spPr>
        <p:txBody>
          <a:bodyPr wrap="square" rtlCol="0" anchor="ctr"/>
          <a:lstStyle/>
          <a:p>
            <a:pPr marL="0" indent="0" algn="l">
              <a:buNone/>
            </a:pPr>
            <a:r>
              <a:rPr lang="en-US" sz="1000" dirty="0">
                <a:solidFill>
                  <a:srgbClr val="94A3B8"/>
                </a:solidFill>
                <a:latin typeface="Calibri" pitchFamily="34" charset="0"/>
                <a:ea typeface="Calibri" pitchFamily="34" charset="-122"/>
                <a:cs typeface="Calibri" pitchFamily="34" charset="-120"/>
              </a:rPr>
              <a:t>LexisNexis Risk Solutions. True Cost of Financial Crime Compliance Study. Annual report. Also corroborated by Reuters AML industry reporting.</a:t>
            </a:r>
            <a:endParaRPr lang="en-US" sz="1000" dirty="0"/>
          </a:p>
        </p:txBody>
      </p:sp>
      <p:sp>
        <p:nvSpPr>
          <p:cNvPr id="8" name="Text 6"/>
          <p:cNvSpPr/>
          <p:nvPr/>
        </p:nvSpPr>
        <p:spPr>
          <a:xfrm>
            <a:off x="640080" y="1975104"/>
            <a:ext cx="2011680" cy="365760"/>
          </a:xfrm>
          <a:prstGeom prst="rect">
            <a:avLst/>
          </a:prstGeom>
          <a:noFill/>
          <a:ln/>
        </p:spPr>
        <p:txBody>
          <a:bodyPr wrap="square" rtlCol="0" anchor="ctr"/>
          <a:lstStyle/>
          <a:p>
            <a:pPr marL="0" indent="0" algn="l">
              <a:buNone/>
            </a:pPr>
            <a:r>
              <a:rPr lang="en-US" sz="1000" b="1" dirty="0">
                <a:solidFill>
                  <a:srgbClr val="F8FAFC"/>
                </a:solidFill>
                <a:latin typeface="Calibri" pitchFamily="34" charset="0"/>
                <a:ea typeface="Calibri" pitchFamily="34" charset="-122"/>
                <a:cs typeface="Calibri" pitchFamily="34" charset="-120"/>
              </a:rPr>
              <a:t>Manual case prep time (30-45 min)</a:t>
            </a:r>
            <a:endParaRPr lang="en-US" sz="1000" dirty="0"/>
          </a:p>
        </p:txBody>
      </p:sp>
      <p:sp>
        <p:nvSpPr>
          <p:cNvPr id="9" name="Text 7"/>
          <p:cNvSpPr/>
          <p:nvPr/>
        </p:nvSpPr>
        <p:spPr>
          <a:xfrm>
            <a:off x="2697480" y="1975104"/>
            <a:ext cx="6080760" cy="365760"/>
          </a:xfrm>
          <a:prstGeom prst="rect">
            <a:avLst/>
          </a:prstGeom>
          <a:noFill/>
          <a:ln/>
        </p:spPr>
        <p:txBody>
          <a:bodyPr wrap="square" rtlCol="0" anchor="ctr"/>
          <a:lstStyle/>
          <a:p>
            <a:pPr marL="0" indent="0" algn="l">
              <a:buNone/>
            </a:pPr>
            <a:r>
              <a:rPr lang="en-US" sz="1000" dirty="0">
                <a:solidFill>
                  <a:srgbClr val="94A3B8"/>
                </a:solidFill>
                <a:latin typeface="Calibri" pitchFamily="34" charset="0"/>
                <a:ea typeface="Calibri" pitchFamily="34" charset="-122"/>
                <a:cs typeface="Calibri" pitchFamily="34" charset="-120"/>
              </a:rPr>
              <a:t>ACAMS (Association of Certified Anti-Money Laundering Specialists). Industry benchmark data on manual triage process time across core banking systems.</a:t>
            </a:r>
            <a:endParaRPr lang="en-US" sz="1000" dirty="0"/>
          </a:p>
        </p:txBody>
      </p:sp>
      <p:sp>
        <p:nvSpPr>
          <p:cNvPr id="10" name="Text 8"/>
          <p:cNvSpPr/>
          <p:nvPr/>
        </p:nvSpPr>
        <p:spPr>
          <a:xfrm>
            <a:off x="640080" y="2432304"/>
            <a:ext cx="2011680" cy="365760"/>
          </a:xfrm>
          <a:prstGeom prst="rect">
            <a:avLst/>
          </a:prstGeom>
          <a:noFill/>
          <a:ln/>
        </p:spPr>
        <p:txBody>
          <a:bodyPr wrap="square" rtlCol="0" anchor="ctr"/>
          <a:lstStyle/>
          <a:p>
            <a:pPr marL="0" indent="0" algn="l">
              <a:buNone/>
            </a:pPr>
            <a:r>
              <a:rPr lang="en-US" sz="1000" b="1" dirty="0">
                <a:solidFill>
                  <a:srgbClr val="F8FAFC"/>
                </a:solidFill>
                <a:latin typeface="Calibri" pitchFamily="34" charset="0"/>
                <a:ea typeface="Calibri" pitchFamily="34" charset="-122"/>
                <a:cs typeface="Calibri" pitchFamily="34" charset="-120"/>
              </a:rPr>
              <a:t>Analyst loaded cost ($90K / $45/hr)</a:t>
            </a:r>
            <a:endParaRPr lang="en-US" sz="1000" dirty="0"/>
          </a:p>
        </p:txBody>
      </p:sp>
      <p:sp>
        <p:nvSpPr>
          <p:cNvPr id="11" name="Text 9"/>
          <p:cNvSpPr/>
          <p:nvPr/>
        </p:nvSpPr>
        <p:spPr>
          <a:xfrm>
            <a:off x="2697480" y="2432304"/>
            <a:ext cx="6080760" cy="365760"/>
          </a:xfrm>
          <a:prstGeom prst="rect">
            <a:avLst/>
          </a:prstGeom>
          <a:noFill/>
          <a:ln/>
        </p:spPr>
        <p:txBody>
          <a:bodyPr wrap="square" rtlCol="0" anchor="ctr"/>
          <a:lstStyle/>
          <a:p>
            <a:pPr marL="0" indent="0" algn="l">
              <a:buNone/>
            </a:pPr>
            <a:r>
              <a:rPr lang="en-US" sz="1000" dirty="0">
                <a:solidFill>
                  <a:srgbClr val="94A3B8"/>
                </a:solidFill>
                <a:latin typeface="Calibri" pitchFamily="34" charset="0"/>
                <a:ea typeface="Calibri" pitchFamily="34" charset="-122"/>
                <a:cs typeface="Calibri" pitchFamily="34" charset="-120"/>
              </a:rPr>
              <a:t>U.S. Bureau of Labor Statistics (BLS) occupational wage data for Compliance Officers + Glassdoor salary data for AML Analysts, with 30% standard corporate overhead applied.</a:t>
            </a:r>
            <a:endParaRPr lang="en-US" sz="1000" dirty="0"/>
          </a:p>
        </p:txBody>
      </p:sp>
      <p:sp>
        <p:nvSpPr>
          <p:cNvPr id="12" name="Shape 10"/>
          <p:cNvSpPr/>
          <p:nvPr/>
        </p:nvSpPr>
        <p:spPr>
          <a:xfrm>
            <a:off x="365760" y="3044952"/>
            <a:ext cx="164592" cy="1691640"/>
          </a:xfrm>
          <a:prstGeom prst="roundRect">
            <a:avLst>
              <a:gd name="adj" fmla="val 22222"/>
            </a:avLst>
          </a:prstGeom>
          <a:solidFill>
            <a:srgbClr val="7C3AED">
              <a:alpha val="40000"/>
            </a:srgbClr>
          </a:solidFill>
          <a:ln w="6350">
            <a:solidFill>
              <a:srgbClr val="7C3AED"/>
            </a:solidFill>
            <a:prstDash val="solid"/>
          </a:ln>
        </p:spPr>
        <p:txBody>
          <a:bodyPr/>
          <a:lstStyle/>
          <a:p>
            <a:endParaRPr lang="en-US"/>
          </a:p>
        </p:txBody>
      </p:sp>
      <p:sp>
        <p:nvSpPr>
          <p:cNvPr id="13" name="Text 11"/>
          <p:cNvSpPr/>
          <p:nvPr/>
        </p:nvSpPr>
        <p:spPr>
          <a:xfrm>
            <a:off x="640080" y="3063240"/>
            <a:ext cx="8046720" cy="274320"/>
          </a:xfrm>
          <a:prstGeom prst="rect">
            <a:avLst/>
          </a:prstGeom>
          <a:noFill/>
          <a:ln/>
        </p:spPr>
        <p:txBody>
          <a:bodyPr wrap="square" rtlCol="0" anchor="ctr"/>
          <a:lstStyle/>
          <a:p>
            <a:pPr marL="0" indent="0" algn="l">
              <a:buNone/>
            </a:pPr>
            <a:r>
              <a:rPr lang="en-US" sz="1200" b="1" dirty="0">
                <a:solidFill>
                  <a:srgbClr val="7C3AED"/>
                </a:solidFill>
                <a:latin typeface="Calibri" pitchFamily="34" charset="0"/>
                <a:ea typeface="Calibri" pitchFamily="34" charset="-122"/>
                <a:cs typeface="Calibri" pitchFamily="34" charset="-120"/>
              </a:rPr>
              <a:t>Regulatory Framework</a:t>
            </a:r>
            <a:endParaRPr lang="en-US" sz="1200" dirty="0"/>
          </a:p>
        </p:txBody>
      </p:sp>
      <p:sp>
        <p:nvSpPr>
          <p:cNvPr id="14" name="Text 12"/>
          <p:cNvSpPr/>
          <p:nvPr/>
        </p:nvSpPr>
        <p:spPr>
          <a:xfrm>
            <a:off x="640080" y="3392424"/>
            <a:ext cx="2011680" cy="365760"/>
          </a:xfrm>
          <a:prstGeom prst="rect">
            <a:avLst/>
          </a:prstGeom>
          <a:noFill/>
          <a:ln/>
        </p:spPr>
        <p:txBody>
          <a:bodyPr wrap="square" rtlCol="0" anchor="ctr"/>
          <a:lstStyle/>
          <a:p>
            <a:pPr marL="0" indent="0" algn="l">
              <a:buNone/>
            </a:pPr>
            <a:r>
              <a:rPr lang="en-US" sz="1000" b="1" dirty="0">
                <a:solidFill>
                  <a:srgbClr val="F8FAFC"/>
                </a:solidFill>
                <a:latin typeface="Calibri" pitchFamily="34" charset="0"/>
                <a:ea typeface="Calibri" pitchFamily="34" charset="-122"/>
                <a:cs typeface="Calibri" pitchFamily="34" charset="-120"/>
              </a:rPr>
              <a:t>SR 26-2 (April 2026)</a:t>
            </a:r>
            <a:endParaRPr lang="en-US" sz="1000" dirty="0"/>
          </a:p>
        </p:txBody>
      </p:sp>
      <p:sp>
        <p:nvSpPr>
          <p:cNvPr id="15" name="Text 13"/>
          <p:cNvSpPr/>
          <p:nvPr/>
        </p:nvSpPr>
        <p:spPr>
          <a:xfrm>
            <a:off x="2697480" y="3392424"/>
            <a:ext cx="6080760" cy="365760"/>
          </a:xfrm>
          <a:prstGeom prst="rect">
            <a:avLst/>
          </a:prstGeom>
          <a:noFill/>
          <a:ln/>
        </p:spPr>
        <p:txBody>
          <a:bodyPr wrap="square" rtlCol="0" anchor="ctr"/>
          <a:lstStyle/>
          <a:p>
            <a:pPr marL="0" indent="0" algn="l">
              <a:buNone/>
            </a:pPr>
            <a:r>
              <a:rPr lang="en-US" sz="1000" dirty="0">
                <a:solidFill>
                  <a:srgbClr val="94A3B8"/>
                </a:solidFill>
                <a:latin typeface="Calibri" pitchFamily="34" charset="0"/>
                <a:ea typeface="Calibri" pitchFamily="34" charset="-122"/>
                <a:cs typeface="Calibri" pitchFamily="34" charset="-120"/>
              </a:rPr>
              <a:t>Federal Reserve Board. SR 26-2: Revised Guidance on Model Risk Management. April 2026. Supersedes SR 11-7 and SR 21-8. Excludes generative and agentic AI from scope.</a:t>
            </a:r>
            <a:endParaRPr lang="en-US" sz="1000" dirty="0"/>
          </a:p>
        </p:txBody>
      </p:sp>
      <p:sp>
        <p:nvSpPr>
          <p:cNvPr id="16" name="Text 14"/>
          <p:cNvSpPr/>
          <p:nvPr/>
        </p:nvSpPr>
        <p:spPr>
          <a:xfrm>
            <a:off x="640080" y="3849624"/>
            <a:ext cx="2011680" cy="365760"/>
          </a:xfrm>
          <a:prstGeom prst="rect">
            <a:avLst/>
          </a:prstGeom>
          <a:noFill/>
          <a:ln/>
        </p:spPr>
        <p:txBody>
          <a:bodyPr wrap="square" rtlCol="0" anchor="ctr"/>
          <a:lstStyle/>
          <a:p>
            <a:pPr marL="0" indent="0" algn="l">
              <a:buNone/>
            </a:pPr>
            <a:r>
              <a:rPr lang="en-US" sz="1000" b="1" dirty="0">
                <a:solidFill>
                  <a:srgbClr val="F8FAFC"/>
                </a:solidFill>
                <a:latin typeface="Calibri" pitchFamily="34" charset="0"/>
                <a:ea typeface="Calibri" pitchFamily="34" charset="-122"/>
                <a:cs typeface="Calibri" pitchFamily="34" charset="-120"/>
              </a:rPr>
              <a:t>FinCEN SAR FAQ (October 2025)</a:t>
            </a:r>
            <a:endParaRPr lang="en-US" sz="1000" dirty="0"/>
          </a:p>
        </p:txBody>
      </p:sp>
      <p:sp>
        <p:nvSpPr>
          <p:cNvPr id="17" name="Text 15"/>
          <p:cNvSpPr/>
          <p:nvPr/>
        </p:nvSpPr>
        <p:spPr>
          <a:xfrm>
            <a:off x="2697480" y="3849624"/>
            <a:ext cx="6080760" cy="365760"/>
          </a:xfrm>
          <a:prstGeom prst="rect">
            <a:avLst/>
          </a:prstGeom>
          <a:noFill/>
          <a:ln/>
        </p:spPr>
        <p:txBody>
          <a:bodyPr wrap="square" rtlCol="0" anchor="ctr"/>
          <a:lstStyle/>
          <a:p>
            <a:pPr marL="0" indent="0" algn="l">
              <a:buNone/>
            </a:pPr>
            <a:r>
              <a:rPr lang="en-US" sz="1000" dirty="0">
                <a:solidFill>
                  <a:srgbClr val="94A3B8"/>
                </a:solidFill>
                <a:latin typeface="Calibri" pitchFamily="34" charset="0"/>
                <a:ea typeface="Calibri" pitchFamily="34" charset="-122"/>
                <a:cs typeface="Calibri" pitchFamily="34" charset="-120"/>
              </a:rPr>
              <a:t>Financial Crimes Enforcement Network. Suspicious Activity Report (SAR) Filing FAQ. October 2025. Addresses SAR narrative completeness and value-over-volume reporting standards.</a:t>
            </a:r>
            <a:endParaRPr lang="en-US" sz="1000" dirty="0"/>
          </a:p>
        </p:txBody>
      </p:sp>
      <p:sp>
        <p:nvSpPr>
          <p:cNvPr id="18" name="Text 16"/>
          <p:cNvSpPr/>
          <p:nvPr/>
        </p:nvSpPr>
        <p:spPr>
          <a:xfrm>
            <a:off x="640080" y="4306824"/>
            <a:ext cx="2011680" cy="365760"/>
          </a:xfrm>
          <a:prstGeom prst="rect">
            <a:avLst/>
          </a:prstGeom>
          <a:noFill/>
          <a:ln/>
        </p:spPr>
        <p:txBody>
          <a:bodyPr wrap="square" rtlCol="0" anchor="ctr"/>
          <a:lstStyle/>
          <a:p>
            <a:pPr marL="0" indent="0" algn="l">
              <a:buNone/>
            </a:pPr>
            <a:r>
              <a:rPr lang="en-US" sz="1000" b="1" dirty="0">
                <a:solidFill>
                  <a:srgbClr val="F8FAFC"/>
                </a:solidFill>
                <a:latin typeface="Calibri" pitchFamily="34" charset="0"/>
                <a:ea typeface="Calibri" pitchFamily="34" charset="-122"/>
                <a:cs typeface="Calibri" pitchFamily="34" charset="-120"/>
              </a:rPr>
              <a:t>FFIEC SAR Examination Guidance</a:t>
            </a:r>
            <a:endParaRPr lang="en-US" sz="1000" dirty="0"/>
          </a:p>
        </p:txBody>
      </p:sp>
      <p:sp>
        <p:nvSpPr>
          <p:cNvPr id="19" name="Text 17"/>
          <p:cNvSpPr/>
          <p:nvPr/>
        </p:nvSpPr>
        <p:spPr>
          <a:xfrm>
            <a:off x="2697480" y="4306824"/>
            <a:ext cx="6080760" cy="365760"/>
          </a:xfrm>
          <a:prstGeom prst="rect">
            <a:avLst/>
          </a:prstGeom>
          <a:noFill/>
          <a:ln/>
        </p:spPr>
        <p:txBody>
          <a:bodyPr wrap="square" rtlCol="0" anchor="ctr"/>
          <a:lstStyle/>
          <a:p>
            <a:pPr marL="0" indent="0" algn="l">
              <a:buNone/>
            </a:pPr>
            <a:r>
              <a:rPr lang="en-US" sz="1000" dirty="0">
                <a:solidFill>
                  <a:srgbClr val="94A3B8"/>
                </a:solidFill>
                <a:latin typeface="Calibri" pitchFamily="34" charset="0"/>
                <a:ea typeface="Calibri" pitchFamily="34" charset="-122"/>
                <a:cs typeface="Calibri" pitchFamily="34" charset="-120"/>
              </a:rPr>
              <a:t>Federal Financial Institutions Examination Council. Bank Secrecy Act / Anti-Money Laundering Examination Manual. SAR narrative accuracy, completeness, and explainability standards.</a:t>
            </a:r>
            <a:endParaRPr lang="en-US" sz="1000" dirty="0"/>
          </a:p>
        </p:txBody>
      </p:sp>
      <p:sp>
        <p:nvSpPr>
          <p:cNvPr id="20" name="Text 18"/>
          <p:cNvSpPr/>
          <p:nvPr/>
        </p:nvSpPr>
        <p:spPr>
          <a:xfrm>
            <a:off x="365760" y="4800600"/>
            <a:ext cx="8412480" cy="228600"/>
          </a:xfrm>
          <a:prstGeom prst="rect">
            <a:avLst/>
          </a:prstGeom>
          <a:noFill/>
          <a:ln/>
        </p:spPr>
        <p:txBody>
          <a:bodyPr wrap="square" rtlCol="0" anchor="ctr"/>
          <a:lstStyle/>
          <a:p>
            <a:pPr marL="0" indent="0" algn="ctr">
              <a:buNone/>
            </a:pPr>
            <a:r>
              <a:rPr lang="en-US" sz="900" i="1" dirty="0">
                <a:solidFill>
                  <a:srgbClr val="475569"/>
                </a:solidFill>
                <a:latin typeface="Calibri" pitchFamily="34" charset="0"/>
                <a:ea typeface="Calibri" pitchFamily="34" charset="-122"/>
                <a:cs typeface="Calibri" pitchFamily="34" charset="-120"/>
              </a:rPr>
              <a:t>Appendix  ·  Not presented unless asked  ·  Available for judge review</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lIns="0" tIns="0" rIns="0" bIns="0" rtlCol="0" anchor="ctr"/>
          <a:lstStyle/>
          <a:p>
            <a:pPr marL="0" indent="0" algn="l">
              <a:buNone/>
            </a:pPr>
            <a:r>
              <a:rPr lang="en-US" sz="3200" b="1" dirty="0">
                <a:solidFill>
                  <a:srgbClr val="F1F5F9"/>
                </a:solidFill>
                <a:latin typeface="Calibri" pitchFamily="34" charset="0"/>
                <a:ea typeface="Calibri" pitchFamily="34" charset="-122"/>
                <a:cs typeface="Calibri" pitchFamily="34" charset="-120"/>
              </a:rPr>
              <a:t>Explore Lumen</a:t>
            </a:r>
            <a:endParaRPr lang="en-US" sz="3200" dirty="0"/>
          </a:p>
        </p:txBody>
      </p:sp>
      <p:sp>
        <p:nvSpPr>
          <p:cNvPr id="3" name="Text 1"/>
          <p:cNvSpPr/>
          <p:nvPr/>
        </p:nvSpPr>
        <p:spPr>
          <a:xfrm>
            <a:off x="457200" y="777240"/>
            <a:ext cx="8229600" cy="320040"/>
          </a:xfrm>
          <a:prstGeom prst="rect">
            <a:avLst/>
          </a:prstGeom>
          <a:noFill/>
          <a:ln/>
        </p:spPr>
        <p:txBody>
          <a:bodyPr wrap="square" lIns="0" tIns="0" rIns="0" bIns="0" rtlCol="0" anchor="ctr"/>
          <a:lstStyle/>
          <a:p>
            <a:pPr marL="0" indent="0" algn="l">
              <a:buNone/>
            </a:pPr>
            <a:r>
              <a:rPr lang="en-US" sz="1500" i="1" dirty="0">
                <a:solidFill>
                  <a:srgbClr val="84CC16"/>
                </a:solidFill>
                <a:latin typeface="Calibri" pitchFamily="34" charset="0"/>
                <a:ea typeface="Calibri" pitchFamily="34" charset="-122"/>
                <a:cs typeface="Calibri" pitchFamily="34" charset="-120"/>
              </a:rPr>
              <a:t>See the code. Try the app. Read the finding.</a:t>
            </a:r>
            <a:endParaRPr lang="en-US" sz="1500" dirty="0"/>
          </a:p>
        </p:txBody>
      </p:sp>
      <p:sp>
        <p:nvSpPr>
          <p:cNvPr id="4" name="Shape 2"/>
          <p:cNvSpPr/>
          <p:nvPr/>
        </p:nvSpPr>
        <p:spPr>
          <a:xfrm>
            <a:off x="457200" y="1280160"/>
            <a:ext cx="5120640" cy="3291840"/>
          </a:xfrm>
          <a:prstGeom prst="roundRect">
            <a:avLst>
              <a:gd name="adj" fmla="val 2778"/>
            </a:avLst>
          </a:prstGeom>
          <a:solidFill>
            <a:srgbClr val="1A1A2E"/>
          </a:solidFill>
          <a:ln w="9525">
            <a:solidFill>
              <a:srgbClr val="2A2A45"/>
            </a:solidFill>
            <a:prstDash val="solid"/>
          </a:ln>
        </p:spPr>
        <p:txBody>
          <a:bodyPr/>
          <a:lstStyle/>
          <a:p>
            <a:endParaRPr lang="en-US"/>
          </a:p>
        </p:txBody>
      </p:sp>
      <p:sp>
        <p:nvSpPr>
          <p:cNvPr id="5" name="Text 3"/>
          <p:cNvSpPr/>
          <p:nvPr/>
        </p:nvSpPr>
        <p:spPr>
          <a:xfrm>
            <a:off x="685800" y="1417320"/>
            <a:ext cx="4663440" cy="256032"/>
          </a:xfrm>
          <a:prstGeom prst="rect">
            <a:avLst/>
          </a:prstGeom>
          <a:noFill/>
          <a:ln/>
        </p:spPr>
        <p:txBody>
          <a:bodyPr wrap="square" lIns="0" tIns="0" rIns="0" bIns="0" rtlCol="0" anchor="ctr"/>
          <a:lstStyle/>
          <a:p>
            <a:pPr marL="0" indent="0">
              <a:buNone/>
            </a:pPr>
            <a:r>
              <a:rPr lang="en-US" sz="1000" b="1" kern="0" spc="300" dirty="0">
                <a:solidFill>
                  <a:srgbClr val="A855F7"/>
                </a:solidFill>
                <a:latin typeface="Calibri" pitchFamily="34" charset="0"/>
                <a:ea typeface="Calibri" pitchFamily="34" charset="-122"/>
                <a:cs typeface="Calibri" pitchFamily="34" charset="-120"/>
              </a:rPr>
              <a:t>LIVE INTERACTIVE SITE</a:t>
            </a:r>
            <a:endParaRPr lang="en-US" sz="1000" dirty="0"/>
          </a:p>
        </p:txBody>
      </p:sp>
      <p:sp>
        <p:nvSpPr>
          <p:cNvPr id="6" name="Text 4"/>
          <p:cNvSpPr/>
          <p:nvPr/>
        </p:nvSpPr>
        <p:spPr>
          <a:xfrm>
            <a:off x="685800" y="1691640"/>
            <a:ext cx="4663440" cy="438912"/>
          </a:xfrm>
          <a:prstGeom prst="rect">
            <a:avLst/>
          </a:prstGeom>
          <a:noFill/>
          <a:ln/>
        </p:spPr>
        <p:txBody>
          <a:bodyPr wrap="square" lIns="0" tIns="0" rIns="0" bIns="0" rtlCol="0" anchor="ctr"/>
          <a:lstStyle/>
          <a:p>
            <a:pPr marL="0" indent="0">
              <a:buNone/>
            </a:pPr>
            <a:r>
              <a:rPr lang="en-US" sz="1800" b="1" dirty="0">
                <a:solidFill>
                  <a:srgbClr val="F1F5F9"/>
                </a:solidFill>
                <a:latin typeface="Consolas" pitchFamily="34" charset="0"/>
                <a:ea typeface="Consolas" pitchFamily="34" charset="-122"/>
                <a:cs typeface="Consolas" pitchFamily="34" charset="-120"/>
                <a:hlinkClick r:id="rId3" action="ppaction://hlinkfile"/>
              </a:rPr>
              <a:t>leishka-pagan.github.io/Lumen</a:t>
            </a:r>
            <a:endParaRPr lang="en-US" sz="1800" dirty="0"/>
          </a:p>
        </p:txBody>
      </p:sp>
      <p:sp>
        <p:nvSpPr>
          <p:cNvPr id="7" name="Text 5"/>
          <p:cNvSpPr/>
          <p:nvPr/>
        </p:nvSpPr>
        <p:spPr>
          <a:xfrm>
            <a:off x="685800" y="2377440"/>
            <a:ext cx="1508760" cy="320040"/>
          </a:xfrm>
          <a:prstGeom prst="rect">
            <a:avLst/>
          </a:prstGeom>
          <a:noFill/>
          <a:ln/>
        </p:spPr>
        <p:txBody>
          <a:bodyPr wrap="square" lIns="0" tIns="0" rIns="0" bIns="0" rtlCol="0" anchor="ctr"/>
          <a:lstStyle/>
          <a:p>
            <a:pPr marL="0" indent="0">
              <a:buNone/>
            </a:pPr>
            <a:r>
              <a:rPr lang="en-US" sz="1300" b="1" dirty="0">
                <a:solidFill>
                  <a:srgbClr val="84CC16"/>
                </a:solidFill>
                <a:latin typeface="Consolas" pitchFamily="34" charset="0"/>
                <a:ea typeface="Consolas" pitchFamily="34" charset="-122"/>
                <a:cs typeface="Consolas" pitchFamily="34" charset="-120"/>
              </a:rPr>
              <a:t>Architecture</a:t>
            </a:r>
            <a:endParaRPr lang="en-US" sz="1300" dirty="0"/>
          </a:p>
        </p:txBody>
      </p:sp>
      <p:sp>
        <p:nvSpPr>
          <p:cNvPr id="8" name="Text 6"/>
          <p:cNvSpPr/>
          <p:nvPr/>
        </p:nvSpPr>
        <p:spPr>
          <a:xfrm>
            <a:off x="2240280" y="2377440"/>
            <a:ext cx="3246120" cy="32004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Six-layer control stack, click any layer.</a:t>
            </a:r>
            <a:endParaRPr lang="en-US" sz="1100" dirty="0"/>
          </a:p>
        </p:txBody>
      </p:sp>
      <p:sp>
        <p:nvSpPr>
          <p:cNvPr id="9" name="Text 7"/>
          <p:cNvSpPr/>
          <p:nvPr/>
        </p:nvSpPr>
        <p:spPr>
          <a:xfrm>
            <a:off x="685800" y="2880360"/>
            <a:ext cx="1508760" cy="320040"/>
          </a:xfrm>
          <a:prstGeom prst="rect">
            <a:avLst/>
          </a:prstGeom>
          <a:noFill/>
          <a:ln/>
        </p:spPr>
        <p:txBody>
          <a:bodyPr wrap="square" lIns="0" tIns="0" rIns="0" bIns="0" rtlCol="0" anchor="ctr"/>
          <a:lstStyle/>
          <a:p>
            <a:pPr marL="0" indent="0">
              <a:buNone/>
            </a:pPr>
            <a:r>
              <a:rPr lang="en-US" sz="1300" b="1" dirty="0">
                <a:solidFill>
                  <a:srgbClr val="84CC16"/>
                </a:solidFill>
                <a:latin typeface="Consolas" pitchFamily="34" charset="0"/>
                <a:ea typeface="Consolas" pitchFamily="34" charset="-122"/>
                <a:cs typeface="Consolas" pitchFamily="34" charset="-120"/>
              </a:rPr>
              <a:t>Playground</a:t>
            </a:r>
            <a:endParaRPr lang="en-US" sz="1300" dirty="0"/>
          </a:p>
        </p:txBody>
      </p:sp>
      <p:sp>
        <p:nvSpPr>
          <p:cNvPr id="10" name="Text 8"/>
          <p:cNvSpPr/>
          <p:nvPr/>
        </p:nvSpPr>
        <p:spPr>
          <a:xfrm>
            <a:off x="2240280" y="2880360"/>
            <a:ext cx="3246120" cy="32004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Run the deterministic verifier yourself.</a:t>
            </a:r>
            <a:endParaRPr lang="en-US" sz="1100" dirty="0"/>
          </a:p>
        </p:txBody>
      </p:sp>
      <p:sp>
        <p:nvSpPr>
          <p:cNvPr id="11" name="Text 9"/>
          <p:cNvSpPr/>
          <p:nvPr/>
        </p:nvSpPr>
        <p:spPr>
          <a:xfrm>
            <a:off x="685800" y="3383280"/>
            <a:ext cx="1508760" cy="320040"/>
          </a:xfrm>
          <a:prstGeom prst="rect">
            <a:avLst/>
          </a:prstGeom>
          <a:noFill/>
          <a:ln/>
        </p:spPr>
        <p:txBody>
          <a:bodyPr wrap="square" lIns="0" tIns="0" rIns="0" bIns="0" rtlCol="0" anchor="ctr"/>
          <a:lstStyle/>
          <a:p>
            <a:pPr marL="0" indent="0">
              <a:buNone/>
            </a:pPr>
            <a:r>
              <a:rPr lang="en-US" sz="1300" b="1" dirty="0">
                <a:solidFill>
                  <a:srgbClr val="84CC16"/>
                </a:solidFill>
                <a:latin typeface="Consolas" pitchFamily="34" charset="0"/>
                <a:ea typeface="Consolas" pitchFamily="34" charset="-122"/>
                <a:cs typeface="Consolas" pitchFamily="34" charset="-120"/>
              </a:rPr>
              <a:t>The Finding</a:t>
            </a:r>
            <a:endParaRPr lang="en-US" sz="1300" dirty="0"/>
          </a:p>
        </p:txBody>
      </p:sp>
      <p:sp>
        <p:nvSpPr>
          <p:cNvPr id="12" name="Text 10"/>
          <p:cNvSpPr/>
          <p:nvPr/>
        </p:nvSpPr>
        <p:spPr>
          <a:xfrm>
            <a:off x="2240280" y="3383280"/>
            <a:ext cx="3246120" cy="32004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The prompt-vs-code research result.</a:t>
            </a:r>
            <a:endParaRPr lang="en-US" sz="1100" dirty="0"/>
          </a:p>
        </p:txBody>
      </p:sp>
      <p:sp>
        <p:nvSpPr>
          <p:cNvPr id="13" name="Text 11"/>
          <p:cNvSpPr/>
          <p:nvPr/>
        </p:nvSpPr>
        <p:spPr>
          <a:xfrm>
            <a:off x="685800" y="3886200"/>
            <a:ext cx="1508760" cy="320040"/>
          </a:xfrm>
          <a:prstGeom prst="rect">
            <a:avLst/>
          </a:prstGeom>
          <a:noFill/>
          <a:ln/>
        </p:spPr>
        <p:txBody>
          <a:bodyPr wrap="square" lIns="0" tIns="0" rIns="0" bIns="0" rtlCol="0" anchor="ctr"/>
          <a:lstStyle/>
          <a:p>
            <a:pPr marL="0" indent="0">
              <a:buNone/>
            </a:pPr>
            <a:r>
              <a:rPr lang="en-US" sz="1300" b="1" dirty="0">
                <a:solidFill>
                  <a:srgbClr val="84CC16"/>
                </a:solidFill>
                <a:latin typeface="Consolas" pitchFamily="34" charset="0"/>
                <a:ea typeface="Consolas" pitchFamily="34" charset="-122"/>
                <a:cs typeface="Consolas" pitchFamily="34" charset="-120"/>
              </a:rPr>
              <a:t>Scaling</a:t>
            </a:r>
            <a:endParaRPr lang="en-US" sz="1300" dirty="0"/>
          </a:p>
        </p:txBody>
      </p:sp>
      <p:sp>
        <p:nvSpPr>
          <p:cNvPr id="14" name="Text 12"/>
          <p:cNvSpPr/>
          <p:nvPr/>
        </p:nvSpPr>
        <p:spPr>
          <a:xfrm>
            <a:off x="2240280" y="3886200"/>
            <a:ext cx="3246120" cy="32004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Cost model, 100 to 100,000 alerts.</a:t>
            </a:r>
            <a:endParaRPr lang="en-US" sz="1100" dirty="0"/>
          </a:p>
        </p:txBody>
      </p:sp>
      <p:sp>
        <p:nvSpPr>
          <p:cNvPr id="15" name="Shape 13"/>
          <p:cNvSpPr/>
          <p:nvPr/>
        </p:nvSpPr>
        <p:spPr>
          <a:xfrm>
            <a:off x="5760720" y="1280160"/>
            <a:ext cx="2926080" cy="1600200"/>
          </a:xfrm>
          <a:prstGeom prst="roundRect">
            <a:avLst>
              <a:gd name="adj" fmla="val 5714"/>
            </a:avLst>
          </a:prstGeom>
          <a:solidFill>
            <a:srgbClr val="1A1A2E"/>
          </a:solidFill>
          <a:ln w="9525">
            <a:solidFill>
              <a:srgbClr val="2A2A45"/>
            </a:solidFill>
            <a:prstDash val="solid"/>
          </a:ln>
        </p:spPr>
        <p:txBody>
          <a:bodyPr/>
          <a:lstStyle/>
          <a:p>
            <a:endParaRPr lang="en-US" dirty="0"/>
          </a:p>
        </p:txBody>
      </p:sp>
      <p:sp>
        <p:nvSpPr>
          <p:cNvPr id="16" name="Text 14"/>
          <p:cNvSpPr/>
          <p:nvPr/>
        </p:nvSpPr>
        <p:spPr>
          <a:xfrm>
            <a:off x="5943600" y="1417320"/>
            <a:ext cx="2560320" cy="256032"/>
          </a:xfrm>
          <a:prstGeom prst="rect">
            <a:avLst/>
          </a:prstGeom>
          <a:noFill/>
          <a:ln/>
        </p:spPr>
        <p:txBody>
          <a:bodyPr wrap="square" lIns="0" tIns="0" rIns="0" bIns="0" rtlCol="0" anchor="ctr"/>
          <a:lstStyle/>
          <a:p>
            <a:pPr marL="0" indent="0">
              <a:buNone/>
            </a:pPr>
            <a:r>
              <a:rPr lang="en-US" sz="1000" b="1" kern="0" spc="300" dirty="0">
                <a:solidFill>
                  <a:srgbClr val="84CC16"/>
                </a:solidFill>
                <a:latin typeface="Calibri" pitchFamily="34" charset="0"/>
                <a:ea typeface="Calibri" pitchFamily="34" charset="-122"/>
                <a:cs typeface="Calibri" pitchFamily="34" charset="-120"/>
              </a:rPr>
              <a:t>SOURCE CODE</a:t>
            </a:r>
            <a:endParaRPr lang="en-US" sz="1000" dirty="0"/>
          </a:p>
        </p:txBody>
      </p:sp>
      <p:sp>
        <p:nvSpPr>
          <p:cNvPr id="17" name="Text 15"/>
          <p:cNvSpPr/>
          <p:nvPr/>
        </p:nvSpPr>
        <p:spPr>
          <a:xfrm>
            <a:off x="5943600" y="1737360"/>
            <a:ext cx="2560320" cy="292608"/>
          </a:xfrm>
          <a:prstGeom prst="rect">
            <a:avLst/>
          </a:prstGeom>
          <a:noFill/>
          <a:ln/>
        </p:spPr>
        <p:txBody>
          <a:bodyPr wrap="square" lIns="0" tIns="0" rIns="0" bIns="0" rtlCol="0" anchor="ctr"/>
          <a:lstStyle/>
          <a:p>
            <a:pPr marL="0" indent="0">
              <a:buNone/>
            </a:pPr>
            <a:r>
              <a:rPr lang="en-US" sz="1400" dirty="0">
                <a:solidFill>
                  <a:srgbClr val="F1F5F9"/>
                </a:solidFill>
                <a:latin typeface="Consolas" pitchFamily="34" charset="0"/>
                <a:ea typeface="Consolas" pitchFamily="34" charset="-122"/>
                <a:cs typeface="Consolas" pitchFamily="34" charset="-120"/>
              </a:rPr>
              <a:t>github.com/</a:t>
            </a:r>
            <a:endParaRPr lang="en-US" sz="1400" dirty="0"/>
          </a:p>
        </p:txBody>
      </p:sp>
      <p:sp>
        <p:nvSpPr>
          <p:cNvPr id="18" name="Text 16"/>
          <p:cNvSpPr/>
          <p:nvPr/>
        </p:nvSpPr>
        <p:spPr>
          <a:xfrm>
            <a:off x="5943600" y="2011680"/>
            <a:ext cx="2560320" cy="365760"/>
          </a:xfrm>
          <a:prstGeom prst="rect">
            <a:avLst/>
          </a:prstGeom>
          <a:noFill/>
          <a:ln/>
        </p:spPr>
        <p:txBody>
          <a:bodyPr wrap="square" lIns="0" tIns="0" rIns="0" bIns="0" rtlCol="0" anchor="ctr"/>
          <a:lstStyle/>
          <a:p>
            <a:pPr marL="0" indent="0">
              <a:buNone/>
            </a:pPr>
            <a:r>
              <a:rPr lang="en-US" sz="1700" b="1" dirty="0">
                <a:solidFill>
                  <a:srgbClr val="F1F5F9"/>
                </a:solidFill>
                <a:latin typeface="Consolas" pitchFamily="34" charset="0"/>
                <a:ea typeface="Consolas" pitchFamily="34" charset="-122"/>
                <a:cs typeface="Consolas" pitchFamily="34" charset="-120"/>
                <a:hlinkClick r:id="rId4"/>
              </a:rPr>
              <a:t>leishka-pagan/Lumen</a:t>
            </a:r>
            <a:endParaRPr lang="en-US" sz="1700" dirty="0"/>
          </a:p>
        </p:txBody>
      </p:sp>
      <p:sp>
        <p:nvSpPr>
          <p:cNvPr id="19" name="Text 17"/>
          <p:cNvSpPr/>
          <p:nvPr/>
        </p:nvSpPr>
        <p:spPr>
          <a:xfrm>
            <a:off x="5943600" y="2450592"/>
            <a:ext cx="2560320" cy="274320"/>
          </a:xfrm>
          <a:prstGeom prst="rect">
            <a:avLst/>
          </a:prstGeom>
          <a:noFill/>
          <a:ln/>
        </p:spPr>
        <p:txBody>
          <a:bodyPr wrap="square" lIns="0" tIns="0" rIns="0" bIns="0"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765 tests · full audit history · public</a:t>
            </a:r>
            <a:endParaRPr lang="en-US" sz="1000" dirty="0"/>
          </a:p>
        </p:txBody>
      </p:sp>
      <p:sp>
        <p:nvSpPr>
          <p:cNvPr id="20" name="Shape 18"/>
          <p:cNvSpPr/>
          <p:nvPr/>
        </p:nvSpPr>
        <p:spPr>
          <a:xfrm>
            <a:off x="5760720" y="2971800"/>
            <a:ext cx="2926080" cy="1600200"/>
          </a:xfrm>
          <a:prstGeom prst="roundRect">
            <a:avLst>
              <a:gd name="adj" fmla="val 5714"/>
            </a:avLst>
          </a:prstGeom>
          <a:solidFill>
            <a:srgbClr val="1A1A2E"/>
          </a:solidFill>
          <a:ln w="9525">
            <a:solidFill>
              <a:srgbClr val="2A2A45"/>
            </a:solidFill>
            <a:prstDash val="solid"/>
          </a:ln>
        </p:spPr>
        <p:txBody>
          <a:bodyPr/>
          <a:lstStyle/>
          <a:p>
            <a:endParaRPr lang="en-US" dirty="0"/>
          </a:p>
        </p:txBody>
      </p:sp>
      <p:sp>
        <p:nvSpPr>
          <p:cNvPr id="21" name="Text 19"/>
          <p:cNvSpPr/>
          <p:nvPr/>
        </p:nvSpPr>
        <p:spPr>
          <a:xfrm>
            <a:off x="5943600" y="3108960"/>
            <a:ext cx="2560320" cy="256032"/>
          </a:xfrm>
          <a:prstGeom prst="rect">
            <a:avLst/>
          </a:prstGeom>
          <a:noFill/>
          <a:ln/>
        </p:spPr>
        <p:txBody>
          <a:bodyPr wrap="square" lIns="0" tIns="0" rIns="0" bIns="0" rtlCol="0" anchor="ctr"/>
          <a:lstStyle/>
          <a:p>
            <a:pPr marL="0" indent="0">
              <a:buNone/>
            </a:pPr>
            <a:r>
              <a:rPr lang="en-US" sz="1000" b="1" kern="0" spc="300" dirty="0">
                <a:solidFill>
                  <a:srgbClr val="06B6D4"/>
                </a:solidFill>
                <a:latin typeface="Calibri" pitchFamily="34" charset="0"/>
                <a:ea typeface="Calibri" pitchFamily="34" charset="-122"/>
                <a:cs typeface="Calibri" pitchFamily="34" charset="-120"/>
              </a:rPr>
              <a:t>CONNECT</a:t>
            </a:r>
            <a:endParaRPr lang="en-US" sz="1000" dirty="0"/>
          </a:p>
        </p:txBody>
      </p:sp>
      <p:sp>
        <p:nvSpPr>
          <p:cNvPr id="22" name="Text 20"/>
          <p:cNvSpPr/>
          <p:nvPr/>
        </p:nvSpPr>
        <p:spPr>
          <a:xfrm>
            <a:off x="5943600" y="3401568"/>
            <a:ext cx="2560320" cy="347472"/>
          </a:xfrm>
          <a:prstGeom prst="rect">
            <a:avLst/>
          </a:prstGeom>
          <a:noFill/>
          <a:ln/>
        </p:spPr>
        <p:txBody>
          <a:bodyPr wrap="square" lIns="0" tIns="0" rIns="0" bIns="0" rtlCol="0" anchor="ctr"/>
          <a:lstStyle/>
          <a:p>
            <a:pPr marL="0" indent="0">
              <a:buNone/>
            </a:pPr>
            <a:r>
              <a:rPr lang="en-US" sz="1700" b="1" dirty="0">
                <a:solidFill>
                  <a:srgbClr val="F1F5F9"/>
                </a:solidFill>
                <a:latin typeface="Calibri" pitchFamily="34" charset="0"/>
                <a:ea typeface="Calibri" pitchFamily="34" charset="-122"/>
                <a:cs typeface="Calibri" pitchFamily="34" charset="-120"/>
              </a:rPr>
              <a:t>Leishka Pagan</a:t>
            </a:r>
            <a:endParaRPr lang="en-US" sz="1700" dirty="0"/>
          </a:p>
        </p:txBody>
      </p:sp>
      <p:sp>
        <p:nvSpPr>
          <p:cNvPr id="23" name="Text 21"/>
          <p:cNvSpPr/>
          <p:nvPr/>
        </p:nvSpPr>
        <p:spPr>
          <a:xfrm>
            <a:off x="5943600" y="3749040"/>
            <a:ext cx="2560320" cy="256032"/>
          </a:xfrm>
          <a:prstGeom prst="rect">
            <a:avLst/>
          </a:prstGeom>
          <a:noFill/>
          <a:ln/>
        </p:spPr>
        <p:txBody>
          <a:bodyPr wrap="square" lIns="0" tIns="0" rIns="0" bIns="0" rtlCol="0" anchor="ctr"/>
          <a:lstStyle/>
          <a:p>
            <a:pPr marL="0" indent="0">
              <a:buNone/>
            </a:pPr>
            <a:r>
              <a:rPr lang="en-US" sz="1000" i="1" dirty="0">
                <a:solidFill>
                  <a:srgbClr val="94A3B8"/>
                </a:solidFill>
                <a:latin typeface="Calibri" pitchFamily="34" charset="0"/>
                <a:ea typeface="Calibri" pitchFamily="34" charset="-122"/>
                <a:cs typeface="Calibri" pitchFamily="34" charset="-120"/>
              </a:rPr>
              <a:t>Team Lead &amp; Engineer of Record</a:t>
            </a:r>
            <a:endParaRPr lang="en-US" sz="1000" dirty="0"/>
          </a:p>
        </p:txBody>
      </p:sp>
      <p:sp>
        <p:nvSpPr>
          <p:cNvPr id="24" name="Text 22"/>
          <p:cNvSpPr/>
          <p:nvPr/>
        </p:nvSpPr>
        <p:spPr>
          <a:xfrm>
            <a:off x="5943600" y="4041648"/>
            <a:ext cx="2560320" cy="256032"/>
          </a:xfrm>
          <a:prstGeom prst="rect">
            <a:avLst/>
          </a:prstGeom>
          <a:noFill/>
          <a:ln/>
        </p:spPr>
        <p:txBody>
          <a:bodyPr wrap="square" lIns="0" tIns="0" rIns="0" bIns="0" rtlCol="0" anchor="ctr"/>
          <a:lstStyle/>
          <a:p>
            <a:pPr marL="0" indent="0">
              <a:buNone/>
            </a:pPr>
            <a:r>
              <a:rPr lang="en-US" sz="1100" dirty="0">
                <a:solidFill>
                  <a:srgbClr val="94A3B8"/>
                </a:solidFill>
                <a:latin typeface="Consolas" pitchFamily="34" charset="0"/>
                <a:ea typeface="Consolas" pitchFamily="34" charset="-122"/>
                <a:cs typeface="Consolas" pitchFamily="34" charset="-120"/>
                <a:hlinkClick r:id="rId5"/>
              </a:rPr>
              <a:t>linkedin.com/in/</a:t>
            </a:r>
            <a:endParaRPr lang="en-US" sz="1100" dirty="0"/>
          </a:p>
        </p:txBody>
      </p:sp>
      <p:sp>
        <p:nvSpPr>
          <p:cNvPr id="25" name="Text 23"/>
          <p:cNvSpPr/>
          <p:nvPr/>
        </p:nvSpPr>
        <p:spPr>
          <a:xfrm>
            <a:off x="5943600" y="4261104"/>
            <a:ext cx="2560320" cy="292608"/>
          </a:xfrm>
          <a:prstGeom prst="rect">
            <a:avLst/>
          </a:prstGeom>
          <a:noFill/>
          <a:ln/>
        </p:spPr>
        <p:txBody>
          <a:bodyPr wrap="square" lIns="0" tIns="0" rIns="0" bIns="0" rtlCol="0" anchor="ctr"/>
          <a:lstStyle/>
          <a:p>
            <a:pPr marL="0" indent="0">
              <a:buNone/>
            </a:pPr>
            <a:r>
              <a:rPr lang="en-US" sz="1400" b="1" dirty="0">
                <a:solidFill>
                  <a:srgbClr val="84CC16"/>
                </a:solidFill>
                <a:latin typeface="Consolas" pitchFamily="34" charset="0"/>
                <a:ea typeface="Consolas" pitchFamily="34" charset="-122"/>
                <a:cs typeface="Consolas" pitchFamily="34" charset="-120"/>
                <a:hlinkClick r:id="rId5"/>
              </a:rPr>
              <a:t>leishka-pagan</a:t>
            </a:r>
            <a:endParaRPr lang="en-US" sz="1400" dirty="0"/>
          </a:p>
        </p:txBody>
      </p:sp>
      <p:sp>
        <p:nvSpPr>
          <p:cNvPr id="26" name="Text 24"/>
          <p:cNvSpPr/>
          <p:nvPr/>
        </p:nvSpPr>
        <p:spPr>
          <a:xfrm>
            <a:off x="457200" y="4754880"/>
            <a:ext cx="8229600" cy="256032"/>
          </a:xfrm>
          <a:prstGeom prst="rect">
            <a:avLst/>
          </a:prstGeom>
          <a:noFill/>
          <a:ln/>
        </p:spPr>
        <p:txBody>
          <a:bodyPr wrap="square" lIns="0" tIns="0" rIns="0" bIns="0" rtlCol="0" anchor="ctr"/>
          <a:lstStyle/>
          <a:p>
            <a:pPr marL="0" indent="0" algn="ctr">
              <a:buNone/>
            </a:pPr>
            <a:r>
              <a:rPr lang="en-US" sz="1000" i="1" dirty="0">
                <a:solidFill>
                  <a:srgbClr val="94A3B8"/>
                </a:solidFill>
                <a:latin typeface="Calibri" pitchFamily="34" charset="0"/>
                <a:ea typeface="Calibri" pitchFamily="34" charset="-122"/>
                <a:cs typeface="Calibri" pitchFamily="34" charset="-120"/>
              </a:rPr>
              <a:t>The model drafts. Code verifies. Humans decide.</a:t>
            </a:r>
            <a:endParaRPr lang="en-US" sz="1000" dirty="0"/>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F46216B-77A9-411A-B9D3-5023FCB702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663</TotalTime>
  <Words>4264</Words>
  <Application>Microsoft Office PowerPoint</Application>
  <PresentationFormat>On-screen Show (16:9)</PresentationFormat>
  <Paragraphs>492</Paragraphs>
  <Slides>21</Slides>
  <Notes>21</Notes>
  <HiddenSlides>0</HiddenSlides>
  <MMClips>20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Aptos</vt:lpstr>
      <vt:lpstr>Arial</vt:lpstr>
      <vt:lpstr>Calibri</vt:lpstr>
      <vt:lpstr>Calibri Light</vt:lpstr>
      <vt:lpstr>Cambria</vt:lpstr>
      <vt:lpstr>Consolas</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Lumen: Executive Pitch</dc:title>
  <dc:subject>PptxGenJS Presentation</dc:subject>
  <dc:creator>PptxGenJS</dc:creator>
  <cp:lastModifiedBy>Leia P</cp:lastModifiedBy>
  <cp:revision>52</cp:revision>
  <dcterms:created xsi:type="dcterms:W3CDTF">2026-06-24T23:25:25Z</dcterms:created>
  <dcterms:modified xsi:type="dcterms:W3CDTF">2026-07-25T04:22:13Z</dcterms:modified>
</cp:coreProperties>
</file>